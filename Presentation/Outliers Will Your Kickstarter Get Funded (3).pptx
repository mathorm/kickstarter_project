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0" r:id="rId1"/>
    <p:sldMasterId id="2147483651" r:id="rId2"/>
  </p:sldMasterIdLst>
  <p:notesMasterIdLst>
    <p:notesMasterId r:id="rId17"/>
  </p:notesMasterIdLst>
  <p:sldIdLst>
    <p:sldId id="268" r:id="rId3"/>
    <p:sldId id="269" r:id="rId4"/>
    <p:sldId id="256" r:id="rId5"/>
    <p:sldId id="257" r:id="rId6"/>
    <p:sldId id="258" r:id="rId7"/>
    <p:sldId id="259" r:id="rId8"/>
    <p:sldId id="260" r:id="rId9"/>
    <p:sldId id="261" r:id="rId10"/>
    <p:sldId id="262" r:id="rId11"/>
    <p:sldId id="263" r:id="rId12"/>
    <p:sldId id="264" r:id="rId13"/>
    <p:sldId id="265" r:id="rId14"/>
    <p:sldId id="266" r:id="rId15"/>
    <p:sldId id="267" r:id="rId16"/>
  </p:sldIdLst>
  <p:sldSz cx="12192000" cy="6858000"/>
  <p:notesSz cx="6858000" cy="12192000"/>
  <p:embeddedFontLst>
    <p:embeddedFont>
      <p:font typeface="Inter" panose="020B0604020202020204" charset="0"/>
      <p:regular r:id="rId18"/>
      <p:bold r:id="rId19"/>
      <p:italic r:id="rId20"/>
      <p:boldItalic r:id="rId21"/>
    </p:embeddedFont>
    <p:embeddedFont>
      <p:font typeface="Space Grotesk" panose="020B0604020202020204" charset="0"/>
      <p:regular r:id="rId22"/>
      <p:bold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3099D49-A1F1-457E-BAD5-869D6B91A4BA}">
  <a:tblStyle styleId="{83099D49-A1F1-457E-BAD5-869D6B91A4BA}"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552"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font" Target="fonts/font1.fntdata"/><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font" Target="fonts/font4.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6.fntdata"/><Relationship Id="rId10" Type="http://schemas.openxmlformats.org/officeDocument/2006/relationships/slide" Target="slides/slide8.xml"/><Relationship Id="rId19" Type="http://schemas.openxmlformats.org/officeDocument/2006/relationships/font" Target="fonts/font2.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5.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5791200"/>
            <a:ext cx="5486400" cy="54864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We're Outliers. Our tagline says we're two standard deviations from the mean, which is statistician for "we stand out, in a good way." Today: can you tell, before a Kickstarter campaign launches, whether it will get funded? We worked through 378,661 campaigns to find out. The funded ones are the outliers, just like us. And yes, the potato-salad joke is real: a viral 2014 joke campaign set off hundreds of copycats, which we removed in cleaning. We were not.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35000" y="914400"/>
            <a:ext cx="8128000" cy="4572000"/>
          </a:xfrm>
        </p:spPr>
      </p:sp>
      <p:sp>
        <p:nvSpPr>
          <p:cNvPr id="3" name="Notes Placeholder 2"/>
          <p:cNvSpPr>
            <a:spLocks noGrp="1"/>
          </p:cNvSpPr>
          <p:nvPr>
            <p:ph type="body" idx="1"/>
          </p:nvPr>
        </p:nvSpPr>
        <p:spPr/>
        <p:txBody>
          <a:bodyPr/>
          <a:lstStyle/>
          <a:p>
            <a:r>
              <a:rPr lang="en-US" dirty="0"/>
              <a:t>Animation: the top row builds in by itself (crowdfunding basics, what we built, then the 36.4% card pops in). Click once to bring in the bottom row (problem, who it serves, value proposition). Quick primer: crowdfunding means raising money from many people who each pledge a small amount, usually in exchange for rewards. Kickstarter is all-or-nothing: if the goal isn't reached by the deadline, the founder receives nothing. Only about one in three projects gets funded. Our Gradient Boosting model gives an early read using only information known at launch. Be clear with investors: market size means how many founders, investors or platforms would pay for this, and our files don't measure it. Product form means how the model is packaged, for example a web app for founders or a screening tool for platforms; that is our idea and hasn't been tested with users. Both are what an investment would help validate.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35000" y="914400"/>
            <a:ext cx="8128000" cy="4572000"/>
          </a:xfrm>
        </p:spPr>
      </p:sp>
      <p:sp>
        <p:nvSpPr>
          <p:cNvPr id="3" name="Notes Placeholder 2"/>
          <p:cNvSpPr>
            <a:spLocks noGrp="1"/>
          </p:cNvSpPr>
          <p:nvPr>
            <p:ph type="body" sz="quarter" idx="3"/>
          </p:nvPr>
        </p:nvSpPr>
        <p:spPr/>
        <p:txBody>
          <a:bodyPr/>
          <a:lstStyle/>
          <a:p>
            <a:r>
              <a:t>On the left, the file as we got it: almost 379,000 projects with six possible outcomes, columns that are only known after the campaign ends, a goal in 14 currencies, and messy rows. On the right, what we model with: 366,690 projects, so we kept 96.8%, a single yes/no target, and 11 features that a founder knows on launch day, two of them engineered by us. The strip at the bottom is important for how we evaluate: only 36.4% of projects were funded. That is a moderate imbalance: a model that always says 'not funded' is already right 63.6% of the time, so accuracy alone would flatter any model. We use ROC-AUC and F1 instead, and every train/test split keeps the same 36/64 ratio. The imbalance is not extreme, so we did not need resampling.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35000" y="914400"/>
            <a:ext cx="8128000" cy="4572000"/>
          </a:xfrm>
        </p:spPr>
      </p:sp>
      <p:sp>
        <p:nvSpPr>
          <p:cNvPr id="3" name="Notes Placeholder 2"/>
          <p:cNvSpPr>
            <a:spLocks noGrp="1"/>
          </p:cNvSpPr>
          <p:nvPr>
            <p:ph type="body" sz="quarter" idx="3"/>
          </p:nvPr>
        </p:nvSpPr>
        <p:spPr/>
        <p:txBody>
          <a:bodyPr/>
          <a:lstStyle/>
          <a:p>
            <a:r>
              <a:t>The raw file has six outcome states, and we turned them into a single yes/no target. Successful projects are 1, failed projects are 0. Live projects were still running when the data was collected, so their outcome is unknown; even the ones already funded could still lose backers. Undefined projects have no known outcome at all. Suspended projects were stopped by Kickstarter itself for breaking its rules, for example suspected fraud or no working prototype; some had already raised far more than their goal, so suspension says nothing about funding. Canceled projects were the hard decision. We have no cancellation date, but we know how much was pledged when they stopped: 76% had less than 10% of their goal. A model trained only on successes and failures scores them exactly like failed projects, so we count those under 50% of the goal as not funded. The 2,055 that had 50% or more could have gone either way, or were stopped despite being funded, so we dropped them rather than guess.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35000" y="914400"/>
            <a:ext cx="8128000" cy="4572000"/>
          </a:xfrm>
        </p:spPr>
      </p:sp>
      <p:sp>
        <p:nvSpPr>
          <p:cNvPr id="3" name="Notes Placeholder 2"/>
          <p:cNvSpPr>
            <a:spLocks noGrp="1"/>
          </p:cNvSpPr>
          <p:nvPr>
            <p:ph type="body" sz="quarter" idx="3"/>
          </p:nvPr>
        </p:nvSpPr>
        <p:spPr/>
        <p:txBody>
          <a:bodyPr/>
          <a:lstStyle/>
          <a:p>
            <a:r>
              <a:t>The most predictive columns in the raw file were pledged, usd pledged, usd_pledged_real and backers. The problem is that they are only known after the campaign ends: pledged at or above the goal is the definition of success, it matches 99.997% of the time. A quick model check shows it: goal and campaign length alone score 0.67 ROC-AUC; adding backers jumps to 0.98 and pledged dollars to 0.9999. A model with them looks perfect but is useless for a founder before launch, so we removed them. What is left is much weaker, so we engineered features to add signal: campaign duration, and how ambitious the goal is compared with the typical goal in its category. Both show clear patterns. We also dropped columns that add nothing new: main category is a coarser version of category, currency is almost fully explained by country, and the goal in local currency is replaced by the goal in US dollars. Finally, outliers: goals range from one cent to 166 million dollars. We kept them, because the extremes are real and very informative, and put the goal on a log scale instead.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p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9" name="Google Shape;79;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Gradient Boosting is our model. The other three exist only as benchmarks: a do-nothing baseline, a transparent logistic regression and a random forest. They show how much Gradient Boosting adds and whether a simpler model would do. Successful projects get extra weight (balanced class weights) because they are the minority. We use F1 rather than accuracy because a model that always says "fail" is already about 64% accurate while being useless. The group-aware split prevents a relaunched project from appearing in both training and test.</a:t>
            </a:r>
            <a:endParaRPr/>
          </a:p>
        </p:txBody>
      </p:sp>
      <p:sp>
        <p:nvSpPr>
          <p:cNvPr id="80" name="Google Shape;80;p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6</a:t>
            </a:fld>
            <a:endParaRPr sz="18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5" name="Google Shape;115;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All numbers are validation-set scores from the "Comparison of the Best Models" table. Gradient Boosting is our model; the other three are benchmarks. It beats all of them on every metric, which is why it was selected and retrained as the final model. The gaps are small, which the notebook interprets as a ceiling set by the available features. For logistic regression, the regularization strength C made no difference; turning on balanced class weights was what lifted F1.</a:t>
            </a:r>
            <a:endParaRPr/>
          </a:p>
        </p:txBody>
      </p:sp>
      <p:sp>
        <p:nvSpPr>
          <p:cNvPr id="116" name="Google Shape;116;p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7</a:t>
            </a:fld>
            <a:endParaRPr sz="18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5" name="Google Shape;155;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Plain language: out of every ten funded projects, the model spots about seven. When it says "this will fund," it is right a bit more than half the time. Accuracy of 68% looks modest next to the 64% baseline, but the baseline never identifies a single success. Raising the cut-off makes the model more cautious: higher precision, fewer successes found. A founder wanting a reliable warning and a platform wanting to spot promising projects would pick different cut-offs.</a:t>
            </a:r>
            <a:endParaRPr/>
          </a:p>
        </p:txBody>
      </p:sp>
      <p:sp>
        <p:nvSpPr>
          <p:cNvPr id="156" name="Google Shape;156;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8</a:t>
            </a:fld>
            <a:endParaRPr sz="18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h32fee283ac9228a1_3_0:notes"/>
          <p:cNvSpPr>
            <a:spLocks noGrp="1" noRot="1" noChangeAspect="1"/>
          </p:cNvSpPr>
          <p:nvPr>
            <p:ph type="sldImg" idx="2"/>
          </p:nvPr>
        </p:nvSpPr>
        <p:spPr>
          <a:xfrm>
            <a:off x="0" y="0"/>
            <a:ext cx="2250000" cy="225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1" name="Google Shape;191;h32fee283ac9228a1_3_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457200" lvl="0" indent="-298450" algn="l" rtl="0">
              <a:lnSpc>
                <a:spcPct val="100000"/>
              </a:lnSpc>
              <a:spcBef>
                <a:spcPts val="0"/>
              </a:spcBef>
              <a:spcAft>
                <a:spcPts val="0"/>
              </a:spcAft>
              <a:buSzPts val="1100"/>
              <a:buChar char="●"/>
            </a:pPr>
            <a:r>
              <a:rPr lang="en-US" sz="1100"/>
              <a:t>Permutation importance asks: if we scramble this one piece of information, how much worse does the model get? Scrambling the goal costs the most, then category. Important caveat: this tells us what the model relies on, not what causes success. Slide 9 shows the per-category rates: music and performance lead (Dance 67%), tech trails (Apps 6%).</a:t>
            </a:r>
            <a:endParaRPr/>
          </a:p>
          <a:p>
            <a:pPr marL="457200" lvl="0" indent="-228600" algn="l" rtl="0">
              <a:lnSpc>
                <a:spcPct val="100000"/>
              </a:lnSpc>
              <a:spcBef>
                <a:spcPts val="0"/>
              </a:spcBef>
              <a:spcAft>
                <a:spcPts val="0"/>
              </a:spcAft>
              <a:buSzPts val="1100"/>
              <a:buNone/>
            </a:pPr>
            <a:endParaRPr sz="1100"/>
          </a:p>
          <a:p>
            <a:pPr marL="457200" lvl="0" indent="-298450" algn="l" rtl="0">
              <a:lnSpc>
                <a:spcPct val="100000"/>
              </a:lnSpc>
              <a:spcBef>
                <a:spcPts val="0"/>
              </a:spcBef>
              <a:spcAft>
                <a:spcPts val="0"/>
              </a:spcAft>
              <a:buSzPts val="1100"/>
              <a:buChar char="●"/>
            </a:pPr>
            <a:r>
              <a:rPr lang="en-US" sz="1100"/>
              <a:t>Goal vs. category (the goal compared with the typical goal of its category) is one of the weakest features. That does not mean the comparison is useless: the model already gets it from the goal and the category, so the extra feature is redundant. Validation F1 was 0.6245 without it and 0.6248 with it.</a:t>
            </a:r>
            <a:endParaRPr/>
          </a:p>
        </p:txBody>
      </p:sp>
      <p:sp>
        <p:nvSpPr>
          <p:cNvPr id="192" name="Google Shape;192;h32fee283ac9228a1_3_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9</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h32fee283ac9228a1_3_46:notes"/>
          <p:cNvSpPr>
            <a:spLocks noGrp="1" noRot="1" noChangeAspect="1"/>
          </p:cNvSpPr>
          <p:nvPr>
            <p:ph type="sldImg" idx="2"/>
          </p:nvPr>
        </p:nvSpPr>
        <p:spPr>
          <a:xfrm>
            <a:off x="0" y="0"/>
            <a:ext cx="2250000" cy="225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8" name="Google Shape;238;h32fee283ac9228a1_3_4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en-US" sz="1200">
                <a:solidFill>
                  <a:schemeClr val="dk1"/>
                </a:solidFill>
                <a:latin typeface="Calibri"/>
                <a:ea typeface="Calibri"/>
                <a:cs typeface="Calibri"/>
                <a:sym typeface="Calibri"/>
              </a:rPr>
              <a:t>The single clearest pattern in the data. Success falls steadily as the goal rises: 42% for $1,000 to $9,999, 27% for $10,000 to $99,999, under 9% for six-figure goals, and not one project with a goal of $10 million or more was funded. This is a raw success rate, not a controlled experiment: big-goal projects may also differ in other ways. Still, for founders, the goal is the most powerful lever they control.</a:t>
            </a:r>
            <a:endParaRPr/>
          </a:p>
        </p:txBody>
      </p:sp>
      <p:sp>
        <p:nvSpPr>
          <p:cNvPr id="239" name="Google Shape;239;h32fee283ac9228a1_3_4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10</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h32fee283ac9228a1_3_87:notes"/>
          <p:cNvSpPr>
            <a:spLocks noGrp="1" noRot="1" noChangeAspect="1"/>
          </p:cNvSpPr>
          <p:nvPr>
            <p:ph type="sldImg" idx="2"/>
          </p:nvPr>
        </p:nvSpPr>
        <p:spPr>
          <a:xfrm>
            <a:off x="381300" y="914400"/>
            <a:ext cx="6096000" cy="4572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h32fee283ac9228a1_3_87:notes"/>
          <p:cNvSpPr txBox="1">
            <a:spLocks noGrp="1"/>
          </p:cNvSpPr>
          <p:nvPr>
            <p:ph type="body" idx="1"/>
          </p:nvPr>
        </p:nvSpPr>
        <p:spPr>
          <a:xfrm>
            <a:off x="685800" y="5791200"/>
            <a:ext cx="5486400" cy="54864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US" sz="1100"/>
              <a:t>Success rate by category, from the EDA notebook (section 19 chart), over 53 categories with "Other" left out. The top 3 are Dance (66.8%, n=2,307), Indie Rock (64.3%, n=5,623) and Classical Music (63.8%, n=2,583); Country &amp; Folk and Theater follow at about 63%. The bottom 3 are Software (12.4%, n=2,993), Web (8.8%, n=5,036) and Apps (6.1%, n=6,213). Every group has more than 2,000 projects, so these are not small-sample flukes. Caveat: these are raw rates. Tech projects also tend to ask for bigger goals, so part of the gap is the goal effect from slide 8.</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h4d549c39033cb421_3_7:notes"/>
          <p:cNvSpPr>
            <a:spLocks noGrp="1" noRot="1" noChangeAspect="1"/>
          </p:cNvSpPr>
          <p:nvPr>
            <p:ph type="sldImg" idx="2"/>
          </p:nvPr>
        </p:nvSpPr>
        <p:spPr>
          <a:xfrm>
            <a:off x="1143225" y="914400"/>
            <a:ext cx="4572300" cy="4572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h4d549c39033cb421_3_7: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h4d549c39033cb421_3_13:notes"/>
          <p:cNvSpPr>
            <a:spLocks noGrp="1" noRot="1" noChangeAspect="1"/>
          </p:cNvSpPr>
          <p:nvPr>
            <p:ph type="sldImg" idx="2"/>
          </p:nvPr>
        </p:nvSpPr>
        <p:spPr>
          <a:xfrm>
            <a:off x="1143225" y="914400"/>
            <a:ext cx="4572300" cy="4572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h4d549c39033cb421_3_13: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1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6" name="Google Shape;326;p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Thank the audience and open the floor. Likely questions: how would this work on today's Kickstarter (answer: it needs re-validation on recent data); what would make it more accurate (text and campaign-page features); and is there a business here (the model is proven as a prototype; market size and pricing are still open questions).</a:t>
            </a:r>
            <a:endParaRPr/>
          </a:p>
        </p:txBody>
      </p:sp>
      <p:sp>
        <p:nvSpPr>
          <p:cNvPr id="327" name="Google Shape;327;p1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14</a:t>
            </a:fld>
            <a:endParaRPr sz="18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p:cSld name="Title and body">
    <p:bg>
      <p:bgPr>
        <a:solidFill>
          <a:srgbClr val="F5F3EE"/>
        </a:solidFill>
        <a:effectLst/>
      </p:bgPr>
    </p:bg>
    <p:spTree>
      <p:nvGrpSpPr>
        <p:cNvPr id="1" name="Shape 8"/>
        <p:cNvGrpSpPr/>
        <p:nvPr/>
      </p:nvGrpSpPr>
      <p:grpSpPr>
        <a:xfrm>
          <a:off x="0" y="0"/>
          <a:ext cx="0" cy="0"/>
          <a:chOff x="0" y="0"/>
          <a:chExt cx="0" cy="0"/>
        </a:xfrm>
      </p:grpSpPr>
      <p:sp>
        <p:nvSpPr>
          <p:cNvPr id="9" name="Google Shape;9;p2"/>
          <p:cNvSpPr txBox="1">
            <a:spLocks noGrp="1"/>
          </p:cNvSpPr>
          <p:nvPr>
            <p:ph type="title"/>
          </p:nvPr>
        </p:nvSpPr>
        <p:spPr>
          <a:xfrm>
            <a:off x="812800" y="1102320"/>
            <a:ext cx="10566400" cy="446980"/>
          </a:xfrm>
          <a:prstGeom prst="rect">
            <a:avLst/>
          </a:prstGeom>
          <a:noFill/>
          <a:ln>
            <a:noFill/>
          </a:ln>
        </p:spPr>
        <p:txBody>
          <a:bodyPr spcFirstLastPara="1" wrap="square" lIns="0" tIns="0" rIns="0" bIns="0" anchor="t" anchorCtr="0">
            <a:noAutofit/>
          </a:bodyPr>
          <a:lstStyle>
            <a:lvl1pPr lvl="0" algn="l">
              <a:lnSpc>
                <a:spcPct val="115000"/>
              </a:lnSpc>
              <a:spcBef>
                <a:spcPts val="0"/>
              </a:spcBef>
              <a:spcAft>
                <a:spcPts val="0"/>
              </a:spcAft>
              <a:buClr>
                <a:srgbClr val="15171E"/>
              </a:buClr>
              <a:buSzPts val="3200"/>
              <a:buFont typeface="Space Grotesk"/>
              <a:buNone/>
              <a:defRPr sz="3200">
                <a:solidFill>
                  <a:srgbClr val="15171E"/>
                </a:solidFill>
                <a:latin typeface="Space Grotesk"/>
                <a:ea typeface="Space Grotesk"/>
                <a:cs typeface="Space Grotesk"/>
                <a:sym typeface="Space Grotes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 name="Google Shape;10;p2"/>
          <p:cNvSpPr txBox="1">
            <a:spLocks noGrp="1"/>
          </p:cNvSpPr>
          <p:nvPr>
            <p:ph type="body" idx="1"/>
          </p:nvPr>
        </p:nvSpPr>
        <p:spPr>
          <a:xfrm>
            <a:off x="812800" y="1854101"/>
            <a:ext cx="10566400" cy="4191099"/>
          </a:xfrm>
          <a:prstGeom prst="rect">
            <a:avLst/>
          </a:prstGeom>
          <a:noFill/>
          <a:ln>
            <a:noFill/>
          </a:ln>
        </p:spPr>
        <p:txBody>
          <a:bodyPr spcFirstLastPara="1" wrap="square" lIns="0" tIns="0" rIns="0" bIns="0" anchor="t" anchorCtr="0">
            <a:noAutofit/>
          </a:bodyPr>
          <a:lstStyle>
            <a:lvl1pPr marL="457200" lvl="0" indent="-228600" algn="l">
              <a:lnSpc>
                <a:spcPct val="140000"/>
              </a:lnSpc>
              <a:spcBef>
                <a:spcPts val="320"/>
              </a:spcBef>
              <a:spcAft>
                <a:spcPts val="0"/>
              </a:spcAft>
              <a:buClr>
                <a:srgbClr val="15171E"/>
              </a:buClr>
              <a:buSzPts val="1600"/>
              <a:buNone/>
              <a:defRPr sz="1600">
                <a:solidFill>
                  <a:srgbClr val="15171E"/>
                </a:solidFill>
                <a:latin typeface="Inter"/>
                <a:ea typeface="Inter"/>
                <a:cs typeface="Inter"/>
                <a:sym typeface="Inte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1"/>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12317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46980"/>
          </a:xfrm>
          <a:prstGeom prst="rect">
            <a:avLst/>
          </a:prstGeom>
          <a:noFill/>
          <a:ln/>
        </p:spPr>
        <p:txBody>
          <a:bodyPr wrap="square" lIns="0" tIns="0" rIns="0" bIns="0" rtlCol="0" anchor="t"/>
          <a:lstStyle>
            <a:lvl1pPr marL="0" indent="0" algn="l">
              <a:lnSpc>
                <a:spcPct val="115000"/>
              </a:lnSpc>
              <a:buNone/>
              <a:defRPr lang="en-US" sz="3200" dirty="0">
                <a:solidFill>
                  <a:srgbClr val="15171E"/>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54101"/>
            <a:ext cx="10566400" cy="4191099"/>
          </a:xfrm>
          <a:prstGeom prst="rect">
            <a:avLst/>
          </a:prstGeom>
          <a:noFill/>
          <a:ln/>
        </p:spPr>
        <p:txBody>
          <a:bodyPr wrap="square" lIns="0" tIns="0" rIns="0" bIns="0" rtlCol="0" anchor="t"/>
          <a:lstStyle>
            <a:lvl1pPr marL="0" indent="0" algn="l">
              <a:lnSpc>
                <a:spcPct val="140000"/>
              </a:lnSpc>
              <a:buNone/>
              <a:defRPr lang="en-US" sz="1600" dirty="0">
                <a:solidFill>
                  <a:srgbClr val="15171E"/>
                </a:solidFill>
                <a:latin typeface="Inter" pitchFamily="34" charset="0"/>
                <a:ea typeface="Inter" pitchFamily="34" charset="-122"/>
                <a:cs typeface="Inter"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28388926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3083670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1102320"/>
            <a:ext cx="10566400" cy="446980"/>
          </a:xfrm>
          <a:prstGeom prst="rect">
            <a:avLst/>
          </a:prstGeom>
          <a:noFill/>
          <a:ln>
            <a:noFill/>
          </a:ln>
        </p:spPr>
        <p:txBody>
          <a:bodyPr spcFirstLastPara="1" wrap="square" lIns="0" tIns="0" rIns="0" bIns="0" anchor="t" anchorCtr="0">
            <a:noAutofit/>
          </a:bodyPr>
          <a:lstStyle>
            <a:lvl1pPr marR="0" lvl="0" algn="l" rtl="0">
              <a:lnSpc>
                <a:spcPct val="115000"/>
              </a:lnSpc>
              <a:spcBef>
                <a:spcPts val="0"/>
              </a:spcBef>
              <a:spcAft>
                <a:spcPts val="0"/>
              </a:spcAft>
              <a:buClr>
                <a:srgbClr val="15171E"/>
              </a:buClr>
              <a:buSzPts val="3200"/>
              <a:buFont typeface="Space Grotesk"/>
              <a:buNone/>
              <a:defRPr sz="3200" b="0" i="0" u="none" strike="noStrike" cap="none">
                <a:solidFill>
                  <a:srgbClr val="15171E"/>
                </a:solidFill>
                <a:latin typeface="Space Grotesk"/>
                <a:ea typeface="Space Grotesk"/>
                <a:cs typeface="Space Grotesk"/>
                <a:sym typeface="Space Grotes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854101"/>
            <a:ext cx="10566400" cy="4191099"/>
          </a:xfrm>
          <a:prstGeom prst="rect">
            <a:avLst/>
          </a:prstGeom>
          <a:noFill/>
          <a:ln>
            <a:noFill/>
          </a:ln>
        </p:spPr>
        <p:txBody>
          <a:bodyPr spcFirstLastPara="1" wrap="square" lIns="0" tIns="0" rIns="0" bIns="0" anchor="t" anchorCtr="0">
            <a:noAutofit/>
          </a:bodyPr>
          <a:lstStyle>
            <a:lvl1pPr marL="457200" marR="0" lvl="0" indent="-228600" algn="l" rtl="0">
              <a:lnSpc>
                <a:spcPct val="140000"/>
              </a:lnSpc>
              <a:spcBef>
                <a:spcPts val="320"/>
              </a:spcBef>
              <a:spcAft>
                <a:spcPts val="0"/>
              </a:spcAft>
              <a:buClr>
                <a:srgbClr val="15171E"/>
              </a:buClr>
              <a:buSzPts val="1600"/>
              <a:buFont typeface="Arial"/>
              <a:buNone/>
              <a:defRPr sz="1600" b="0" i="0" u="none" strike="noStrike" cap="none">
                <a:solidFill>
                  <a:srgbClr val="15171E"/>
                </a:solidFill>
                <a:latin typeface="Inter"/>
                <a:ea typeface="Inter"/>
                <a:cs typeface="Inter"/>
                <a:sym typeface="Inter"/>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46980"/>
          </a:xfrm>
          <a:prstGeom prst="rect">
            <a:avLst/>
          </a:prstGeom>
          <a:noFill/>
          <a:ln/>
        </p:spPr>
        <p:txBody>
          <a:bodyPr wrap="square" lIns="0" tIns="0" rIns="0" bIns="0" rtlCol="0" anchor="t"/>
          <a:lstStyle>
            <a:lvl1pPr marL="0" indent="0" algn="l">
              <a:lnSpc>
                <a:spcPct val="115000"/>
              </a:lnSpc>
              <a:buNone/>
              <a:defRPr lang="en-US" sz="3200" dirty="0">
                <a:solidFill>
                  <a:srgbClr val="15171E"/>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54101"/>
            <a:ext cx="10566400" cy="4191099"/>
          </a:xfrm>
          <a:prstGeom prst="rect">
            <a:avLst/>
          </a:prstGeom>
          <a:noFill/>
          <a:ln/>
        </p:spPr>
        <p:txBody>
          <a:bodyPr wrap="square" lIns="0" tIns="0" rIns="0" bIns="0" rtlCol="0" anchor="t"/>
          <a:lstStyle>
            <a:lvl1pPr marL="0" indent="0" algn="l">
              <a:lnSpc>
                <a:spcPct val="140000"/>
              </a:lnSpc>
              <a:buNone/>
              <a:defRPr lang="en-US" sz="1600" dirty="0">
                <a:solidFill>
                  <a:srgbClr val="15171E"/>
                </a:solidFill>
                <a:latin typeface="Inter" pitchFamily="34" charset="0"/>
                <a:ea typeface="Inter" pitchFamily="34" charset="-122"/>
                <a:cs typeface="Inter"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1328526968"/>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5171E"/>
        </a:solidFill>
        <a:effectLst/>
      </p:bgPr>
    </p:bg>
    <p:spTree>
      <p:nvGrpSpPr>
        <p:cNvPr id="1" name=""/>
        <p:cNvGrpSpPr/>
        <p:nvPr/>
      </p:nvGrpSpPr>
      <p:grpSpPr>
        <a:xfrm>
          <a:off x="0" y="0"/>
          <a:ext cx="0" cy="0"/>
          <a:chOff x="0" y="0"/>
          <a:chExt cx="0" cy="0"/>
        </a:xfrm>
      </p:grpSpPr>
      <p:sp>
        <p:nvSpPr>
          <p:cNvPr id="2" name="Text 0"/>
          <p:cNvSpPr/>
          <p:nvPr/>
        </p:nvSpPr>
        <p:spPr>
          <a:xfrm>
            <a:off x="812800" y="1385689"/>
            <a:ext cx="6435852"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FF7A4D"/>
                </a:solidFill>
                <a:effectLst/>
                <a:uLnTx/>
                <a:uFillTx/>
                <a:latin typeface="Inter" pitchFamily="34" charset="0"/>
                <a:ea typeface="Inter" pitchFamily="34" charset="-122"/>
                <a:cs typeface="Inter" pitchFamily="34" charset="-120"/>
              </a:rPr>
              <a:t>INVESTOR BRIEFING · CROWDFUNDING ANALYTICS</a:t>
            </a:r>
            <a:endParaRPr kumimoji="0" lang="en-US" sz="1200" b="0" i="0" u="none" strike="noStrike" kern="1200" cap="none" spc="0" normalizeH="0" baseline="0" noProof="0" dirty="0">
              <a:ln>
                <a:noFill/>
              </a:ln>
              <a:solidFill>
                <a:srgbClr val="15171E"/>
              </a:solidFill>
              <a:effectLst/>
              <a:uLnTx/>
              <a:uFillTx/>
              <a:latin typeface="Inter"/>
              <a:ea typeface="+mn-ea"/>
              <a:cs typeface="+mn-cs"/>
            </a:endParaRPr>
          </a:p>
        </p:txBody>
      </p:sp>
      <p:sp>
        <p:nvSpPr>
          <p:cNvPr id="3" name="Text 1"/>
          <p:cNvSpPr/>
          <p:nvPr/>
        </p:nvSpPr>
        <p:spPr>
          <a:xfrm>
            <a:off x="812800" y="1776809"/>
            <a:ext cx="6435852" cy="33268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42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FF7A4D"/>
                </a:solidFill>
                <a:effectLst/>
                <a:uLnTx/>
                <a:uFillTx/>
                <a:latin typeface="Space Grotesk" pitchFamily="34" charset="0"/>
                <a:ea typeface="Space Grotesk" pitchFamily="34" charset="-122"/>
                <a:cs typeface="Space Grotesk" pitchFamily="34" charset="-120"/>
              </a:rPr>
              <a:t>Founders</a:t>
            </a:r>
            <a:r>
              <a:rPr kumimoji="0" lang="en-US" sz="2200" b="0" i="0" u="none" strike="noStrike" kern="1200" cap="none" spc="0" normalizeH="0" baseline="0" noProof="0" dirty="0">
                <a:ln>
                  <a:noFill/>
                </a:ln>
                <a:solidFill>
                  <a:srgbClr val="D6D8DD"/>
                </a:solidFill>
                <a:effectLst/>
                <a:uLnTx/>
                <a:uFillTx/>
                <a:latin typeface="Space Grotesk" pitchFamily="34" charset="0"/>
                <a:ea typeface="Space Grotesk" pitchFamily="34" charset="-122"/>
                <a:cs typeface="Space Grotesk" pitchFamily="34" charset="-120"/>
              </a:rPr>
              <a:t> and funders, meet the</a:t>
            </a:r>
            <a:endParaRPr kumimoji="0" lang="en-US" sz="2200" b="0" i="0" u="none" strike="noStrike" kern="1200" cap="none" spc="0" normalizeH="0" baseline="0" noProof="0" dirty="0">
              <a:ln>
                <a:noFill/>
              </a:ln>
              <a:solidFill>
                <a:srgbClr val="15171E"/>
              </a:solidFill>
              <a:effectLst/>
              <a:uLnTx/>
              <a:uFillTx/>
              <a:latin typeface="Inter"/>
              <a:ea typeface="+mn-ea"/>
              <a:cs typeface="+mn-cs"/>
            </a:endParaRPr>
          </a:p>
        </p:txBody>
      </p:sp>
      <p:sp>
        <p:nvSpPr>
          <p:cNvPr id="4" name="Text 2"/>
          <p:cNvSpPr>
            <a:spLocks noGrp="1"/>
          </p:cNvSpPr>
          <p:nvPr>
            <p:ph type="title"/>
          </p:nvPr>
        </p:nvSpPr>
        <p:spPr>
          <a:xfrm>
            <a:off x="812800" y="2261890"/>
            <a:ext cx="6435852" cy="977900"/>
          </a:xfrm>
          <a:prstGeom prst="rect">
            <a:avLst/>
          </a:prstGeom>
          <a:noFill/>
          <a:ln/>
        </p:spPr>
        <p:txBody>
          <a:bodyPr wrap="square" lIns="0" tIns="0" rIns="0" bIns="0" rtlCol="0" anchor="t">
            <a:normAutofit/>
          </a:bodyPr>
          <a:lstStyle/>
          <a:p>
            <a:pPr marL="0" indent="0" algn="l">
              <a:lnSpc>
                <a:spcPts val="7500"/>
              </a:lnSpc>
              <a:buNone/>
            </a:pPr>
            <a:r>
              <a:rPr lang="en-US" sz="7500" b="1" i="0" kern="0" spc="-150" dirty="0">
                <a:solidFill>
                  <a:srgbClr val="F5F3EE"/>
                </a:solidFill>
                <a:latin typeface="Space Grotesk" pitchFamily="34" charset="0"/>
                <a:ea typeface="Space Grotesk" pitchFamily="34" charset="-122"/>
                <a:cs typeface="Space Grotesk" pitchFamily="34" charset="-120"/>
              </a:rPr>
              <a:t>Outliers</a:t>
            </a:r>
            <a:endParaRPr lang="en-US" sz="7500" dirty="0"/>
          </a:p>
        </p:txBody>
      </p:sp>
      <p:sp>
        <p:nvSpPr>
          <p:cNvPr id="5" name="Text 3"/>
          <p:cNvSpPr/>
          <p:nvPr/>
        </p:nvSpPr>
        <p:spPr>
          <a:xfrm>
            <a:off x="812800" y="3035399"/>
            <a:ext cx="6435852" cy="3302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2000" b="0" i="1" u="none" strike="noStrike" kern="1200" cap="none" spc="0" normalizeH="0" baseline="0" noProof="0" dirty="0">
                <a:ln>
                  <a:noFill/>
                </a:ln>
                <a:solidFill>
                  <a:srgbClr val="FF7A4D"/>
                </a:solidFill>
                <a:effectLst/>
                <a:uLnTx/>
                <a:uFillTx/>
                <a:latin typeface="Space Grotesk" pitchFamily="34" charset="0"/>
                <a:ea typeface="Space Grotesk" pitchFamily="34" charset="-122"/>
                <a:cs typeface="Space Grotesk" pitchFamily="34" charset="-120"/>
              </a:rPr>
              <a:t>Proudly three standard deviations from the mean.</a:t>
            </a:r>
            <a:endParaRPr kumimoji="0" lang="en-US" sz="2000" b="0" i="0" u="none" strike="noStrike" kern="1200" cap="none" spc="0" normalizeH="0" baseline="0" noProof="0" dirty="0">
              <a:ln>
                <a:noFill/>
              </a:ln>
              <a:solidFill>
                <a:srgbClr val="15171E"/>
              </a:solidFill>
              <a:effectLst/>
              <a:uLnTx/>
              <a:uFillTx/>
              <a:latin typeface="Inter"/>
              <a:ea typeface="+mn-ea"/>
              <a:cs typeface="+mn-cs"/>
            </a:endParaRPr>
          </a:p>
        </p:txBody>
      </p:sp>
      <p:sp>
        <p:nvSpPr>
          <p:cNvPr id="6" name="Text 4"/>
          <p:cNvSpPr/>
          <p:nvPr/>
        </p:nvSpPr>
        <p:spPr>
          <a:xfrm>
            <a:off x="812800" y="3874790"/>
            <a:ext cx="6435852" cy="726281"/>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76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5F3EE"/>
                </a:solidFill>
                <a:effectLst/>
                <a:uLnTx/>
                <a:uFillTx/>
                <a:latin typeface="Space Grotesk" pitchFamily="34" charset="0"/>
                <a:ea typeface="Space Grotesk" pitchFamily="34" charset="-122"/>
                <a:cs typeface="Space Grotesk" pitchFamily="34" charset="-120"/>
              </a:rPr>
              <a:t>Will your Kickstarter get funded? Predicting success before launch day</a:t>
            </a:r>
            <a:endParaRPr kumimoji="0" lang="en-US" sz="2400" b="0" i="0" u="none" strike="noStrike" kern="1200" cap="none" spc="0" normalizeH="0" baseline="0" noProof="0" dirty="0">
              <a:ln>
                <a:noFill/>
              </a:ln>
              <a:solidFill>
                <a:srgbClr val="15171E"/>
              </a:solidFill>
              <a:effectLst/>
              <a:uLnTx/>
              <a:uFillTx/>
              <a:latin typeface="Inter"/>
              <a:ea typeface="+mn-ea"/>
              <a:cs typeface="+mn-cs"/>
            </a:endParaRPr>
          </a:p>
        </p:txBody>
      </p:sp>
      <p:sp>
        <p:nvSpPr>
          <p:cNvPr id="7" name="Text 5"/>
          <p:cNvSpPr/>
          <p:nvPr/>
        </p:nvSpPr>
        <p:spPr>
          <a:xfrm>
            <a:off x="812800" y="4931370"/>
            <a:ext cx="6435852" cy="540941"/>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03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B9BCC4"/>
                </a:solidFill>
                <a:effectLst/>
                <a:uLnTx/>
                <a:uFillTx/>
                <a:latin typeface="Inter" pitchFamily="34" charset="0"/>
                <a:ea typeface="Inter" pitchFamily="34" charset="-122"/>
                <a:cs typeface="Inter" pitchFamily="34" charset="-120"/>
              </a:rPr>
              <a:t>We are a data team that hunts for the patterns most people average away. We read 378,661 crowdfunding campaigns so you don’t have to.</a:t>
            </a:r>
            <a:endParaRPr kumimoji="0" lang="en-US" sz="1400" b="0" i="0" u="none" strike="noStrike" kern="1200" cap="none" spc="0" normalizeH="0" baseline="0" noProof="0" dirty="0">
              <a:ln>
                <a:noFill/>
              </a:ln>
              <a:solidFill>
                <a:srgbClr val="15171E"/>
              </a:solidFill>
              <a:effectLst/>
              <a:uLnTx/>
              <a:uFillTx/>
              <a:latin typeface="Inter"/>
              <a:ea typeface="+mn-ea"/>
              <a:cs typeface="+mn-cs"/>
            </a:endParaRPr>
          </a:p>
        </p:txBody>
      </p:sp>
      <p:pic>
        <p:nvPicPr>
          <p:cNvPr id="8" name="Image 0" descr="Outliers logo concept: grey dots clustered under a bell curve, with one orange dot that has wandered off to the upper right"/>
          <p:cNvPicPr>
            <a:picLocks noChangeAspect="1"/>
          </p:cNvPicPr>
          <p:nvPr/>
        </p:nvPicPr>
        <p:blipFill>
          <a:blip r:embed="rId3"/>
          <a:srcRect/>
          <a:stretch/>
        </p:blipFill>
        <p:spPr>
          <a:xfrm>
            <a:off x="7569200" y="1136749"/>
            <a:ext cx="3810000" cy="2540000"/>
          </a:xfrm>
          <a:prstGeom prst="rect">
            <a:avLst/>
          </a:prstGeom>
        </p:spPr>
      </p:pic>
      <p:sp>
        <p:nvSpPr>
          <p:cNvPr id="9" name="Text 6"/>
          <p:cNvSpPr/>
          <p:nvPr/>
        </p:nvSpPr>
        <p:spPr>
          <a:xfrm>
            <a:off x="7512050" y="3829149"/>
            <a:ext cx="3924300" cy="667941"/>
          </a:xfrm>
          <a:prstGeom prst="rect">
            <a:avLst/>
          </a:prstGeom>
          <a:noFill/>
          <a:ln/>
        </p:spPr>
        <p:txBody>
          <a:bodyPr wrap="square" lIns="0" tIns="0" rIns="0" bIns="0" rtlCol="0" anchor="t">
            <a:normAutofit/>
          </a:bodyPr>
          <a:lstStyle/>
          <a:p>
            <a:pPr marL="0" marR="0" lvl="0" indent="0" algn="ctr" defTabSz="914400" rtl="0" eaLnBrk="1" fontAlgn="auto" latinLnBrk="0" hangingPunct="1">
              <a:lnSpc>
                <a:spcPts val="253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5F3EE"/>
                </a:solidFill>
                <a:effectLst/>
                <a:uLnTx/>
                <a:uFillTx/>
                <a:latin typeface="Space Grotesk" pitchFamily="34" charset="0"/>
                <a:ea typeface="Space Grotesk" pitchFamily="34" charset="-122"/>
                <a:cs typeface="Space Grotesk" pitchFamily="34" charset="-120"/>
              </a:rPr>
              <a:t>We don’t fit the curve. </a:t>
            </a:r>
            <a:r>
              <a:rPr kumimoji="0" lang="en-US" sz="2200" b="1" i="0" u="none" strike="noStrike" kern="1200" cap="none" spc="0" normalizeH="0" baseline="0" noProof="0" dirty="0">
                <a:ln>
                  <a:noFill/>
                </a:ln>
                <a:solidFill>
                  <a:srgbClr val="FF7A4D"/>
                </a:solidFill>
                <a:effectLst/>
                <a:uLnTx/>
                <a:uFillTx/>
                <a:latin typeface="Space Grotesk" pitchFamily="34" charset="0"/>
                <a:ea typeface="Space Grotesk" pitchFamily="34" charset="-122"/>
                <a:cs typeface="Space Grotesk" pitchFamily="34" charset="-120"/>
              </a:rPr>
              <a:t>We fund it.</a:t>
            </a:r>
            <a:endParaRPr kumimoji="0" lang="en-US" sz="2200" b="0" i="0" u="none" strike="noStrike" kern="1200" cap="none" spc="0" normalizeH="0" baseline="0" noProof="0" dirty="0">
              <a:ln>
                <a:noFill/>
              </a:ln>
              <a:solidFill>
                <a:srgbClr val="15171E"/>
              </a:solidFill>
              <a:effectLst/>
              <a:uLnTx/>
              <a:uFillTx/>
              <a:latin typeface="Inter"/>
              <a:ea typeface="+mn-ea"/>
              <a:cs typeface="+mn-cs"/>
            </a:endParaRPr>
          </a:p>
        </p:txBody>
      </p:sp>
      <p:sp>
        <p:nvSpPr>
          <p:cNvPr id="14" name="Text 9">
            <a:extLst>
              <a:ext uri="{FF2B5EF4-FFF2-40B4-BE49-F238E27FC236}">
                <a16:creationId xmlns:a16="http://schemas.microsoft.com/office/drawing/2014/main" id="{E612F989-51DE-B7D3-3DE9-60529D01958E}"/>
              </a:ext>
            </a:extLst>
          </p:cNvPr>
          <p:cNvSpPr/>
          <p:nvPr/>
        </p:nvSpPr>
        <p:spPr>
          <a:xfrm>
            <a:off x="812800" y="6151960"/>
            <a:ext cx="10883392"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F939C"/>
                </a:solidFill>
                <a:effectLst/>
                <a:uLnTx/>
                <a:uFillTx/>
                <a:latin typeface="Inter" pitchFamily="34" charset="0"/>
                <a:ea typeface="Inter" pitchFamily="34" charset="-122"/>
                <a:cs typeface="Inter" pitchFamily="34" charset="-120"/>
              </a:rPr>
              <a:t>Presented by Outliers · Daniel Chercos, Diego de Castro Lopez, Max Thormann, Firas Harb, Javier </a:t>
            </a:r>
            <a:r>
              <a:rPr kumimoji="0" lang="en-US" sz="1200" b="0" i="0" u="none" strike="noStrike" kern="1200" cap="none" spc="0" normalizeH="0" baseline="0" noProof="0" dirty="0" err="1">
                <a:ln>
                  <a:noFill/>
                </a:ln>
                <a:solidFill>
                  <a:srgbClr val="8F939C"/>
                </a:solidFill>
                <a:effectLst/>
                <a:uLnTx/>
                <a:uFillTx/>
                <a:latin typeface="Inter" pitchFamily="34" charset="0"/>
                <a:ea typeface="Inter" pitchFamily="34" charset="-122"/>
                <a:cs typeface="Inter" pitchFamily="34" charset="-120"/>
              </a:rPr>
              <a:t>Yturriaga</a:t>
            </a:r>
            <a:r>
              <a:rPr kumimoji="0" lang="en-US" sz="1200" b="0" i="0" u="none" strike="noStrike" kern="1200" cap="none" spc="0" normalizeH="0" baseline="0" noProof="0" dirty="0">
                <a:ln>
                  <a:noFill/>
                </a:ln>
                <a:solidFill>
                  <a:srgbClr val="8F939C"/>
                </a:solidFill>
                <a:effectLst/>
                <a:uLnTx/>
                <a:uFillTx/>
                <a:latin typeface="Inter" pitchFamily="34" charset="0"/>
                <a:ea typeface="Inter" pitchFamily="34" charset="-122"/>
                <a:cs typeface="Inter" pitchFamily="34" charset="-120"/>
              </a:rPr>
              <a:t>                                                 23 Oct 2026 </a:t>
            </a:r>
            <a:endParaRPr kumimoji="0" lang="en-US" sz="1200" b="0" i="0" u="none" strike="noStrike" kern="1200" cap="none" spc="0" normalizeH="0" baseline="0" noProof="0" dirty="0">
              <a:ln>
                <a:noFill/>
              </a:ln>
              <a:solidFill>
                <a:srgbClr val="15171E"/>
              </a:solidFill>
              <a:effectLst/>
              <a:uLnTx/>
              <a:uFillTx/>
              <a:latin typeface="Inter"/>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B8401A"/>
                </a:solidFill>
                <a:effectLst/>
                <a:uLnTx/>
                <a:uFillTx/>
                <a:latin typeface="Inter" pitchFamily="34" charset="0"/>
                <a:ea typeface="Inter" pitchFamily="34" charset="-122"/>
                <a:cs typeface="Inter" pitchFamily="34" charset="-120"/>
              </a:rPr>
              <a:t>01 · THE OPPORTUNITY</a:t>
            </a:r>
            <a:endParaRPr kumimoji="0" lang="en-US" sz="1200" b="0" i="0" u="none" strike="noStrike" kern="1200" cap="none" spc="0" normalizeH="0" baseline="0" noProof="0" dirty="0">
              <a:ln>
                <a:noFill/>
              </a:ln>
              <a:solidFill>
                <a:srgbClr val="15171E"/>
              </a:solidFill>
              <a:effectLst/>
              <a:uLnTx/>
              <a:uFillTx/>
              <a:latin typeface="Inter"/>
              <a:ea typeface="+mn-ea"/>
              <a:cs typeface="+mn-cs"/>
            </a:endParaRPr>
          </a:p>
        </p:txBody>
      </p:sp>
      <p:sp>
        <p:nvSpPr>
          <p:cNvPr id="3" name="Text 1"/>
          <p:cNvSpPr>
            <a:spLocks noGrp="1"/>
          </p:cNvSpPr>
          <p:nvPr>
            <p:ph type="title"/>
          </p:nvPr>
        </p:nvSpPr>
        <p:spPr>
          <a:xfrm>
            <a:off x="812800" y="11023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5171E"/>
                </a:solidFill>
                <a:latin typeface="Space Grotesk" pitchFamily="34" charset="0"/>
                <a:ea typeface="Space Grotesk" pitchFamily="34" charset="-122"/>
                <a:cs typeface="Space Grotesk" pitchFamily="34" charset="-120"/>
              </a:rPr>
              <a:t>Most campaigns miss and get nothing</a:t>
            </a:r>
            <a:endParaRPr lang="en-US" sz="3200" dirty="0"/>
          </a:p>
        </p:txBody>
      </p:sp>
      <p:sp>
        <p:nvSpPr>
          <p:cNvPr id="4" name="Shape 2"/>
          <p:cNvSpPr/>
          <p:nvPr/>
        </p:nvSpPr>
        <p:spPr>
          <a:xfrm>
            <a:off x="815975" y="1704975"/>
            <a:ext cx="3409950" cy="1987550"/>
          </a:xfrm>
          <a:prstGeom prst="roundRect">
            <a:avLst>
              <a:gd name="adj" fmla="val 4952"/>
            </a:avLst>
          </a:prstGeom>
          <a:solidFill>
            <a:srgbClr val="FFFDF8"/>
          </a:solidFill>
          <a:ln w="6350">
            <a:solidFill>
              <a:srgbClr val="E2DED3"/>
            </a:solidFill>
            <a:prstDash val="solid"/>
          </a:ln>
        </p:spPr>
      </p:sp>
      <p:sp>
        <p:nvSpPr>
          <p:cNvPr id="5" name="Text 3"/>
          <p:cNvSpPr/>
          <p:nvPr/>
        </p:nvSpPr>
        <p:spPr>
          <a:xfrm>
            <a:off x="1022350" y="1911350"/>
            <a:ext cx="3087116" cy="252512"/>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2563C9"/>
                </a:solidFill>
                <a:effectLst/>
                <a:uLnTx/>
                <a:uFillTx/>
                <a:latin typeface="Space Grotesk" pitchFamily="34" charset="0"/>
                <a:ea typeface="Space Grotesk" pitchFamily="34" charset="-122"/>
                <a:cs typeface="Space Grotesk" pitchFamily="34" charset="-120"/>
              </a:rPr>
              <a:t>Crowdfunding 101</a:t>
            </a:r>
            <a:endParaRPr kumimoji="0" lang="en-US" sz="1500" b="0" i="0" u="none" strike="noStrike" kern="1200" cap="none" spc="0" normalizeH="0" baseline="0" noProof="0" dirty="0">
              <a:ln>
                <a:noFill/>
              </a:ln>
              <a:solidFill>
                <a:srgbClr val="15171E"/>
              </a:solidFill>
              <a:effectLst/>
              <a:uLnTx/>
              <a:uFillTx/>
              <a:latin typeface="Inter"/>
              <a:ea typeface="+mn-ea"/>
              <a:cs typeface="+mn-cs"/>
            </a:endParaRPr>
          </a:p>
        </p:txBody>
      </p:sp>
      <p:sp>
        <p:nvSpPr>
          <p:cNvPr id="6" name="Text 4"/>
          <p:cNvSpPr/>
          <p:nvPr/>
        </p:nvSpPr>
        <p:spPr>
          <a:xfrm>
            <a:off x="1127563" y="2214662"/>
            <a:ext cx="2974283" cy="1296888"/>
          </a:xfrm>
          <a:prstGeom prst="rect">
            <a:avLst/>
          </a:prstGeom>
          <a:noFill/>
          <a:ln/>
        </p:spPr>
        <p:txBody>
          <a:bodyPr wrap="square" lIns="0" tIns="0" rIns="0" bIns="0" rtlCol="0" anchor="t">
            <a:normAutofit/>
          </a:bodyPr>
          <a:lstStyle/>
          <a:p>
            <a:pPr marL="148787" marR="0" lvl="0" indent="-148787" algn="l" defTabSz="914400" rtl="0" eaLnBrk="1" fontAlgn="auto" latinLnBrk="0" hangingPunct="1">
              <a:lnSpc>
                <a:spcPts val="1670"/>
              </a:lnSpc>
              <a:spcBef>
                <a:spcPts val="0"/>
              </a:spcBef>
              <a:spcAft>
                <a:spcPts val="0"/>
              </a:spcAft>
              <a:buClrTx/>
              <a:buSzPct val="100000"/>
              <a:buFontTx/>
              <a:buChar char="•"/>
              <a:tabLst/>
              <a:defRPr/>
            </a:pPr>
            <a:r>
              <a:rPr kumimoji="0" lang="en-US" sz="1193" b="0" i="0" u="none" strike="noStrike" kern="1200" cap="none" spc="0" normalizeH="0" baseline="0" noProof="0" dirty="0">
                <a:ln>
                  <a:noFill/>
                </a:ln>
                <a:solidFill>
                  <a:srgbClr val="15171E"/>
                </a:solidFill>
                <a:effectLst/>
                <a:uLnTx/>
                <a:uFillTx/>
                <a:latin typeface="Inter" pitchFamily="34" charset="0"/>
                <a:ea typeface="Inter" pitchFamily="34" charset="-122"/>
                <a:cs typeface="Inter" pitchFamily="34" charset="-120"/>
              </a:rPr>
              <a:t>Many backers pledge small amounts to fund an idea</a:t>
            </a:r>
            <a:endParaRPr kumimoji="0" lang="en-US" sz="1193" b="0" i="0" u="none" strike="noStrike" kern="1200" cap="none" spc="0" normalizeH="0" baseline="0" noProof="0" dirty="0">
              <a:ln>
                <a:noFill/>
              </a:ln>
              <a:solidFill>
                <a:srgbClr val="15171E"/>
              </a:solidFill>
              <a:effectLst/>
              <a:uLnTx/>
              <a:uFillTx/>
              <a:latin typeface="Inter"/>
              <a:ea typeface="+mn-ea"/>
              <a:cs typeface="+mn-cs"/>
            </a:endParaRPr>
          </a:p>
          <a:p>
            <a:pPr marL="148787" marR="0" lvl="0" indent="-148787" algn="l" defTabSz="914400" rtl="0" eaLnBrk="1" fontAlgn="auto" latinLnBrk="0" hangingPunct="1">
              <a:lnSpc>
                <a:spcPts val="1670"/>
              </a:lnSpc>
              <a:spcBef>
                <a:spcPts val="0"/>
              </a:spcBef>
              <a:spcAft>
                <a:spcPts val="0"/>
              </a:spcAft>
              <a:buClrTx/>
              <a:buSzPct val="100000"/>
              <a:buFontTx/>
              <a:buChar char="•"/>
              <a:tabLst/>
              <a:defRPr/>
            </a:pPr>
            <a:r>
              <a:rPr kumimoji="0" lang="en-US" sz="1193" b="0" i="0" u="none" strike="noStrike" kern="1200" cap="none" spc="0" normalizeH="0" baseline="0" noProof="0" dirty="0">
                <a:ln>
                  <a:noFill/>
                </a:ln>
                <a:solidFill>
                  <a:srgbClr val="15171E"/>
                </a:solidFill>
                <a:effectLst/>
                <a:uLnTx/>
                <a:uFillTx/>
                <a:latin typeface="Inter" pitchFamily="34" charset="0"/>
                <a:ea typeface="Inter" pitchFamily="34" charset="-122"/>
                <a:cs typeface="Inter" pitchFamily="34" charset="-120"/>
              </a:rPr>
              <a:t>Kickstarter is all-or-nothing: miss the goal, get $0</a:t>
            </a:r>
            <a:endParaRPr kumimoji="0" lang="en-US" sz="1193" b="0" i="0" u="none" strike="noStrike" kern="1200" cap="none" spc="0" normalizeH="0" baseline="0" noProof="0" dirty="0">
              <a:ln>
                <a:noFill/>
              </a:ln>
              <a:solidFill>
                <a:srgbClr val="15171E"/>
              </a:solidFill>
              <a:effectLst/>
              <a:uLnTx/>
              <a:uFillTx/>
              <a:latin typeface="Inter"/>
              <a:ea typeface="+mn-ea"/>
              <a:cs typeface="+mn-cs"/>
            </a:endParaRPr>
          </a:p>
          <a:p>
            <a:pPr marL="148787" marR="0" lvl="0" indent="-148787" algn="l" defTabSz="914400" rtl="0" eaLnBrk="1" fontAlgn="auto" latinLnBrk="0" hangingPunct="1">
              <a:lnSpc>
                <a:spcPts val="1670"/>
              </a:lnSpc>
              <a:spcBef>
                <a:spcPts val="0"/>
              </a:spcBef>
              <a:spcAft>
                <a:spcPts val="0"/>
              </a:spcAft>
              <a:buClrTx/>
              <a:buSzPct val="100000"/>
              <a:buFontTx/>
              <a:buChar char="•"/>
              <a:tabLst/>
              <a:defRPr/>
            </a:pPr>
            <a:r>
              <a:rPr kumimoji="0" lang="en-US" sz="1193" b="0" i="0" u="none" strike="noStrike" kern="1200" cap="none" spc="0" normalizeH="0" baseline="0" noProof="0" dirty="0">
                <a:ln>
                  <a:noFill/>
                </a:ln>
                <a:solidFill>
                  <a:srgbClr val="15171E"/>
                </a:solidFill>
                <a:effectLst/>
                <a:uLnTx/>
                <a:uFillTx/>
                <a:latin typeface="Inter" pitchFamily="34" charset="0"/>
                <a:ea typeface="Inter" pitchFamily="34" charset="-122"/>
                <a:cs typeface="Inter" pitchFamily="34" charset="-120"/>
              </a:rPr>
              <a:t>Our data: 378,661 Kickstarter projects, 2009 - 2018</a:t>
            </a:r>
            <a:endParaRPr kumimoji="0" lang="en-US" sz="1193" b="0" i="0" u="none" strike="noStrike" kern="1200" cap="none" spc="0" normalizeH="0" baseline="0" noProof="0" dirty="0">
              <a:ln>
                <a:noFill/>
              </a:ln>
              <a:solidFill>
                <a:srgbClr val="15171E"/>
              </a:solidFill>
              <a:effectLst/>
              <a:uLnTx/>
              <a:uFillTx/>
              <a:latin typeface="Inter"/>
              <a:ea typeface="+mn-ea"/>
              <a:cs typeface="+mn-cs"/>
            </a:endParaRPr>
          </a:p>
        </p:txBody>
      </p:sp>
      <p:sp>
        <p:nvSpPr>
          <p:cNvPr id="7" name="Shape 5"/>
          <p:cNvSpPr/>
          <p:nvPr/>
        </p:nvSpPr>
        <p:spPr>
          <a:xfrm>
            <a:off x="4391025" y="1704975"/>
            <a:ext cx="3409950" cy="1987550"/>
          </a:xfrm>
          <a:prstGeom prst="roundRect">
            <a:avLst>
              <a:gd name="adj" fmla="val 4952"/>
            </a:avLst>
          </a:prstGeom>
          <a:solidFill>
            <a:srgbClr val="FFFDF8"/>
          </a:solidFill>
          <a:ln w="6350">
            <a:solidFill>
              <a:srgbClr val="E2DED3"/>
            </a:solidFill>
            <a:prstDash val="solid"/>
          </a:ln>
        </p:spPr>
      </p:sp>
      <p:sp>
        <p:nvSpPr>
          <p:cNvPr id="8" name="Text 6"/>
          <p:cNvSpPr/>
          <p:nvPr/>
        </p:nvSpPr>
        <p:spPr>
          <a:xfrm>
            <a:off x="4597400" y="1911350"/>
            <a:ext cx="3087116" cy="252512"/>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B8401A"/>
                </a:solidFill>
                <a:effectLst/>
                <a:uLnTx/>
                <a:uFillTx/>
                <a:latin typeface="Space Grotesk" pitchFamily="34" charset="0"/>
                <a:ea typeface="Space Grotesk" pitchFamily="34" charset="-122"/>
                <a:cs typeface="Space Grotesk" pitchFamily="34" charset="-120"/>
              </a:rPr>
              <a:t>What we built</a:t>
            </a:r>
            <a:endParaRPr kumimoji="0" lang="en-US" sz="1500" b="0" i="0" u="none" strike="noStrike" kern="1200" cap="none" spc="0" normalizeH="0" baseline="0" noProof="0" dirty="0">
              <a:ln>
                <a:noFill/>
              </a:ln>
              <a:solidFill>
                <a:srgbClr val="15171E"/>
              </a:solidFill>
              <a:effectLst/>
              <a:uLnTx/>
              <a:uFillTx/>
              <a:latin typeface="Inter"/>
              <a:ea typeface="+mn-ea"/>
              <a:cs typeface="+mn-cs"/>
            </a:endParaRPr>
          </a:p>
        </p:txBody>
      </p:sp>
      <p:sp>
        <p:nvSpPr>
          <p:cNvPr id="9" name="Text 7"/>
          <p:cNvSpPr/>
          <p:nvPr/>
        </p:nvSpPr>
        <p:spPr>
          <a:xfrm>
            <a:off x="4702613" y="2214662"/>
            <a:ext cx="2974283" cy="1296888"/>
          </a:xfrm>
          <a:prstGeom prst="rect">
            <a:avLst/>
          </a:prstGeom>
          <a:noFill/>
          <a:ln/>
        </p:spPr>
        <p:txBody>
          <a:bodyPr wrap="square" lIns="0" tIns="0" rIns="0" bIns="0" rtlCol="0" anchor="t">
            <a:normAutofit/>
          </a:bodyPr>
          <a:lstStyle/>
          <a:p>
            <a:pPr marL="148787" marR="0" lvl="0" indent="-148787" algn="l" defTabSz="914400" rtl="0" eaLnBrk="1" fontAlgn="auto" latinLnBrk="0" hangingPunct="1">
              <a:lnSpc>
                <a:spcPts val="1670"/>
              </a:lnSpc>
              <a:spcBef>
                <a:spcPts val="0"/>
              </a:spcBef>
              <a:spcAft>
                <a:spcPts val="0"/>
              </a:spcAft>
              <a:buClrTx/>
              <a:buSzPct val="100000"/>
              <a:buFontTx/>
              <a:buChar char="•"/>
              <a:tabLst/>
              <a:defRPr/>
            </a:pPr>
            <a:r>
              <a:rPr kumimoji="0" lang="en-US" sz="1193" b="0" i="0" u="none" strike="noStrike" kern="1200" cap="none" spc="0" normalizeH="0" baseline="0" noProof="0" dirty="0">
                <a:ln>
                  <a:noFill/>
                </a:ln>
                <a:solidFill>
                  <a:srgbClr val="15171E"/>
                </a:solidFill>
                <a:effectLst/>
                <a:uLnTx/>
                <a:uFillTx/>
                <a:latin typeface="Inter" pitchFamily="34" charset="0"/>
                <a:ea typeface="Inter" pitchFamily="34" charset="-122"/>
                <a:cs typeface="Inter" pitchFamily="34" charset="-120"/>
              </a:rPr>
              <a:t>A Gradient Boosting model, tested against 3 benchmarks</a:t>
            </a:r>
            <a:endParaRPr kumimoji="0" lang="en-US" sz="1193" b="0" i="0" u="none" strike="noStrike" kern="1200" cap="none" spc="0" normalizeH="0" baseline="0" noProof="0" dirty="0">
              <a:ln>
                <a:noFill/>
              </a:ln>
              <a:solidFill>
                <a:srgbClr val="15171E"/>
              </a:solidFill>
              <a:effectLst/>
              <a:uLnTx/>
              <a:uFillTx/>
              <a:latin typeface="Inter"/>
              <a:ea typeface="+mn-ea"/>
              <a:cs typeface="+mn-cs"/>
            </a:endParaRPr>
          </a:p>
          <a:p>
            <a:pPr marL="148787" marR="0" lvl="0" indent="-148787" algn="l" defTabSz="914400" rtl="0" eaLnBrk="1" fontAlgn="auto" latinLnBrk="0" hangingPunct="1">
              <a:lnSpc>
                <a:spcPts val="1670"/>
              </a:lnSpc>
              <a:spcBef>
                <a:spcPts val="0"/>
              </a:spcBef>
              <a:spcAft>
                <a:spcPts val="0"/>
              </a:spcAft>
              <a:buClrTx/>
              <a:buSzPct val="100000"/>
              <a:buFontTx/>
              <a:buChar char="•"/>
              <a:tabLst/>
              <a:defRPr/>
            </a:pPr>
            <a:r>
              <a:rPr kumimoji="0" lang="en-US" sz="1193" b="0" i="0" u="none" strike="noStrike" kern="1200" cap="none" spc="0" normalizeH="0" baseline="0" noProof="0" dirty="0">
                <a:ln>
                  <a:noFill/>
                </a:ln>
                <a:solidFill>
                  <a:srgbClr val="15171E"/>
                </a:solidFill>
                <a:effectLst/>
                <a:uLnTx/>
                <a:uFillTx/>
                <a:latin typeface="Inter" pitchFamily="34" charset="0"/>
                <a:ea typeface="Inter" pitchFamily="34" charset="-122"/>
                <a:cs typeface="Inter" pitchFamily="34" charset="-120"/>
              </a:rPr>
              <a:t>Predicts funding before launch</a:t>
            </a:r>
            <a:endParaRPr kumimoji="0" lang="en-US" sz="1193" b="0" i="0" u="none" strike="noStrike" kern="1200" cap="none" spc="0" normalizeH="0" baseline="0" noProof="0" dirty="0">
              <a:ln>
                <a:noFill/>
              </a:ln>
              <a:solidFill>
                <a:srgbClr val="15171E"/>
              </a:solidFill>
              <a:effectLst/>
              <a:uLnTx/>
              <a:uFillTx/>
              <a:latin typeface="Inter"/>
              <a:ea typeface="+mn-ea"/>
              <a:cs typeface="+mn-cs"/>
            </a:endParaRPr>
          </a:p>
        </p:txBody>
      </p:sp>
      <p:sp>
        <p:nvSpPr>
          <p:cNvPr id="10" name="Shape 8"/>
          <p:cNvSpPr/>
          <p:nvPr/>
        </p:nvSpPr>
        <p:spPr>
          <a:xfrm>
            <a:off x="7962900" y="1701800"/>
            <a:ext cx="3416300" cy="1993900"/>
          </a:xfrm>
          <a:prstGeom prst="roundRect">
            <a:avLst>
              <a:gd name="adj" fmla="val 5096"/>
            </a:avLst>
          </a:prstGeom>
          <a:solidFill>
            <a:srgbClr val="15171E"/>
          </a:solidFill>
          <a:ln/>
        </p:spPr>
      </p:sp>
      <p:sp>
        <p:nvSpPr>
          <p:cNvPr id="11" name="Text 9"/>
          <p:cNvSpPr/>
          <p:nvPr/>
        </p:nvSpPr>
        <p:spPr>
          <a:xfrm>
            <a:off x="8166100" y="1905000"/>
            <a:ext cx="3100197" cy="7366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5600"/>
              </a:lnSpc>
              <a:spcBef>
                <a:spcPts val="0"/>
              </a:spcBef>
              <a:spcAft>
                <a:spcPts val="0"/>
              </a:spcAft>
              <a:buClrTx/>
              <a:buSzTx/>
              <a:buFontTx/>
              <a:buNone/>
              <a:tabLst/>
              <a:defRPr/>
            </a:pPr>
            <a:r>
              <a:rPr kumimoji="0" lang="en-US" sz="5600" b="1" i="0" u="none" strike="noStrike" kern="1200" cap="none" spc="0" normalizeH="0" baseline="0" noProof="0" dirty="0">
                <a:ln>
                  <a:noFill/>
                </a:ln>
                <a:solidFill>
                  <a:srgbClr val="FF7A4D"/>
                </a:solidFill>
                <a:effectLst/>
                <a:uLnTx/>
                <a:uFillTx/>
                <a:latin typeface="Space Grotesk" pitchFamily="34" charset="0"/>
                <a:ea typeface="Space Grotesk" pitchFamily="34" charset="-122"/>
                <a:cs typeface="Space Grotesk" pitchFamily="34" charset="-120"/>
              </a:rPr>
              <a:t>36.4%</a:t>
            </a:r>
            <a:endParaRPr kumimoji="0" lang="en-US" sz="5600" b="0" i="0" u="none" strike="noStrike" kern="1200" cap="none" spc="0" normalizeH="0" baseline="0" noProof="0" dirty="0">
              <a:ln>
                <a:noFill/>
              </a:ln>
              <a:solidFill>
                <a:srgbClr val="15171E"/>
              </a:solidFill>
              <a:effectLst/>
              <a:uLnTx/>
              <a:uFillTx/>
              <a:latin typeface="Inter"/>
              <a:ea typeface="+mn-ea"/>
              <a:cs typeface="+mn-cs"/>
            </a:endParaRPr>
          </a:p>
        </p:txBody>
      </p:sp>
      <p:sp>
        <p:nvSpPr>
          <p:cNvPr id="12" name="Text 10"/>
          <p:cNvSpPr/>
          <p:nvPr/>
        </p:nvSpPr>
        <p:spPr>
          <a:xfrm>
            <a:off x="8271256" y="2667000"/>
            <a:ext cx="2987421" cy="665361"/>
          </a:xfrm>
          <a:prstGeom prst="rect">
            <a:avLst/>
          </a:prstGeom>
          <a:noFill/>
          <a:ln/>
        </p:spPr>
        <p:txBody>
          <a:bodyPr wrap="square" lIns="0" tIns="0" rIns="0" bIns="0" rtlCol="0" anchor="t">
            <a:normAutofit/>
          </a:bodyPr>
          <a:lstStyle/>
          <a:p>
            <a:pPr marL="148844" marR="0" lvl="0" indent="-148844" algn="l" defTabSz="914400" rtl="0" eaLnBrk="1" fontAlgn="auto" latinLnBrk="0" hangingPunct="1">
              <a:lnSpc>
                <a:spcPts val="1680"/>
              </a:lnSpc>
              <a:spcBef>
                <a:spcPts val="0"/>
              </a:spcBef>
              <a:spcAft>
                <a:spcPts val="0"/>
              </a:spcAft>
              <a:buClrTx/>
              <a:buSzPct val="100000"/>
              <a:buFontTx/>
              <a:buChar char="•"/>
              <a:tabLst/>
              <a:defRPr/>
            </a:pPr>
            <a:r>
              <a:rPr kumimoji="0" lang="en-US" sz="1200" b="0" i="0" u="none" strike="noStrike" kern="1200" cap="none" spc="0" normalizeH="0" baseline="0" noProof="0" dirty="0">
                <a:ln>
                  <a:noFill/>
                </a:ln>
                <a:solidFill>
                  <a:srgbClr val="D6D8DD"/>
                </a:solidFill>
                <a:effectLst/>
                <a:uLnTx/>
                <a:uFillTx/>
                <a:latin typeface="Inter" pitchFamily="34" charset="0"/>
                <a:ea typeface="Inter" pitchFamily="34" charset="-122"/>
                <a:cs typeface="Inter" pitchFamily="34" charset="-120"/>
              </a:rPr>
              <a:t>funded, of 366,690 cleaned projects 63.6% miss and receive nothing</a:t>
            </a:r>
            <a:endParaRPr kumimoji="0" lang="en-US" sz="1200" b="0" i="0" u="none" strike="noStrike" kern="1200" cap="none" spc="0" normalizeH="0" baseline="0" noProof="0" dirty="0">
              <a:ln>
                <a:noFill/>
              </a:ln>
              <a:solidFill>
                <a:srgbClr val="15171E"/>
              </a:solidFill>
              <a:effectLst/>
              <a:uLnTx/>
              <a:uFillTx/>
              <a:latin typeface="Inter"/>
              <a:ea typeface="+mn-ea"/>
              <a:cs typeface="+mn-cs"/>
            </a:endParaRPr>
          </a:p>
        </p:txBody>
      </p:sp>
      <p:sp>
        <p:nvSpPr>
          <p:cNvPr id="13" name="Shape 11"/>
          <p:cNvSpPr/>
          <p:nvPr/>
        </p:nvSpPr>
        <p:spPr>
          <a:xfrm>
            <a:off x="815975" y="3851275"/>
            <a:ext cx="3409950" cy="1987550"/>
          </a:xfrm>
          <a:prstGeom prst="roundRect">
            <a:avLst>
              <a:gd name="adj" fmla="val 4952"/>
            </a:avLst>
          </a:prstGeom>
          <a:solidFill>
            <a:srgbClr val="FFFDF8"/>
          </a:solidFill>
          <a:ln w="6350">
            <a:solidFill>
              <a:srgbClr val="E2DED3"/>
            </a:solidFill>
            <a:prstDash val="solid"/>
          </a:ln>
        </p:spPr>
      </p:sp>
      <p:sp>
        <p:nvSpPr>
          <p:cNvPr id="14" name="Text 12"/>
          <p:cNvSpPr/>
          <p:nvPr/>
        </p:nvSpPr>
        <p:spPr>
          <a:xfrm>
            <a:off x="1022350" y="4057650"/>
            <a:ext cx="3087116" cy="2540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B8401A"/>
                </a:solidFill>
                <a:effectLst/>
                <a:uLnTx/>
                <a:uFillTx/>
                <a:latin typeface="Space Grotesk" pitchFamily="34" charset="0"/>
                <a:ea typeface="Space Grotesk" pitchFamily="34" charset="-122"/>
                <a:cs typeface="Space Grotesk" pitchFamily="34" charset="-120"/>
              </a:rPr>
              <a:t>Problem</a:t>
            </a:r>
            <a:endParaRPr kumimoji="0" lang="en-US" sz="1500" b="0" i="0" u="none" strike="noStrike" kern="1200" cap="none" spc="0" normalizeH="0" baseline="0" noProof="0" dirty="0">
              <a:ln>
                <a:noFill/>
              </a:ln>
              <a:solidFill>
                <a:srgbClr val="15171E"/>
              </a:solidFill>
              <a:effectLst/>
              <a:uLnTx/>
              <a:uFillTx/>
              <a:latin typeface="Inter"/>
              <a:ea typeface="+mn-ea"/>
              <a:cs typeface="+mn-cs"/>
            </a:endParaRPr>
          </a:p>
        </p:txBody>
      </p:sp>
      <p:sp>
        <p:nvSpPr>
          <p:cNvPr id="15" name="Text 13"/>
          <p:cNvSpPr/>
          <p:nvPr/>
        </p:nvSpPr>
        <p:spPr>
          <a:xfrm>
            <a:off x="1127506" y="4362450"/>
            <a:ext cx="2974340" cy="878681"/>
          </a:xfrm>
          <a:prstGeom prst="rect">
            <a:avLst/>
          </a:prstGeom>
          <a:noFill/>
          <a:ln/>
        </p:spPr>
        <p:txBody>
          <a:bodyPr wrap="square" lIns="0" tIns="0" rIns="0" bIns="0" rtlCol="0" anchor="t">
            <a:normAutofit fontScale="92500"/>
          </a:bodyPr>
          <a:lstStyle/>
          <a:p>
            <a:pPr marL="148844" marR="0" lvl="0" indent="-148844" algn="l" defTabSz="914400" rtl="0" eaLnBrk="1" fontAlgn="auto" latinLnBrk="0" hangingPunct="1">
              <a:lnSpc>
                <a:spcPts val="1680"/>
              </a:lnSpc>
              <a:spcBef>
                <a:spcPts val="0"/>
              </a:spcBef>
              <a:spcAft>
                <a:spcPts val="0"/>
              </a:spcAft>
              <a:buClrTx/>
              <a:buSzPct val="100000"/>
              <a:buFontTx/>
              <a:buChar char="•"/>
              <a:tabLst/>
              <a:defRPr/>
            </a:pPr>
            <a:r>
              <a:rPr kumimoji="0" lang="en-US" sz="1200" b="0" i="0" u="none" strike="noStrike" kern="1200" cap="none" spc="0" normalizeH="0" baseline="0" noProof="0" dirty="0">
                <a:ln>
                  <a:noFill/>
                </a:ln>
                <a:solidFill>
                  <a:srgbClr val="15171E"/>
                </a:solidFill>
                <a:effectLst/>
                <a:uLnTx/>
                <a:uFillTx/>
                <a:latin typeface="Inter" pitchFamily="34" charset="0"/>
                <a:ea typeface="Inter" pitchFamily="34" charset="-122"/>
                <a:cs typeface="Inter" pitchFamily="34" charset="-120"/>
              </a:rPr>
              <a:t>Most campaigns fail (63.6% not funded)</a:t>
            </a:r>
            <a:endParaRPr kumimoji="0" lang="en-US" sz="1200" b="0" i="0" u="none" strike="noStrike" kern="1200" cap="none" spc="0" normalizeH="0" baseline="0" noProof="0" dirty="0">
              <a:ln>
                <a:noFill/>
              </a:ln>
              <a:solidFill>
                <a:srgbClr val="15171E"/>
              </a:solidFill>
              <a:effectLst/>
              <a:uLnTx/>
              <a:uFillTx/>
              <a:latin typeface="Inter"/>
              <a:ea typeface="+mn-ea"/>
              <a:cs typeface="+mn-cs"/>
            </a:endParaRPr>
          </a:p>
          <a:p>
            <a:pPr marL="148844" marR="0" lvl="0" indent="-148844" algn="l" defTabSz="914400" rtl="0" eaLnBrk="1" fontAlgn="auto" latinLnBrk="0" hangingPunct="1">
              <a:lnSpc>
                <a:spcPts val="1680"/>
              </a:lnSpc>
              <a:spcBef>
                <a:spcPts val="0"/>
              </a:spcBef>
              <a:spcAft>
                <a:spcPts val="0"/>
              </a:spcAft>
              <a:buClrTx/>
              <a:buSzPct val="100000"/>
              <a:buFontTx/>
              <a:buChar char="•"/>
              <a:tabLst/>
              <a:defRPr/>
            </a:pPr>
            <a:r>
              <a:rPr kumimoji="0" lang="en-US" sz="1200" b="0" i="0" u="none" strike="noStrike" kern="1200" cap="none" spc="0" normalizeH="0" baseline="0" noProof="0" dirty="0">
                <a:ln>
                  <a:noFill/>
                </a:ln>
                <a:solidFill>
                  <a:srgbClr val="15171E"/>
                </a:solidFill>
                <a:effectLst/>
                <a:uLnTx/>
                <a:uFillTx/>
                <a:latin typeface="Inter" pitchFamily="34" charset="0"/>
                <a:ea typeface="Inter" pitchFamily="34" charset="-122"/>
                <a:cs typeface="Inter" pitchFamily="34" charset="-120"/>
              </a:rPr>
              <a:t>Founders and </a:t>
            </a:r>
            <a:r>
              <a:rPr lang="en-US" sz="1200" kern="1200" dirty="0">
                <a:solidFill>
                  <a:srgbClr val="15171E"/>
                </a:solidFill>
                <a:latin typeface="Inter" pitchFamily="34" charset="0"/>
                <a:ea typeface="Inter" pitchFamily="34" charset="-122"/>
                <a:cs typeface="Inter" pitchFamily="34" charset="-120"/>
              </a:rPr>
              <a:t>backers</a:t>
            </a:r>
            <a:r>
              <a:rPr kumimoji="0" lang="en-US" sz="1200" b="0" i="0" u="none" strike="noStrike" kern="1200" cap="none" spc="0" normalizeH="0" baseline="0" noProof="0" dirty="0">
                <a:ln>
                  <a:noFill/>
                </a:ln>
                <a:solidFill>
                  <a:srgbClr val="15171E"/>
                </a:solidFill>
                <a:effectLst/>
                <a:uLnTx/>
                <a:uFillTx/>
                <a:latin typeface="Inter" pitchFamily="34" charset="0"/>
                <a:ea typeface="Inter" pitchFamily="34" charset="-122"/>
                <a:cs typeface="Inter" pitchFamily="34" charset="-120"/>
              </a:rPr>
              <a:t> commit time and money with no early read on the odds</a:t>
            </a:r>
            <a:endParaRPr kumimoji="0" lang="en-US" sz="1200" b="0" i="0" u="none" strike="noStrike" kern="1200" cap="none" spc="0" normalizeH="0" baseline="0" noProof="0" dirty="0">
              <a:ln>
                <a:noFill/>
              </a:ln>
              <a:solidFill>
                <a:srgbClr val="15171E"/>
              </a:solidFill>
              <a:effectLst/>
              <a:uLnTx/>
              <a:uFillTx/>
              <a:latin typeface="Inter"/>
              <a:ea typeface="+mn-ea"/>
              <a:cs typeface="+mn-cs"/>
            </a:endParaRPr>
          </a:p>
        </p:txBody>
      </p:sp>
      <p:sp>
        <p:nvSpPr>
          <p:cNvPr id="16" name="Shape 14"/>
          <p:cNvSpPr/>
          <p:nvPr/>
        </p:nvSpPr>
        <p:spPr>
          <a:xfrm>
            <a:off x="4391025" y="3851275"/>
            <a:ext cx="3409950" cy="1987550"/>
          </a:xfrm>
          <a:prstGeom prst="roundRect">
            <a:avLst>
              <a:gd name="adj" fmla="val 4952"/>
            </a:avLst>
          </a:prstGeom>
          <a:solidFill>
            <a:srgbClr val="FFFDF8"/>
          </a:solidFill>
          <a:ln w="6350">
            <a:solidFill>
              <a:srgbClr val="E2DED3"/>
            </a:solidFill>
            <a:prstDash val="solid"/>
          </a:ln>
        </p:spPr>
      </p:sp>
      <p:sp>
        <p:nvSpPr>
          <p:cNvPr id="17" name="Text 15"/>
          <p:cNvSpPr/>
          <p:nvPr/>
        </p:nvSpPr>
        <p:spPr>
          <a:xfrm>
            <a:off x="4597400" y="4057650"/>
            <a:ext cx="3087116" cy="2540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B8401A"/>
                </a:solidFill>
                <a:effectLst/>
                <a:uLnTx/>
                <a:uFillTx/>
                <a:latin typeface="Space Grotesk" pitchFamily="34" charset="0"/>
                <a:ea typeface="Space Grotesk" pitchFamily="34" charset="-122"/>
                <a:cs typeface="Space Grotesk" pitchFamily="34" charset="-120"/>
              </a:rPr>
              <a:t>Who it serves</a:t>
            </a:r>
            <a:endParaRPr kumimoji="0" lang="en-US" sz="1500" b="0" i="0" u="none" strike="noStrike" kern="1200" cap="none" spc="0" normalizeH="0" baseline="0" noProof="0" dirty="0">
              <a:ln>
                <a:noFill/>
              </a:ln>
              <a:solidFill>
                <a:srgbClr val="15171E"/>
              </a:solidFill>
              <a:effectLst/>
              <a:uLnTx/>
              <a:uFillTx/>
              <a:latin typeface="Inter"/>
              <a:ea typeface="+mn-ea"/>
              <a:cs typeface="+mn-cs"/>
            </a:endParaRPr>
          </a:p>
        </p:txBody>
      </p:sp>
      <p:sp>
        <p:nvSpPr>
          <p:cNvPr id="18" name="Text 16"/>
          <p:cNvSpPr/>
          <p:nvPr/>
        </p:nvSpPr>
        <p:spPr>
          <a:xfrm>
            <a:off x="4702556" y="4362450"/>
            <a:ext cx="2974340" cy="665361"/>
          </a:xfrm>
          <a:prstGeom prst="rect">
            <a:avLst/>
          </a:prstGeom>
          <a:noFill/>
          <a:ln/>
        </p:spPr>
        <p:txBody>
          <a:bodyPr wrap="square" lIns="0" tIns="0" rIns="0" bIns="0" rtlCol="0" anchor="t">
            <a:normAutofit/>
          </a:bodyPr>
          <a:lstStyle/>
          <a:p>
            <a:pPr marL="148844" marR="0" lvl="0" indent="-148844" algn="l" defTabSz="914400" rtl="0" eaLnBrk="1" fontAlgn="auto" latinLnBrk="0" hangingPunct="1">
              <a:lnSpc>
                <a:spcPts val="1680"/>
              </a:lnSpc>
              <a:spcBef>
                <a:spcPts val="0"/>
              </a:spcBef>
              <a:spcAft>
                <a:spcPts val="0"/>
              </a:spcAft>
              <a:buClrTx/>
              <a:buSzPct val="100000"/>
              <a:buFontTx/>
              <a:buChar char="•"/>
              <a:tabLst/>
              <a:defRPr/>
            </a:pPr>
            <a:r>
              <a:rPr kumimoji="0" lang="en-US" sz="1200" b="0" i="0" u="none" strike="noStrike" kern="1200" cap="none" spc="0" normalizeH="0" baseline="0" noProof="0" dirty="0">
                <a:ln>
                  <a:noFill/>
                </a:ln>
                <a:solidFill>
                  <a:srgbClr val="15171E"/>
                </a:solidFill>
                <a:effectLst/>
                <a:uLnTx/>
                <a:uFillTx/>
                <a:latin typeface="Inter" pitchFamily="34" charset="0"/>
                <a:ea typeface="Inter" pitchFamily="34" charset="-122"/>
                <a:cs typeface="Inter" pitchFamily="34" charset="-120"/>
              </a:rPr>
              <a:t>Founders planning a launch</a:t>
            </a:r>
            <a:endParaRPr kumimoji="0" lang="en-US" sz="1200" b="0" i="0" u="none" strike="noStrike" kern="1200" cap="none" spc="0" normalizeH="0" baseline="0" noProof="0" dirty="0">
              <a:ln>
                <a:noFill/>
              </a:ln>
              <a:solidFill>
                <a:srgbClr val="15171E"/>
              </a:solidFill>
              <a:effectLst/>
              <a:uLnTx/>
              <a:uFillTx/>
              <a:latin typeface="Inter"/>
              <a:ea typeface="+mn-ea"/>
              <a:cs typeface="+mn-cs"/>
            </a:endParaRPr>
          </a:p>
          <a:p>
            <a:pPr marL="148844" marR="0" lvl="0" indent="-148844" algn="l" defTabSz="914400" rtl="0" eaLnBrk="1" fontAlgn="auto" latinLnBrk="0" hangingPunct="1">
              <a:lnSpc>
                <a:spcPts val="1680"/>
              </a:lnSpc>
              <a:spcBef>
                <a:spcPts val="0"/>
              </a:spcBef>
              <a:spcAft>
                <a:spcPts val="0"/>
              </a:spcAft>
              <a:buClrTx/>
              <a:buSzPct val="100000"/>
              <a:buFontTx/>
              <a:buChar char="•"/>
              <a:tabLst/>
              <a:defRPr/>
            </a:pPr>
            <a:r>
              <a:rPr lang="en-US" sz="1200" kern="1200" dirty="0">
                <a:solidFill>
                  <a:srgbClr val="15171E"/>
                </a:solidFill>
                <a:latin typeface="Inter" pitchFamily="34" charset="0"/>
                <a:ea typeface="Inter" pitchFamily="34" charset="-122"/>
                <a:cs typeface="Inter" pitchFamily="34" charset="-120"/>
              </a:rPr>
              <a:t>backers</a:t>
            </a:r>
            <a:r>
              <a:rPr kumimoji="0" lang="en-US" sz="1200" b="0" i="0" u="none" strike="noStrike" kern="1200" cap="none" spc="0" normalizeH="0" baseline="0" noProof="0" dirty="0">
                <a:ln>
                  <a:noFill/>
                </a:ln>
                <a:solidFill>
                  <a:srgbClr val="15171E"/>
                </a:solidFill>
                <a:effectLst/>
                <a:uLnTx/>
                <a:uFillTx/>
                <a:latin typeface="Inter" pitchFamily="34" charset="0"/>
                <a:ea typeface="Inter" pitchFamily="34" charset="-122"/>
                <a:cs typeface="Inter" pitchFamily="34" charset="-120"/>
              </a:rPr>
              <a:t>, buyers and platforms screening ideas</a:t>
            </a:r>
            <a:endParaRPr kumimoji="0" lang="en-US" sz="1200" b="0" i="0" u="none" strike="noStrike" kern="1200" cap="none" spc="0" normalizeH="0" baseline="0" noProof="0" dirty="0">
              <a:ln>
                <a:noFill/>
              </a:ln>
              <a:solidFill>
                <a:srgbClr val="15171E"/>
              </a:solidFill>
              <a:effectLst/>
              <a:uLnTx/>
              <a:uFillTx/>
              <a:latin typeface="Inter"/>
              <a:ea typeface="+mn-ea"/>
              <a:cs typeface="+mn-cs"/>
            </a:endParaRPr>
          </a:p>
        </p:txBody>
      </p:sp>
      <p:sp>
        <p:nvSpPr>
          <p:cNvPr id="19" name="Shape 17"/>
          <p:cNvSpPr/>
          <p:nvPr/>
        </p:nvSpPr>
        <p:spPr>
          <a:xfrm>
            <a:off x="7966075" y="3851275"/>
            <a:ext cx="3409950" cy="1987550"/>
          </a:xfrm>
          <a:prstGeom prst="roundRect">
            <a:avLst>
              <a:gd name="adj" fmla="val 4952"/>
            </a:avLst>
          </a:prstGeom>
          <a:solidFill>
            <a:srgbClr val="FFFDF8"/>
          </a:solidFill>
          <a:ln w="6350">
            <a:solidFill>
              <a:srgbClr val="E2DED3"/>
            </a:solidFill>
            <a:prstDash val="solid"/>
          </a:ln>
        </p:spPr>
      </p:sp>
      <p:sp>
        <p:nvSpPr>
          <p:cNvPr id="20" name="Text 18"/>
          <p:cNvSpPr/>
          <p:nvPr/>
        </p:nvSpPr>
        <p:spPr>
          <a:xfrm>
            <a:off x="8172450" y="4057650"/>
            <a:ext cx="3087116" cy="2540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B8401A"/>
                </a:solidFill>
                <a:effectLst/>
                <a:uLnTx/>
                <a:uFillTx/>
                <a:latin typeface="Space Grotesk" pitchFamily="34" charset="0"/>
                <a:ea typeface="Space Grotesk" pitchFamily="34" charset="-122"/>
                <a:cs typeface="Space Grotesk" pitchFamily="34" charset="-120"/>
              </a:rPr>
              <a:t>Value proposition</a:t>
            </a:r>
            <a:endParaRPr kumimoji="0" lang="en-US" sz="1500" b="0" i="0" u="none" strike="noStrike" kern="1200" cap="none" spc="0" normalizeH="0" baseline="0" noProof="0" dirty="0">
              <a:ln>
                <a:noFill/>
              </a:ln>
              <a:solidFill>
                <a:srgbClr val="15171E"/>
              </a:solidFill>
              <a:effectLst/>
              <a:uLnTx/>
              <a:uFillTx/>
              <a:latin typeface="Inter"/>
              <a:ea typeface="+mn-ea"/>
              <a:cs typeface="+mn-cs"/>
            </a:endParaRPr>
          </a:p>
        </p:txBody>
      </p:sp>
      <p:sp>
        <p:nvSpPr>
          <p:cNvPr id="21" name="Text 19"/>
          <p:cNvSpPr/>
          <p:nvPr/>
        </p:nvSpPr>
        <p:spPr>
          <a:xfrm>
            <a:off x="8271256" y="4361592"/>
            <a:ext cx="2974340" cy="1092002"/>
          </a:xfrm>
          <a:prstGeom prst="rect">
            <a:avLst/>
          </a:prstGeom>
          <a:noFill/>
          <a:ln/>
        </p:spPr>
        <p:txBody>
          <a:bodyPr wrap="square" lIns="0" tIns="0" rIns="0" bIns="0" rtlCol="0" anchor="t">
            <a:noAutofit/>
          </a:bodyPr>
          <a:lstStyle/>
          <a:p>
            <a:pPr marL="148844" marR="0" lvl="0" indent="-148844" algn="l" defTabSz="914400" rtl="0" eaLnBrk="1" fontAlgn="auto" latinLnBrk="0" hangingPunct="1">
              <a:lnSpc>
                <a:spcPts val="1680"/>
              </a:lnSpc>
              <a:spcBef>
                <a:spcPts val="0"/>
              </a:spcBef>
              <a:spcAft>
                <a:spcPts val="0"/>
              </a:spcAft>
              <a:buClrTx/>
              <a:buSzPct val="100000"/>
              <a:buFontTx/>
              <a:buChar char="•"/>
              <a:tabLst/>
              <a:defRPr/>
            </a:pPr>
            <a:r>
              <a:rPr kumimoji="0" lang="en-US" sz="1200" b="0" i="0" u="none" strike="noStrike" kern="1200" cap="none" spc="0" normalizeH="0" baseline="0" noProof="0" dirty="0">
                <a:ln>
                  <a:noFill/>
                </a:ln>
                <a:solidFill>
                  <a:srgbClr val="15171E"/>
                </a:solidFill>
                <a:effectLst/>
                <a:uLnTx/>
                <a:uFillTx/>
                <a:latin typeface="Inter" pitchFamily="34" charset="0"/>
                <a:ea typeface="Inter" pitchFamily="34" charset="-122"/>
                <a:cs typeface="Inter" pitchFamily="34" charset="-120"/>
              </a:rPr>
              <a:t>A pre-launch risk check</a:t>
            </a:r>
            <a:endParaRPr kumimoji="0" lang="en-US" sz="1200" b="0" i="0" u="none" strike="noStrike" kern="1200" cap="none" spc="0" normalizeH="0" baseline="0" noProof="0" dirty="0">
              <a:ln>
                <a:noFill/>
              </a:ln>
              <a:solidFill>
                <a:srgbClr val="15171E"/>
              </a:solidFill>
              <a:effectLst/>
              <a:uLnTx/>
              <a:uFillTx/>
              <a:latin typeface="Inter"/>
              <a:ea typeface="+mn-ea"/>
              <a:cs typeface="+mn-cs"/>
            </a:endParaRPr>
          </a:p>
          <a:p>
            <a:pPr marL="148844" marR="0" lvl="0" indent="-148844" algn="l" defTabSz="914400" rtl="0" eaLnBrk="1" fontAlgn="auto" latinLnBrk="0" hangingPunct="1">
              <a:lnSpc>
                <a:spcPts val="1680"/>
              </a:lnSpc>
              <a:spcBef>
                <a:spcPts val="0"/>
              </a:spcBef>
              <a:spcAft>
                <a:spcPts val="0"/>
              </a:spcAft>
              <a:buClrTx/>
              <a:buSzPct val="100000"/>
              <a:buFontTx/>
              <a:buChar char="•"/>
              <a:tabLst/>
              <a:defRPr/>
            </a:pPr>
            <a:r>
              <a:rPr kumimoji="0" lang="en-US" sz="1200" b="1" i="0" u="none" strike="noStrike" kern="1200" cap="none" spc="0" normalizeH="0" baseline="0" noProof="0" dirty="0">
                <a:ln>
                  <a:noFill/>
                </a:ln>
                <a:solidFill>
                  <a:srgbClr val="15171E"/>
                </a:solidFill>
                <a:effectLst/>
                <a:uLnTx/>
                <a:uFillTx/>
                <a:latin typeface="Inter" pitchFamily="34" charset="0"/>
                <a:ea typeface="Inter" pitchFamily="34" charset="-122"/>
                <a:cs typeface="Inter" pitchFamily="34" charset="-120"/>
              </a:rPr>
              <a:t>Funders</a:t>
            </a:r>
            <a:r>
              <a:rPr kumimoji="0" lang="en-US" sz="1200" b="0" i="0" u="none" strike="noStrike" kern="1200" cap="none" spc="0" normalizeH="0" baseline="0" noProof="0" dirty="0">
                <a:ln>
                  <a:noFill/>
                </a:ln>
                <a:solidFill>
                  <a:srgbClr val="15171E"/>
                </a:solidFill>
                <a:effectLst/>
                <a:uLnTx/>
                <a:uFillTx/>
                <a:latin typeface="Inter" pitchFamily="34" charset="0"/>
                <a:ea typeface="Inter" pitchFamily="34" charset="-122"/>
                <a:cs typeface="Inter" pitchFamily="34" charset="-120"/>
              </a:rPr>
              <a:t>: Flags weak setups while they can still change</a:t>
            </a:r>
            <a:endParaRPr kumimoji="0" lang="en-US" sz="1200" b="0" i="0" u="none" strike="noStrike" kern="1200" cap="none" spc="0" normalizeH="0" baseline="0" noProof="0" dirty="0">
              <a:ln>
                <a:noFill/>
              </a:ln>
              <a:solidFill>
                <a:srgbClr val="15171E"/>
              </a:solidFill>
              <a:effectLst/>
              <a:uLnTx/>
              <a:uFillTx/>
              <a:latin typeface="Inter"/>
              <a:ea typeface="+mn-ea"/>
              <a:cs typeface="+mn-cs"/>
            </a:endParaRPr>
          </a:p>
          <a:p>
            <a:pPr marL="148844" marR="0" lvl="0" indent="-148844" algn="l" defTabSz="914400" rtl="0" eaLnBrk="1" fontAlgn="auto" latinLnBrk="0" hangingPunct="1">
              <a:lnSpc>
                <a:spcPts val="1680"/>
              </a:lnSpc>
              <a:spcBef>
                <a:spcPts val="0"/>
              </a:spcBef>
              <a:spcAft>
                <a:spcPts val="0"/>
              </a:spcAft>
              <a:buClrTx/>
              <a:buSzPct val="100000"/>
              <a:buFontTx/>
              <a:buChar char="•"/>
              <a:tabLst/>
              <a:defRPr/>
            </a:pPr>
            <a:r>
              <a:rPr lang="en-US" sz="1200" b="1" kern="1200" dirty="0">
                <a:solidFill>
                  <a:srgbClr val="15171E"/>
                </a:solidFill>
                <a:latin typeface="Inter" pitchFamily="34" charset="0"/>
                <a:ea typeface="Inter" pitchFamily="34" charset="-122"/>
                <a:cs typeface="Inter" pitchFamily="34" charset="-120"/>
              </a:rPr>
              <a:t>Backers</a:t>
            </a:r>
            <a:r>
              <a:rPr kumimoji="0" lang="en-US" sz="1200" b="0" i="0" u="none" strike="noStrike" kern="1200" cap="none" spc="0" normalizeH="0" baseline="0" noProof="0" dirty="0">
                <a:ln>
                  <a:noFill/>
                </a:ln>
                <a:solidFill>
                  <a:srgbClr val="15171E"/>
                </a:solidFill>
                <a:effectLst/>
                <a:uLnTx/>
                <a:uFillTx/>
                <a:latin typeface="Inter" pitchFamily="34" charset="0"/>
                <a:ea typeface="Inter" pitchFamily="34" charset="-122"/>
                <a:cs typeface="Inter" pitchFamily="34" charset="-120"/>
              </a:rPr>
              <a:t>: rank projects fast before diligence</a:t>
            </a:r>
          </a:p>
          <a:p>
            <a:pPr marL="148844" marR="0" lvl="0" indent="-148844" algn="l" defTabSz="914400" rtl="0" eaLnBrk="1" fontAlgn="auto" latinLnBrk="0" hangingPunct="1">
              <a:lnSpc>
                <a:spcPts val="1680"/>
              </a:lnSpc>
              <a:spcBef>
                <a:spcPts val="0"/>
              </a:spcBef>
              <a:spcAft>
                <a:spcPts val="0"/>
              </a:spcAft>
              <a:buClrTx/>
              <a:buSzPct val="100000"/>
              <a:buFontTx/>
              <a:buChar char="•"/>
              <a:tabLst/>
              <a:defRPr/>
            </a:pPr>
            <a:r>
              <a:rPr kumimoji="0" lang="en-US" sz="1200" b="1" i="0" u="none" strike="noStrike" kern="1200" cap="none" spc="0" normalizeH="0" baseline="0" noProof="0" dirty="0">
                <a:ln>
                  <a:noFill/>
                </a:ln>
                <a:solidFill>
                  <a:srgbClr val="15171E"/>
                </a:solidFill>
                <a:effectLst/>
                <a:uLnTx/>
                <a:uFillTx/>
                <a:latin typeface="Inter" pitchFamily="34" charset="0"/>
                <a:ea typeface="+mn-ea"/>
                <a:cs typeface="+mn-cs"/>
              </a:rPr>
              <a:t>Funding platforms</a:t>
            </a:r>
            <a:r>
              <a:rPr kumimoji="0" lang="en-US" sz="1200" b="0" i="0" u="none" strike="noStrike" kern="1200" cap="none" spc="0" normalizeH="0" baseline="0" noProof="0" dirty="0">
                <a:ln>
                  <a:noFill/>
                </a:ln>
                <a:solidFill>
                  <a:srgbClr val="15171E"/>
                </a:solidFill>
                <a:effectLst/>
                <a:uLnTx/>
                <a:uFillTx/>
                <a:latin typeface="Inter" pitchFamily="34" charset="0"/>
                <a:ea typeface="+mn-ea"/>
                <a:cs typeface="+mn-cs"/>
              </a:rPr>
              <a:t>: Use it as add-on</a:t>
            </a:r>
            <a:endParaRPr kumimoji="0" lang="en-US" sz="1200" b="0" i="0" u="none" strike="noStrike" kern="1200" cap="none" spc="0" normalizeH="0" baseline="0" noProof="0" dirty="0">
              <a:ln>
                <a:noFill/>
              </a:ln>
              <a:solidFill>
                <a:srgbClr val="15171E"/>
              </a:solidFill>
              <a:effectLst/>
              <a:uLnTx/>
              <a:uFillTx/>
              <a:latin typeface="Inter"/>
              <a:ea typeface="+mn-ea"/>
              <a:cs typeface="+mn-cs"/>
            </a:endParaRPr>
          </a:p>
        </p:txBody>
      </p:sp>
      <p:sp>
        <p:nvSpPr>
          <p:cNvPr id="22" name="Text 20"/>
          <p:cNvSpPr/>
          <p:nvPr/>
        </p:nvSpPr>
        <p:spPr>
          <a:xfrm>
            <a:off x="812800" y="6238280"/>
            <a:ext cx="7848600"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B6E76"/>
                </a:solidFill>
                <a:effectLst/>
                <a:uLnTx/>
                <a:uFillTx/>
                <a:latin typeface="Inter" pitchFamily="34" charset="0"/>
                <a:ea typeface="Inter" pitchFamily="34" charset="-122"/>
                <a:cs typeface="Inter" pitchFamily="34" charset="-120"/>
              </a:rPr>
              <a:t>Outliers · Will your Kickstarter get funded?</a:t>
            </a:r>
            <a:endParaRPr kumimoji="0" lang="en-US" sz="1200" b="0" i="0" u="none" strike="noStrike" kern="1200" cap="none" spc="0" normalizeH="0" baseline="0" noProof="0" dirty="0">
              <a:ln>
                <a:noFill/>
              </a:ln>
              <a:solidFill>
                <a:srgbClr val="15171E"/>
              </a:solidFill>
              <a:effectLst/>
              <a:uLnTx/>
              <a:uFillTx/>
              <a:latin typeface="Inter"/>
              <a:ea typeface="+mn-ea"/>
              <a:cs typeface="+mn-cs"/>
            </a:endParaRPr>
          </a:p>
        </p:txBody>
      </p:sp>
      <p:sp>
        <p:nvSpPr>
          <p:cNvPr id="23" name="Text 21"/>
          <p:cNvSpPr/>
          <p:nvPr/>
        </p:nvSpPr>
        <p:spPr>
          <a:xfrm>
            <a:off x="10058400" y="6238280"/>
            <a:ext cx="1320800" cy="238720"/>
          </a:xfrm>
          <a:prstGeom prst="rect">
            <a:avLst/>
          </a:prstGeom>
          <a:noFill/>
          <a:ln/>
        </p:spPr>
        <p:txBody>
          <a:bodyPr wrap="square" lIns="0" tIns="0" rIns="0" bIns="0" rtlCol="0" anchor="t">
            <a:normAutofit/>
          </a:bodyPr>
          <a:lstStyle/>
          <a:p>
            <a:pPr marL="0" marR="0" lvl="0" indent="0" algn="r"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B6E76"/>
                </a:solidFill>
                <a:effectLst/>
                <a:uLnTx/>
                <a:uFillTx/>
                <a:latin typeface="Inter" pitchFamily="34" charset="0"/>
                <a:ea typeface="Inter" pitchFamily="34" charset="-122"/>
                <a:cs typeface="Inter" pitchFamily="34" charset="-120"/>
              </a:rPr>
              <a:t>2 / 12</a:t>
            </a:r>
            <a:endParaRPr kumimoji="0" lang="en-US" sz="1200" b="0" i="0" u="none" strike="noStrike" kern="1200" cap="none" spc="0" normalizeH="0" baseline="0" noProof="0" dirty="0">
              <a:ln>
                <a:noFill/>
              </a:ln>
              <a:solidFill>
                <a:srgbClr val="15171E"/>
              </a:solidFill>
              <a:effectLst/>
              <a:uLnTx/>
              <a:uFillTx/>
              <a:latin typeface="Inter"/>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1" grpId="0" animBg="1"/>
      <p:bldP spid="12" grpId="0" animBg="1"/>
      <p:bldP spid="14" grpId="0" animBg="1"/>
      <p:bldP spid="15" grpId="0" animBg="1"/>
      <p:bldP spid="17" grpId="0" animBg="1"/>
      <p:bldP spid="18" grpId="0" animBg="1"/>
      <p:bldP spid="20" grpId="0" animBg="1"/>
      <p:bldP spid="2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1097280"/>
            <a:ext cx="10545775" cy="548640"/>
          </a:xfrm>
        </p:spPr>
        <p:txBody>
          <a:bodyPr lIns="0" tIns="0" rIns="0" bIns="0" anchor="t"/>
          <a:lstStyle/>
          <a:p>
            <a:pPr algn="l"/>
            <a:r>
              <a:rPr sz="3200" b="1">
                <a:solidFill>
                  <a:srgbClr val="15171E"/>
                </a:solidFill>
                <a:latin typeface="Space Grotesk"/>
              </a:rPr>
              <a:t>From raw file to model-ready data</a:t>
            </a:r>
          </a:p>
        </p:txBody>
      </p:sp>
      <p:sp>
        <p:nvSpPr>
          <p:cNvPr id="3" name="Eyebrow"/>
          <p:cNvSpPr txBox="1"/>
          <p:nvPr/>
        </p:nvSpPr>
        <p:spPr>
          <a:xfrm>
            <a:off x="822960" y="822960"/>
            <a:ext cx="10545775" cy="274320"/>
          </a:xfrm>
          <a:prstGeom prst="rect">
            <a:avLst/>
          </a:prstGeom>
          <a:noFill/>
        </p:spPr>
        <p:txBody>
          <a:bodyPr wrap="square" lIns="0" tIns="0" rIns="0" bIns="0" anchor="t">
            <a:spAutoFit/>
          </a:bodyPr>
          <a:lstStyle/>
          <a:p>
            <a:pPr algn="l">
              <a:spcAft>
                <a:spcPts val="0"/>
              </a:spcAft>
            </a:pPr>
            <a:r>
              <a:rPr sz="1200" b="1">
                <a:solidFill>
                  <a:srgbClr val="B8401A"/>
                </a:solidFill>
                <a:latin typeface="Inter"/>
              </a:rPr>
              <a:t>02 · DATA FOUNDATION</a:t>
            </a:r>
          </a:p>
        </p:txBody>
      </p:sp>
      <p:sp>
        <p:nvSpPr>
          <p:cNvPr id="4" name="Footer"/>
          <p:cNvSpPr txBox="1"/>
          <p:nvPr/>
        </p:nvSpPr>
        <p:spPr>
          <a:xfrm>
            <a:off x="822960" y="6217920"/>
            <a:ext cx="7863840" cy="274320"/>
          </a:xfrm>
          <a:prstGeom prst="rect">
            <a:avLst/>
          </a:prstGeom>
          <a:noFill/>
        </p:spPr>
        <p:txBody>
          <a:bodyPr wrap="square" lIns="0" tIns="0" rIns="0" bIns="0" anchor="t">
            <a:spAutoFit/>
          </a:bodyPr>
          <a:lstStyle/>
          <a:p>
            <a:pPr algn="l">
              <a:spcAft>
                <a:spcPts val="0"/>
              </a:spcAft>
            </a:pPr>
            <a:r>
              <a:rPr sz="1200" b="0">
                <a:solidFill>
                  <a:srgbClr val="6B6E76"/>
                </a:solidFill>
                <a:latin typeface="Inter"/>
              </a:rPr>
              <a:t>Outliers · Will your Kickstarter get funded?</a:t>
            </a:r>
          </a:p>
        </p:txBody>
      </p:sp>
      <p:sp>
        <p:nvSpPr>
          <p:cNvPr id="5" name="Before box"/>
          <p:cNvSpPr/>
          <p:nvPr/>
        </p:nvSpPr>
        <p:spPr>
          <a:xfrm>
            <a:off x="822960" y="1783080"/>
            <a:ext cx="5044287" cy="2834640"/>
          </a:xfrm>
          <a:prstGeom prst="roundRect">
            <a:avLst>
              <a:gd name="adj" fmla="val 4000"/>
            </a:avLst>
          </a:prstGeom>
          <a:solidFill>
            <a:srgbClr val="FFFDF8"/>
          </a:solidFill>
          <a:ln w="9525">
            <a:solidFill>
              <a:srgbClr val="E3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Before heading"/>
          <p:cNvSpPr txBox="1"/>
          <p:nvPr/>
        </p:nvSpPr>
        <p:spPr>
          <a:xfrm>
            <a:off x="1051560" y="1965960"/>
            <a:ext cx="4587087" cy="320040"/>
          </a:xfrm>
          <a:prstGeom prst="rect">
            <a:avLst/>
          </a:prstGeom>
          <a:noFill/>
        </p:spPr>
        <p:txBody>
          <a:bodyPr wrap="square" lIns="0" tIns="0" rIns="0" bIns="0" anchor="t">
            <a:spAutoFit/>
          </a:bodyPr>
          <a:lstStyle/>
          <a:p>
            <a:pPr algn="l">
              <a:spcAft>
                <a:spcPts val="0"/>
              </a:spcAft>
            </a:pPr>
            <a:r>
              <a:rPr sz="1600" b="1">
                <a:solidFill>
                  <a:srgbClr val="15171E"/>
                </a:solidFill>
                <a:latin typeface="Space Grotesk"/>
              </a:rPr>
              <a:t>Before: the raw file</a:t>
            </a:r>
          </a:p>
        </p:txBody>
      </p:sp>
      <p:sp>
        <p:nvSpPr>
          <p:cNvPr id="7" name="Before file"/>
          <p:cNvSpPr txBox="1"/>
          <p:nvPr/>
        </p:nvSpPr>
        <p:spPr>
          <a:xfrm>
            <a:off x="1051560" y="2286000"/>
            <a:ext cx="4587087" cy="228600"/>
          </a:xfrm>
          <a:prstGeom prst="rect">
            <a:avLst/>
          </a:prstGeom>
          <a:noFill/>
        </p:spPr>
        <p:txBody>
          <a:bodyPr wrap="square" lIns="0" tIns="0" rIns="0" bIns="0" anchor="t">
            <a:spAutoFit/>
          </a:bodyPr>
          <a:lstStyle/>
          <a:p>
            <a:pPr algn="l">
              <a:spcAft>
                <a:spcPts val="0"/>
              </a:spcAft>
            </a:pPr>
            <a:r>
              <a:rPr sz="1100" b="0">
                <a:solidFill>
                  <a:srgbClr val="6B6E76"/>
                </a:solidFill>
                <a:latin typeface="Inter"/>
              </a:rPr>
              <a:t>ks-projects-201801.csv (2009–2018)</a:t>
            </a:r>
          </a:p>
        </p:txBody>
      </p:sp>
      <p:sp>
        <p:nvSpPr>
          <p:cNvPr id="8" name="Before facts"/>
          <p:cNvSpPr txBox="1"/>
          <p:nvPr/>
        </p:nvSpPr>
        <p:spPr>
          <a:xfrm>
            <a:off x="1051560" y="2651760"/>
            <a:ext cx="4587087" cy="1828800"/>
          </a:xfrm>
          <a:prstGeom prst="rect">
            <a:avLst/>
          </a:prstGeom>
          <a:noFill/>
        </p:spPr>
        <p:txBody>
          <a:bodyPr wrap="square" lIns="0" tIns="0" rIns="0" bIns="0" anchor="t">
            <a:spAutoFit/>
          </a:bodyPr>
          <a:lstStyle/>
          <a:p>
            <a:pPr marL="182880" indent="-182880" algn="l">
              <a:spcAft>
                <a:spcPts val="500"/>
              </a:spcAft>
              <a:buChar char="•"/>
            </a:pPr>
            <a:r>
              <a:rPr sz="1200" b="1">
                <a:solidFill>
                  <a:srgbClr val="15171E"/>
                </a:solidFill>
                <a:latin typeface="Inter"/>
              </a:rPr>
              <a:t>378,661 projects</a:t>
            </a:r>
            <a:r>
              <a:rPr sz="1200" b="0">
                <a:solidFill>
                  <a:srgbClr val="15171E"/>
                </a:solidFill>
                <a:latin typeface="Inter"/>
              </a:rPr>
              <a:t> × 15 columns</a:t>
            </a:r>
          </a:p>
          <a:p>
            <a:pPr marL="182880" indent="-182880" algn="l">
              <a:spcAft>
                <a:spcPts val="500"/>
              </a:spcAft>
              <a:buChar char="•"/>
            </a:pPr>
            <a:r>
              <a:rPr sz="1200" b="1">
                <a:solidFill>
                  <a:srgbClr val="15171E"/>
                </a:solidFill>
                <a:latin typeface="Inter"/>
              </a:rPr>
              <a:t>6 outcome states: </a:t>
            </a:r>
            <a:r>
              <a:rPr sz="1200" b="0">
                <a:solidFill>
                  <a:srgbClr val="15171E"/>
                </a:solidFill>
                <a:latin typeface="Inter"/>
              </a:rPr>
              <a:t>failed 52%, successful 35%, canceled 10%, live / undefined / suspended 2%</a:t>
            </a:r>
          </a:p>
          <a:p>
            <a:pPr marL="182880" indent="-182880" algn="l">
              <a:spcAft>
                <a:spcPts val="500"/>
              </a:spcAft>
              <a:buChar char="•"/>
            </a:pPr>
            <a:r>
              <a:rPr sz="1200" b="1">
                <a:solidFill>
                  <a:srgbClr val="15171E"/>
                </a:solidFill>
                <a:latin typeface="Inter"/>
              </a:rPr>
              <a:t>Pledged $ and backers: </a:t>
            </a:r>
            <a:r>
              <a:rPr sz="1200" b="0">
                <a:solidFill>
                  <a:srgbClr val="15171E"/>
                </a:solidFill>
                <a:latin typeface="Inter"/>
              </a:rPr>
              <a:t>known only after the campaign</a:t>
            </a:r>
          </a:p>
          <a:p>
            <a:pPr marL="182880" indent="-182880" algn="l">
              <a:spcAft>
                <a:spcPts val="500"/>
              </a:spcAft>
              <a:buChar char="•"/>
            </a:pPr>
            <a:r>
              <a:rPr sz="1200" b="1">
                <a:solidFill>
                  <a:srgbClr val="15171E"/>
                </a:solidFill>
                <a:latin typeface="Inter"/>
              </a:rPr>
              <a:t>Goal in 14 currencies, </a:t>
            </a:r>
            <a:r>
              <a:rPr sz="1200" b="0">
                <a:solidFill>
                  <a:srgbClr val="15171E"/>
                </a:solidFill>
                <a:latin typeface="Inter"/>
              </a:rPr>
              <a:t>$0.01 to $166M, heavily skewed</a:t>
            </a:r>
          </a:p>
          <a:p>
            <a:pPr marL="182880" indent="-182880" algn="l">
              <a:spcAft>
                <a:spcPts val="500"/>
              </a:spcAft>
              <a:buChar char="•"/>
            </a:pPr>
            <a:r>
              <a:rPr sz="1200" b="1">
                <a:solidFill>
                  <a:srgbClr val="15171E"/>
                </a:solidFill>
                <a:latin typeface="Inter"/>
              </a:rPr>
              <a:t>Messy rows: </a:t>
            </a:r>
            <a:r>
              <a:rPr sz="1200" b="0">
                <a:solidFill>
                  <a:srgbClr val="15171E"/>
                </a:solidFill>
                <a:latin typeface="Inter"/>
              </a:rPr>
              <a:t>missing names, broken country codes, 1970 dates, re-posts, jokes</a:t>
            </a:r>
          </a:p>
        </p:txBody>
      </p:sp>
      <p:sp>
        <p:nvSpPr>
          <p:cNvPr id="9" name="After box"/>
          <p:cNvSpPr/>
          <p:nvPr/>
        </p:nvSpPr>
        <p:spPr>
          <a:xfrm>
            <a:off x="6324447" y="1783080"/>
            <a:ext cx="5044287" cy="2834640"/>
          </a:xfrm>
          <a:prstGeom prst="roundRect">
            <a:avLst>
              <a:gd name="adj" fmla="val 4000"/>
            </a:avLst>
          </a:prstGeom>
          <a:solidFill>
            <a:srgbClr val="151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After heading"/>
          <p:cNvSpPr txBox="1"/>
          <p:nvPr/>
        </p:nvSpPr>
        <p:spPr>
          <a:xfrm>
            <a:off x="6553047" y="1965960"/>
            <a:ext cx="4587087" cy="320040"/>
          </a:xfrm>
          <a:prstGeom prst="rect">
            <a:avLst/>
          </a:prstGeom>
          <a:noFill/>
        </p:spPr>
        <p:txBody>
          <a:bodyPr wrap="square" lIns="0" tIns="0" rIns="0" bIns="0" anchor="t">
            <a:spAutoFit/>
          </a:bodyPr>
          <a:lstStyle/>
          <a:p>
            <a:pPr algn="l">
              <a:spcAft>
                <a:spcPts val="0"/>
              </a:spcAft>
            </a:pPr>
            <a:r>
              <a:rPr sz="1600" b="1">
                <a:solidFill>
                  <a:srgbClr val="FFFFFF"/>
                </a:solidFill>
                <a:latin typeface="Space Grotesk"/>
              </a:rPr>
              <a:t>After: model-ready</a:t>
            </a:r>
          </a:p>
        </p:txBody>
      </p:sp>
      <p:sp>
        <p:nvSpPr>
          <p:cNvPr id="11" name="After file"/>
          <p:cNvSpPr txBox="1"/>
          <p:nvPr/>
        </p:nvSpPr>
        <p:spPr>
          <a:xfrm>
            <a:off x="6553047" y="2286000"/>
            <a:ext cx="4587087" cy="228600"/>
          </a:xfrm>
          <a:prstGeom prst="rect">
            <a:avLst/>
          </a:prstGeom>
          <a:noFill/>
        </p:spPr>
        <p:txBody>
          <a:bodyPr wrap="square" lIns="0" tIns="0" rIns="0" bIns="0" anchor="t">
            <a:spAutoFit/>
          </a:bodyPr>
          <a:lstStyle/>
          <a:p>
            <a:pPr algn="l">
              <a:spcAft>
                <a:spcPts val="0"/>
              </a:spcAft>
            </a:pPr>
            <a:r>
              <a:rPr sz="1100" b="0">
                <a:solidFill>
                  <a:srgbClr val="D6D8DD"/>
                </a:solidFill>
                <a:latin typeface="Inter"/>
              </a:rPr>
              <a:t>kickstarter_final.csv</a:t>
            </a:r>
          </a:p>
        </p:txBody>
      </p:sp>
      <p:sp>
        <p:nvSpPr>
          <p:cNvPr id="12" name="After facts"/>
          <p:cNvSpPr txBox="1"/>
          <p:nvPr/>
        </p:nvSpPr>
        <p:spPr>
          <a:xfrm>
            <a:off x="6553047" y="2651760"/>
            <a:ext cx="4587087" cy="1828800"/>
          </a:xfrm>
          <a:prstGeom prst="rect">
            <a:avLst/>
          </a:prstGeom>
          <a:noFill/>
        </p:spPr>
        <p:txBody>
          <a:bodyPr wrap="square" lIns="0" tIns="0" rIns="0" bIns="0" anchor="t">
            <a:spAutoFit/>
          </a:bodyPr>
          <a:lstStyle/>
          <a:p>
            <a:pPr marL="182880" indent="-182880" algn="l">
              <a:spcAft>
                <a:spcPts val="500"/>
              </a:spcAft>
              <a:buChar char="•"/>
            </a:pPr>
            <a:r>
              <a:rPr sz="1200" b="1">
                <a:solidFill>
                  <a:srgbClr val="FF7A4D"/>
                </a:solidFill>
                <a:latin typeface="Inter"/>
              </a:rPr>
              <a:t>366,690 projects</a:t>
            </a:r>
            <a:r>
              <a:rPr sz="1200" b="0">
                <a:solidFill>
                  <a:srgbClr val="FFFFFF"/>
                </a:solidFill>
                <a:latin typeface="Inter"/>
              </a:rPr>
              <a:t> (96.8% kept) × 14 columns</a:t>
            </a:r>
          </a:p>
          <a:p>
            <a:pPr marL="182880" indent="-182880" algn="l">
              <a:spcAft>
                <a:spcPts val="500"/>
              </a:spcAft>
              <a:buChar char="•"/>
            </a:pPr>
            <a:r>
              <a:rPr sz="1200" b="1">
                <a:solidFill>
                  <a:srgbClr val="FFFFFF"/>
                </a:solidFill>
                <a:latin typeface="Inter"/>
              </a:rPr>
              <a:t>One yes/no target: </a:t>
            </a:r>
            <a:r>
              <a:rPr sz="1200" b="0">
                <a:solidFill>
                  <a:srgbClr val="FFFFFF"/>
                </a:solidFill>
                <a:latin typeface="Inter"/>
              </a:rPr>
              <a:t>1 = funded, 0 = not funded</a:t>
            </a:r>
          </a:p>
          <a:p>
            <a:pPr marL="182880" indent="-182880" algn="l">
              <a:spcAft>
                <a:spcPts val="500"/>
              </a:spcAft>
              <a:buChar char="•"/>
            </a:pPr>
            <a:r>
              <a:rPr sz="1200" b="1">
                <a:solidFill>
                  <a:srgbClr val="FFFFFF"/>
                </a:solidFill>
                <a:latin typeface="Inter"/>
              </a:rPr>
              <a:t>11 features known at launch: </a:t>
            </a:r>
            <a:r>
              <a:rPr sz="1200" b="0">
                <a:solidFill>
                  <a:srgbClr val="FFFFFF"/>
                </a:solidFill>
                <a:latin typeface="Inter"/>
              </a:rPr>
              <a:t>5 numeric, 6 categorical</a:t>
            </a:r>
          </a:p>
          <a:p>
            <a:pPr marL="182880" indent="-182880" algn="l">
              <a:spcAft>
                <a:spcPts val="500"/>
              </a:spcAft>
              <a:buChar char="•"/>
            </a:pPr>
            <a:r>
              <a:rPr sz="1200" b="1">
                <a:solidFill>
                  <a:srgbClr val="FFFFFF"/>
                </a:solidFill>
                <a:latin typeface="Inter"/>
              </a:rPr>
              <a:t>New: </a:t>
            </a:r>
            <a:r>
              <a:rPr sz="1200" b="0">
                <a:solidFill>
                  <a:srgbClr val="FFFFFF"/>
                </a:solidFill>
                <a:latin typeface="Inter"/>
              </a:rPr>
              <a:t>campaign duration and goal vs category</a:t>
            </a:r>
          </a:p>
          <a:p>
            <a:pPr marL="182880" indent="-182880" algn="l">
              <a:spcAft>
                <a:spcPts val="500"/>
              </a:spcAft>
              <a:buChar char="•"/>
            </a:pPr>
            <a:r>
              <a:rPr sz="1200" b="1">
                <a:solidFill>
                  <a:srgbClr val="FFFFFF"/>
                </a:solidFill>
                <a:latin typeface="Inter"/>
              </a:rPr>
              <a:t>Goal in USD on a log scale; </a:t>
            </a:r>
            <a:r>
              <a:rPr sz="1200" b="0">
                <a:solidFill>
                  <a:srgbClr val="FFFFFF"/>
                </a:solidFill>
                <a:latin typeface="Inter"/>
              </a:rPr>
              <a:t>outliers kept, no missing values</a:t>
            </a:r>
          </a:p>
        </p:txBody>
      </p:sp>
      <p:sp>
        <p:nvSpPr>
          <p:cNvPr id="13" name="Before to after arrow"/>
          <p:cNvSpPr/>
          <p:nvPr/>
        </p:nvSpPr>
        <p:spPr>
          <a:xfrm>
            <a:off x="5940399" y="3044952"/>
            <a:ext cx="310896" cy="310896"/>
          </a:xfrm>
          <a:prstGeom prst="rightArrow">
            <a:avLst/>
          </a:prstGeom>
          <a:solidFill>
            <a:srgbClr val="FF7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Imbalance box"/>
          <p:cNvSpPr/>
          <p:nvPr/>
        </p:nvSpPr>
        <p:spPr>
          <a:xfrm>
            <a:off x="822960" y="4846320"/>
            <a:ext cx="10545775" cy="1143000"/>
          </a:xfrm>
          <a:prstGeom prst="roundRect">
            <a:avLst>
              <a:gd name="adj" fmla="val 4000"/>
            </a:avLst>
          </a:prstGeom>
          <a:solidFill>
            <a:srgbClr val="FFFDF8"/>
          </a:solidFill>
          <a:ln w="9525">
            <a:solidFill>
              <a:srgbClr val="E3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Imbalance heading"/>
          <p:cNvSpPr txBox="1"/>
          <p:nvPr/>
        </p:nvSpPr>
        <p:spPr>
          <a:xfrm>
            <a:off x="1051560" y="5010912"/>
            <a:ext cx="4480560" cy="320040"/>
          </a:xfrm>
          <a:prstGeom prst="rect">
            <a:avLst/>
          </a:prstGeom>
          <a:noFill/>
        </p:spPr>
        <p:txBody>
          <a:bodyPr wrap="square" lIns="0" tIns="0" rIns="0" bIns="0" anchor="t">
            <a:spAutoFit/>
          </a:bodyPr>
          <a:lstStyle/>
          <a:p>
            <a:pPr algn="l">
              <a:spcAft>
                <a:spcPts val="0"/>
              </a:spcAft>
            </a:pPr>
            <a:r>
              <a:rPr sz="1600" b="1">
                <a:solidFill>
                  <a:srgbClr val="B8401A"/>
                </a:solidFill>
                <a:latin typeface="Space Grotesk"/>
              </a:rPr>
              <a:t>Imbalanced target</a:t>
            </a:r>
          </a:p>
        </p:txBody>
      </p:sp>
      <p:sp>
        <p:nvSpPr>
          <p:cNvPr id="16" name="Imbalance text"/>
          <p:cNvSpPr txBox="1"/>
          <p:nvPr/>
        </p:nvSpPr>
        <p:spPr>
          <a:xfrm>
            <a:off x="1051560" y="5349240"/>
            <a:ext cx="4480560" cy="685800"/>
          </a:xfrm>
          <a:prstGeom prst="rect">
            <a:avLst/>
          </a:prstGeom>
          <a:noFill/>
        </p:spPr>
        <p:txBody>
          <a:bodyPr wrap="square" lIns="0" tIns="0" rIns="0" bIns="0" anchor="t">
            <a:spAutoFit/>
          </a:bodyPr>
          <a:lstStyle/>
          <a:p>
            <a:pPr algn="l">
              <a:spcAft>
                <a:spcPts val="0"/>
              </a:spcAft>
            </a:pPr>
            <a:r>
              <a:rPr sz="1200" b="0">
                <a:solidFill>
                  <a:srgbClr val="15171E"/>
                </a:solidFill>
                <a:latin typeface="Inter"/>
              </a:rPr>
              <a:t>Always guessing “not funded” is already 63.6% right, so we judge models with ROC-AUC and F1, and keep this ratio in every train/test split.</a:t>
            </a:r>
          </a:p>
        </p:txBody>
      </p:sp>
      <p:sp>
        <p:nvSpPr>
          <p:cNvPr id="17" name="Funded segment"/>
          <p:cNvSpPr/>
          <p:nvPr/>
        </p:nvSpPr>
        <p:spPr>
          <a:xfrm>
            <a:off x="6649892" y="5070348"/>
            <a:ext cx="2207738" cy="548640"/>
          </a:xfrm>
          <a:prstGeom prst="rect">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Not funded segment"/>
          <p:cNvSpPr/>
          <p:nvPr/>
        </p:nvSpPr>
        <p:spPr>
          <a:xfrm>
            <a:off x="8857630" y="5070348"/>
            <a:ext cx="2199249" cy="548640"/>
          </a:xfrm>
          <a:prstGeom prst="rect">
            <a:avLst/>
          </a:prstGeom>
          <a:solidFill>
            <a:srgbClr val="151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Funded label"/>
          <p:cNvSpPr txBox="1"/>
          <p:nvPr/>
        </p:nvSpPr>
        <p:spPr>
          <a:xfrm>
            <a:off x="6787052" y="5229252"/>
            <a:ext cx="2024858" cy="230832"/>
          </a:xfrm>
          <a:prstGeom prst="rect">
            <a:avLst/>
          </a:prstGeom>
          <a:noFill/>
        </p:spPr>
        <p:txBody>
          <a:bodyPr wrap="square" lIns="0" tIns="0" rIns="0" bIns="0" anchor="ctr">
            <a:spAutoFit/>
          </a:bodyPr>
          <a:lstStyle/>
          <a:p>
            <a:pPr algn="l">
              <a:spcAft>
                <a:spcPts val="0"/>
              </a:spcAft>
            </a:pPr>
            <a:r>
              <a:rPr sz="1500" b="1" dirty="0">
                <a:solidFill>
                  <a:srgbClr val="15171E"/>
                </a:solidFill>
                <a:latin typeface="Inter"/>
              </a:rPr>
              <a:t>36.4% funded</a:t>
            </a:r>
          </a:p>
        </p:txBody>
      </p:sp>
      <p:sp>
        <p:nvSpPr>
          <p:cNvPr id="20" name="Not funded label"/>
          <p:cNvSpPr txBox="1"/>
          <p:nvPr/>
        </p:nvSpPr>
        <p:spPr>
          <a:xfrm>
            <a:off x="8994790" y="5229252"/>
            <a:ext cx="2871385" cy="230832"/>
          </a:xfrm>
          <a:prstGeom prst="rect">
            <a:avLst/>
          </a:prstGeom>
          <a:noFill/>
        </p:spPr>
        <p:txBody>
          <a:bodyPr wrap="square" lIns="0" tIns="0" rIns="0" bIns="0" anchor="ctr">
            <a:spAutoFit/>
          </a:bodyPr>
          <a:lstStyle/>
          <a:p>
            <a:pPr algn="l">
              <a:spcAft>
                <a:spcPts val="0"/>
              </a:spcAft>
            </a:pPr>
            <a:r>
              <a:rPr sz="1500" b="1">
                <a:solidFill>
                  <a:srgbClr val="FFFFFF"/>
                </a:solidFill>
                <a:latin typeface="Inter"/>
              </a:rPr>
              <a:t>63.6% not funded</a:t>
            </a:r>
          </a:p>
        </p:txBody>
      </p:sp>
      <p:sp>
        <p:nvSpPr>
          <p:cNvPr id="21" name="Funded count"/>
          <p:cNvSpPr txBox="1"/>
          <p:nvPr/>
        </p:nvSpPr>
        <p:spPr>
          <a:xfrm>
            <a:off x="7103416" y="5715000"/>
            <a:ext cx="2207738" cy="228600"/>
          </a:xfrm>
          <a:prstGeom prst="rect">
            <a:avLst/>
          </a:prstGeom>
          <a:noFill/>
        </p:spPr>
        <p:txBody>
          <a:bodyPr wrap="square" lIns="0" tIns="0" rIns="0" bIns="0" anchor="t">
            <a:spAutoFit/>
          </a:bodyPr>
          <a:lstStyle/>
          <a:p>
            <a:pPr algn="l">
              <a:spcAft>
                <a:spcPts val="0"/>
              </a:spcAft>
            </a:pPr>
            <a:r>
              <a:rPr sz="1100" b="0" dirty="0">
                <a:solidFill>
                  <a:srgbClr val="6B6E76"/>
                </a:solidFill>
                <a:latin typeface="Inter"/>
              </a:rPr>
              <a:t>133,652 projects</a:t>
            </a:r>
          </a:p>
        </p:txBody>
      </p:sp>
      <p:sp>
        <p:nvSpPr>
          <p:cNvPr id="22" name="Not funded count"/>
          <p:cNvSpPr txBox="1"/>
          <p:nvPr/>
        </p:nvSpPr>
        <p:spPr>
          <a:xfrm>
            <a:off x="9460737" y="5700055"/>
            <a:ext cx="1437812" cy="169277"/>
          </a:xfrm>
          <a:prstGeom prst="rect">
            <a:avLst/>
          </a:prstGeom>
          <a:noFill/>
        </p:spPr>
        <p:txBody>
          <a:bodyPr wrap="square" lIns="0" tIns="0" rIns="0" bIns="0" anchor="t">
            <a:spAutoFit/>
          </a:bodyPr>
          <a:lstStyle/>
          <a:p>
            <a:pPr algn="l">
              <a:spcAft>
                <a:spcPts val="0"/>
              </a:spcAft>
            </a:pPr>
            <a:r>
              <a:rPr sz="1100" b="0" dirty="0">
                <a:solidFill>
                  <a:srgbClr val="6B6E76"/>
                </a:solidFill>
                <a:latin typeface="Inter"/>
              </a:rPr>
              <a:t>233,038 projects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1097280"/>
            <a:ext cx="10545775" cy="548640"/>
          </a:xfrm>
        </p:spPr>
        <p:txBody>
          <a:bodyPr lIns="0" tIns="0" rIns="0" bIns="0" anchor="t"/>
          <a:lstStyle/>
          <a:p>
            <a:pPr algn="l"/>
            <a:r>
              <a:rPr sz="3200" b="1">
                <a:solidFill>
                  <a:srgbClr val="15171E"/>
                </a:solidFill>
                <a:latin typeface="Space Grotesk"/>
              </a:rPr>
              <a:t>From 6 outcome states to a yes / no target</a:t>
            </a:r>
          </a:p>
        </p:txBody>
      </p:sp>
      <p:sp>
        <p:nvSpPr>
          <p:cNvPr id="3" name="Eyebrow"/>
          <p:cNvSpPr txBox="1"/>
          <p:nvPr/>
        </p:nvSpPr>
        <p:spPr>
          <a:xfrm>
            <a:off x="822960" y="822960"/>
            <a:ext cx="10545775" cy="274320"/>
          </a:xfrm>
          <a:prstGeom prst="rect">
            <a:avLst/>
          </a:prstGeom>
          <a:noFill/>
        </p:spPr>
        <p:txBody>
          <a:bodyPr wrap="square" lIns="0" tIns="0" rIns="0" bIns="0" anchor="t">
            <a:spAutoFit/>
          </a:bodyPr>
          <a:lstStyle/>
          <a:p>
            <a:pPr algn="l">
              <a:spcAft>
                <a:spcPts val="0"/>
              </a:spcAft>
            </a:pPr>
            <a:r>
              <a:rPr sz="1200" b="1">
                <a:solidFill>
                  <a:srgbClr val="B8401A"/>
                </a:solidFill>
                <a:latin typeface="Inter"/>
              </a:rPr>
              <a:t>02 · DATA FOUNDATION</a:t>
            </a:r>
          </a:p>
        </p:txBody>
      </p:sp>
      <p:sp>
        <p:nvSpPr>
          <p:cNvPr id="4" name="Footer"/>
          <p:cNvSpPr txBox="1"/>
          <p:nvPr/>
        </p:nvSpPr>
        <p:spPr>
          <a:xfrm>
            <a:off x="822960" y="6217920"/>
            <a:ext cx="7863840" cy="274320"/>
          </a:xfrm>
          <a:prstGeom prst="rect">
            <a:avLst/>
          </a:prstGeom>
          <a:noFill/>
        </p:spPr>
        <p:txBody>
          <a:bodyPr wrap="square" lIns="0" tIns="0" rIns="0" bIns="0" anchor="t">
            <a:spAutoFit/>
          </a:bodyPr>
          <a:lstStyle/>
          <a:p>
            <a:pPr algn="l">
              <a:spcAft>
                <a:spcPts val="0"/>
              </a:spcAft>
            </a:pPr>
            <a:r>
              <a:rPr sz="1200" b="0">
                <a:solidFill>
                  <a:srgbClr val="6B6E76"/>
                </a:solidFill>
                <a:latin typeface="Inter"/>
              </a:rPr>
              <a:t>Outliers · Will your Kickstarter get funded?</a:t>
            </a:r>
          </a:p>
        </p:txBody>
      </p:sp>
      <p:graphicFrame>
        <p:nvGraphicFramePr>
          <p:cNvPr id="5" name="Target states"/>
          <p:cNvGraphicFramePr>
            <a:graphicFrameLocks noGrp="1"/>
          </p:cNvGraphicFramePr>
          <p:nvPr/>
        </p:nvGraphicFramePr>
        <p:xfrm>
          <a:off x="822960" y="1783080"/>
          <a:ext cx="10545775" cy="3968496"/>
        </p:xfrm>
        <a:graphic>
          <a:graphicData uri="http://schemas.openxmlformats.org/drawingml/2006/table">
            <a:tbl>
              <a:tblPr firstRow="1">
                <a:tableStyleId>{5C22544A-7EE6-4342-B048-85BDC9FD1C3A}</a:tableStyleId>
              </a:tblPr>
              <a:tblGrid>
                <a:gridCol w="233172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5379415">
                  <a:extLst>
                    <a:ext uri="{9D8B030D-6E8A-4147-A177-3AD203B41FA5}">
                      <a16:colId xmlns:a16="http://schemas.microsoft.com/office/drawing/2014/main" val="20003"/>
                    </a:ext>
                  </a:extLst>
                </a:gridCol>
              </a:tblGrid>
              <a:tr h="347472">
                <a:tc>
                  <a:txBody>
                    <a:bodyPr/>
                    <a:lstStyle/>
                    <a:p>
                      <a:pPr algn="l"/>
                      <a:r>
                        <a:rPr sz="1200" b="1">
                          <a:solidFill>
                            <a:srgbClr val="FFFFFF"/>
                          </a:solidFill>
                          <a:latin typeface="Inter"/>
                        </a:rPr>
                        <a:t>Original state</a:t>
                      </a:r>
                    </a:p>
                  </a:txBody>
                  <a:tcPr marT="27432" marB="27432" anchor="ctr">
                    <a:solidFill>
                      <a:srgbClr val="15171E"/>
                    </a:solidFill>
                  </a:tcPr>
                </a:tc>
                <a:tc>
                  <a:txBody>
                    <a:bodyPr/>
                    <a:lstStyle/>
                    <a:p>
                      <a:pPr algn="r"/>
                      <a:r>
                        <a:rPr sz="1200" b="1">
                          <a:solidFill>
                            <a:srgbClr val="FFFFFF"/>
                          </a:solidFill>
                          <a:latin typeface="Inter"/>
                        </a:rPr>
                        <a:t>Projects (raw)</a:t>
                      </a:r>
                    </a:p>
                  </a:txBody>
                  <a:tcPr marT="27432" marB="27432" anchor="ctr">
                    <a:solidFill>
                      <a:srgbClr val="15171E"/>
                    </a:solidFill>
                  </a:tcPr>
                </a:tc>
                <a:tc>
                  <a:txBody>
                    <a:bodyPr/>
                    <a:lstStyle/>
                    <a:p>
                      <a:pPr algn="l"/>
                      <a:r>
                        <a:rPr sz="1200" b="1">
                          <a:solidFill>
                            <a:srgbClr val="FFFFFF"/>
                          </a:solidFill>
                          <a:latin typeface="Inter"/>
                        </a:rPr>
                        <a:t>Decision</a:t>
                      </a:r>
                    </a:p>
                  </a:txBody>
                  <a:tcPr marT="27432" marB="27432" anchor="ctr">
                    <a:solidFill>
                      <a:srgbClr val="15171E"/>
                    </a:solidFill>
                  </a:tcPr>
                </a:tc>
                <a:tc>
                  <a:txBody>
                    <a:bodyPr/>
                    <a:lstStyle/>
                    <a:p>
                      <a:pPr algn="l"/>
                      <a:r>
                        <a:rPr sz="1200" b="1">
                          <a:solidFill>
                            <a:srgbClr val="FFFFFF"/>
                          </a:solidFill>
                          <a:latin typeface="Inter"/>
                        </a:rPr>
                        <a:t>Why</a:t>
                      </a:r>
                    </a:p>
                  </a:txBody>
                  <a:tcPr marT="27432" marB="27432" anchor="ctr">
                    <a:solidFill>
                      <a:srgbClr val="15171E"/>
                    </a:solidFill>
                  </a:tcPr>
                </a:tc>
                <a:extLst>
                  <a:ext uri="{0D108BD9-81ED-4DB2-BD59-A6C34878D82A}">
                    <a16:rowId xmlns:a16="http://schemas.microsoft.com/office/drawing/2014/main" val="10000"/>
                  </a:ext>
                </a:extLst>
              </a:tr>
              <a:tr h="347472">
                <a:tc>
                  <a:txBody>
                    <a:bodyPr/>
                    <a:lstStyle/>
                    <a:p>
                      <a:pPr algn="l"/>
                      <a:r>
                        <a:rPr sz="1200" b="1">
                          <a:solidFill>
                            <a:srgbClr val="15171E"/>
                          </a:solidFill>
                          <a:latin typeface="Inter"/>
                        </a:rPr>
                        <a:t>Successful</a:t>
                      </a:r>
                    </a:p>
                  </a:txBody>
                  <a:tcPr marT="27432" marB="27432" anchor="ctr">
                    <a:solidFill>
                      <a:srgbClr val="FFFDF8"/>
                    </a:solidFill>
                  </a:tcPr>
                </a:tc>
                <a:tc>
                  <a:txBody>
                    <a:bodyPr/>
                    <a:lstStyle/>
                    <a:p>
                      <a:pPr algn="r"/>
                      <a:r>
                        <a:rPr sz="1200" b="0">
                          <a:solidFill>
                            <a:srgbClr val="15171E"/>
                          </a:solidFill>
                          <a:latin typeface="Inter"/>
                        </a:rPr>
                        <a:t>133,956 (35.4%)</a:t>
                      </a:r>
                    </a:p>
                  </a:txBody>
                  <a:tcPr marT="27432" marB="27432" anchor="ctr">
                    <a:solidFill>
                      <a:srgbClr val="FFFDF8"/>
                    </a:solidFill>
                  </a:tcPr>
                </a:tc>
                <a:tc>
                  <a:txBody>
                    <a:bodyPr/>
                    <a:lstStyle/>
                    <a:p>
                      <a:pPr algn="l"/>
                      <a:r>
                        <a:rPr sz="1200" b="1">
                          <a:solidFill>
                            <a:srgbClr val="2F5FC4"/>
                          </a:solidFill>
                          <a:latin typeface="Inter"/>
                        </a:rPr>
                        <a:t>Kept → 1</a:t>
                      </a:r>
                    </a:p>
                  </a:txBody>
                  <a:tcPr marT="27432" marB="27432" anchor="ctr">
                    <a:solidFill>
                      <a:srgbClr val="FFFDF8"/>
                    </a:solidFill>
                  </a:tcPr>
                </a:tc>
                <a:tc>
                  <a:txBody>
                    <a:bodyPr/>
                    <a:lstStyle/>
                    <a:p>
                      <a:pPr algn="l"/>
                      <a:r>
                        <a:rPr sz="1200" b="0">
                          <a:solidFill>
                            <a:srgbClr val="15171E"/>
                          </a:solidFill>
                          <a:latin typeface="Inter"/>
                        </a:rPr>
                        <a:t>Reached its goal: funded</a:t>
                      </a:r>
                    </a:p>
                  </a:txBody>
                  <a:tcPr marT="27432" marB="27432" anchor="ctr">
                    <a:solidFill>
                      <a:srgbClr val="FFFDF8"/>
                    </a:solidFill>
                  </a:tcPr>
                </a:tc>
                <a:extLst>
                  <a:ext uri="{0D108BD9-81ED-4DB2-BD59-A6C34878D82A}">
                    <a16:rowId xmlns:a16="http://schemas.microsoft.com/office/drawing/2014/main" val="10001"/>
                  </a:ext>
                </a:extLst>
              </a:tr>
              <a:tr h="347472">
                <a:tc>
                  <a:txBody>
                    <a:bodyPr/>
                    <a:lstStyle/>
                    <a:p>
                      <a:pPr algn="l"/>
                      <a:r>
                        <a:rPr sz="1200" b="1">
                          <a:solidFill>
                            <a:srgbClr val="15171E"/>
                          </a:solidFill>
                          <a:latin typeface="Inter"/>
                        </a:rPr>
                        <a:t>Failed</a:t>
                      </a:r>
                    </a:p>
                  </a:txBody>
                  <a:tcPr marT="27432" marB="27432" anchor="ctr">
                    <a:solidFill>
                      <a:srgbClr val="FFFDF8"/>
                    </a:solidFill>
                  </a:tcPr>
                </a:tc>
                <a:tc>
                  <a:txBody>
                    <a:bodyPr/>
                    <a:lstStyle/>
                    <a:p>
                      <a:pPr algn="r"/>
                      <a:r>
                        <a:rPr sz="1200" b="0">
                          <a:solidFill>
                            <a:srgbClr val="15171E"/>
                          </a:solidFill>
                          <a:latin typeface="Inter"/>
                        </a:rPr>
                        <a:t>197,719 (52.2%)</a:t>
                      </a:r>
                    </a:p>
                  </a:txBody>
                  <a:tcPr marT="27432" marB="27432" anchor="ctr">
                    <a:solidFill>
                      <a:srgbClr val="FFFDF8"/>
                    </a:solidFill>
                  </a:tcPr>
                </a:tc>
                <a:tc>
                  <a:txBody>
                    <a:bodyPr/>
                    <a:lstStyle/>
                    <a:p>
                      <a:pPr algn="l"/>
                      <a:r>
                        <a:rPr sz="1200" b="1">
                          <a:solidFill>
                            <a:srgbClr val="2F5FC4"/>
                          </a:solidFill>
                          <a:latin typeface="Inter"/>
                        </a:rPr>
                        <a:t>Kept → 0</a:t>
                      </a:r>
                    </a:p>
                  </a:txBody>
                  <a:tcPr marT="27432" marB="27432" anchor="ctr">
                    <a:solidFill>
                      <a:srgbClr val="FFFDF8"/>
                    </a:solidFill>
                  </a:tcPr>
                </a:tc>
                <a:tc>
                  <a:txBody>
                    <a:bodyPr/>
                    <a:lstStyle/>
                    <a:p>
                      <a:pPr algn="l"/>
                      <a:r>
                        <a:rPr sz="1200" b="0">
                          <a:solidFill>
                            <a:srgbClr val="15171E"/>
                          </a:solidFill>
                          <a:latin typeface="Inter"/>
                        </a:rPr>
                        <a:t>Missed its goal: not funded</a:t>
                      </a:r>
                    </a:p>
                  </a:txBody>
                  <a:tcPr marT="27432" marB="27432" anchor="ctr">
                    <a:solidFill>
                      <a:srgbClr val="FFFDF8"/>
                    </a:solidFill>
                  </a:tcPr>
                </a:tc>
                <a:extLst>
                  <a:ext uri="{0D108BD9-81ED-4DB2-BD59-A6C34878D82A}">
                    <a16:rowId xmlns:a16="http://schemas.microsoft.com/office/drawing/2014/main" val="10002"/>
                  </a:ext>
                </a:extLst>
              </a:tr>
              <a:tr h="347472">
                <a:tc>
                  <a:txBody>
                    <a:bodyPr/>
                    <a:lstStyle/>
                    <a:p>
                      <a:pPr algn="l"/>
                      <a:r>
                        <a:rPr sz="1200" b="1">
                          <a:solidFill>
                            <a:srgbClr val="15171E"/>
                          </a:solidFill>
                          <a:latin typeface="Inter"/>
                        </a:rPr>
                        <a:t>Canceled, under 50% of goal</a:t>
                      </a:r>
                    </a:p>
                  </a:txBody>
                  <a:tcPr marT="27432" marB="27432" anchor="ctr">
                    <a:solidFill>
                      <a:srgbClr val="FFFDF8"/>
                    </a:solidFill>
                  </a:tcPr>
                </a:tc>
                <a:tc>
                  <a:txBody>
                    <a:bodyPr/>
                    <a:lstStyle/>
                    <a:p>
                      <a:pPr algn="r"/>
                      <a:r>
                        <a:rPr sz="1200" b="0">
                          <a:solidFill>
                            <a:srgbClr val="15171E"/>
                          </a:solidFill>
                          <a:latin typeface="Inter"/>
                        </a:rPr>
                        <a:t>36,696</a:t>
                      </a:r>
                    </a:p>
                  </a:txBody>
                  <a:tcPr marT="27432" marB="27432" anchor="ctr">
                    <a:solidFill>
                      <a:srgbClr val="FFFDF8"/>
                    </a:solidFill>
                  </a:tcPr>
                </a:tc>
                <a:tc>
                  <a:txBody>
                    <a:bodyPr/>
                    <a:lstStyle/>
                    <a:p>
                      <a:pPr algn="l"/>
                      <a:r>
                        <a:rPr sz="1200" b="1">
                          <a:solidFill>
                            <a:srgbClr val="2F5FC4"/>
                          </a:solidFill>
                          <a:latin typeface="Inter"/>
                        </a:rPr>
                        <a:t>Kept → 0</a:t>
                      </a:r>
                    </a:p>
                  </a:txBody>
                  <a:tcPr marT="27432" marB="27432" anchor="ctr">
                    <a:solidFill>
                      <a:srgbClr val="FFFDF8"/>
                    </a:solidFill>
                  </a:tcPr>
                </a:tc>
                <a:tc>
                  <a:txBody>
                    <a:bodyPr/>
                    <a:lstStyle/>
                    <a:p>
                      <a:pPr algn="l"/>
                      <a:r>
                        <a:rPr sz="1200" b="0">
                          <a:solidFill>
                            <a:srgbClr val="15171E"/>
                          </a:solidFill>
                          <a:latin typeface="Inter"/>
                        </a:rPr>
                        <a:t>Heading for failure: 76% of canceled had under 10% of their goal, and a model sees them like failed ones</a:t>
                      </a:r>
                    </a:p>
                  </a:txBody>
                  <a:tcPr marT="27432" marB="27432" anchor="ctr">
                    <a:solidFill>
                      <a:srgbClr val="FFFDF8"/>
                    </a:solidFill>
                  </a:tcPr>
                </a:tc>
                <a:extLst>
                  <a:ext uri="{0D108BD9-81ED-4DB2-BD59-A6C34878D82A}">
                    <a16:rowId xmlns:a16="http://schemas.microsoft.com/office/drawing/2014/main" val="10003"/>
                  </a:ext>
                </a:extLst>
              </a:tr>
              <a:tr h="347472">
                <a:tc>
                  <a:txBody>
                    <a:bodyPr/>
                    <a:lstStyle/>
                    <a:p>
                      <a:pPr algn="l"/>
                      <a:r>
                        <a:rPr sz="1200" b="1">
                          <a:solidFill>
                            <a:srgbClr val="15171E"/>
                          </a:solidFill>
                          <a:latin typeface="Inter"/>
                        </a:rPr>
                        <a:t>Canceled, 50%+ of goal</a:t>
                      </a:r>
                    </a:p>
                  </a:txBody>
                  <a:tcPr marT="27432" marB="27432" anchor="ctr">
                    <a:solidFill>
                      <a:srgbClr val="FFFDF8"/>
                    </a:solidFill>
                  </a:tcPr>
                </a:tc>
                <a:tc>
                  <a:txBody>
                    <a:bodyPr/>
                    <a:lstStyle/>
                    <a:p>
                      <a:pPr algn="r"/>
                      <a:r>
                        <a:rPr sz="1200" b="0">
                          <a:solidFill>
                            <a:srgbClr val="15171E"/>
                          </a:solidFill>
                          <a:latin typeface="Inter"/>
                        </a:rPr>
                        <a:t>2,055</a:t>
                      </a:r>
                    </a:p>
                  </a:txBody>
                  <a:tcPr marT="27432" marB="27432" anchor="ctr">
                    <a:solidFill>
                      <a:srgbClr val="FFFDF8"/>
                    </a:solidFill>
                  </a:tcPr>
                </a:tc>
                <a:tc>
                  <a:txBody>
                    <a:bodyPr/>
                    <a:lstStyle/>
                    <a:p>
                      <a:pPr algn="l"/>
                      <a:r>
                        <a:rPr sz="1200" b="1">
                          <a:solidFill>
                            <a:srgbClr val="B8401A"/>
                          </a:solidFill>
                          <a:latin typeface="Inter"/>
                        </a:rPr>
                        <a:t>Dropped</a:t>
                      </a:r>
                    </a:p>
                  </a:txBody>
                  <a:tcPr marT="27432" marB="27432" anchor="ctr">
                    <a:solidFill>
                      <a:srgbClr val="FFFDF8"/>
                    </a:solidFill>
                  </a:tcPr>
                </a:tc>
                <a:tc>
                  <a:txBody>
                    <a:bodyPr/>
                    <a:lstStyle/>
                    <a:p>
                      <a:pPr algn="l"/>
                      <a:r>
                        <a:rPr sz="1200" b="0">
                          <a:solidFill>
                            <a:srgbClr val="15171E"/>
                          </a:solidFill>
                          <a:latin typeface="Inter"/>
                        </a:rPr>
                        <a:t>Could have gone either way; some had already reached the goal</a:t>
                      </a:r>
                    </a:p>
                  </a:txBody>
                  <a:tcPr marT="27432" marB="27432" anchor="ctr">
                    <a:solidFill>
                      <a:srgbClr val="FFFDF8"/>
                    </a:solidFill>
                  </a:tcPr>
                </a:tc>
                <a:extLst>
                  <a:ext uri="{0D108BD9-81ED-4DB2-BD59-A6C34878D82A}">
                    <a16:rowId xmlns:a16="http://schemas.microsoft.com/office/drawing/2014/main" val="10004"/>
                  </a:ext>
                </a:extLst>
              </a:tr>
              <a:tr h="347472">
                <a:tc>
                  <a:txBody>
                    <a:bodyPr/>
                    <a:lstStyle/>
                    <a:p>
                      <a:pPr algn="l"/>
                      <a:r>
                        <a:rPr sz="1200" b="1">
                          <a:solidFill>
                            <a:srgbClr val="15171E"/>
                          </a:solidFill>
                          <a:latin typeface="Inter"/>
                        </a:rPr>
                        <a:t>Live</a:t>
                      </a:r>
                    </a:p>
                  </a:txBody>
                  <a:tcPr marT="27432" marB="27432" anchor="ctr">
                    <a:solidFill>
                      <a:srgbClr val="FFFDF8"/>
                    </a:solidFill>
                  </a:tcPr>
                </a:tc>
                <a:tc>
                  <a:txBody>
                    <a:bodyPr/>
                    <a:lstStyle/>
                    <a:p>
                      <a:pPr algn="r"/>
                      <a:r>
                        <a:rPr sz="1200" b="0">
                          <a:solidFill>
                            <a:srgbClr val="15171E"/>
                          </a:solidFill>
                          <a:latin typeface="Inter"/>
                        </a:rPr>
                        <a:t>2,799 (0.7%)</a:t>
                      </a:r>
                    </a:p>
                  </a:txBody>
                  <a:tcPr marT="27432" marB="27432" anchor="ctr">
                    <a:solidFill>
                      <a:srgbClr val="FFFDF8"/>
                    </a:solidFill>
                  </a:tcPr>
                </a:tc>
                <a:tc>
                  <a:txBody>
                    <a:bodyPr/>
                    <a:lstStyle/>
                    <a:p>
                      <a:pPr algn="l"/>
                      <a:r>
                        <a:rPr sz="1200" b="1">
                          <a:solidFill>
                            <a:srgbClr val="B8401A"/>
                          </a:solidFill>
                          <a:latin typeface="Inter"/>
                        </a:rPr>
                        <a:t>Dropped</a:t>
                      </a:r>
                    </a:p>
                  </a:txBody>
                  <a:tcPr marT="27432" marB="27432" anchor="ctr">
                    <a:solidFill>
                      <a:srgbClr val="FFFDF8"/>
                    </a:solidFill>
                  </a:tcPr>
                </a:tc>
                <a:tc>
                  <a:txBody>
                    <a:bodyPr/>
                    <a:lstStyle/>
                    <a:p>
                      <a:pPr algn="l"/>
                      <a:r>
                        <a:rPr sz="1200" b="0">
                          <a:solidFill>
                            <a:srgbClr val="15171E"/>
                          </a:solidFill>
                          <a:latin typeface="Inter"/>
                        </a:rPr>
                        <a:t>Still running: no final outcome yet</a:t>
                      </a:r>
                    </a:p>
                  </a:txBody>
                  <a:tcPr marT="27432" marB="27432" anchor="ctr">
                    <a:solidFill>
                      <a:srgbClr val="FFFDF8"/>
                    </a:solidFill>
                  </a:tcPr>
                </a:tc>
                <a:extLst>
                  <a:ext uri="{0D108BD9-81ED-4DB2-BD59-A6C34878D82A}">
                    <a16:rowId xmlns:a16="http://schemas.microsoft.com/office/drawing/2014/main" val="10005"/>
                  </a:ext>
                </a:extLst>
              </a:tr>
              <a:tr h="347472">
                <a:tc>
                  <a:txBody>
                    <a:bodyPr/>
                    <a:lstStyle/>
                    <a:p>
                      <a:pPr algn="l"/>
                      <a:r>
                        <a:rPr sz="1200" b="1">
                          <a:solidFill>
                            <a:srgbClr val="15171E"/>
                          </a:solidFill>
                          <a:latin typeface="Inter"/>
                        </a:rPr>
                        <a:t>Undefined</a:t>
                      </a:r>
                    </a:p>
                  </a:txBody>
                  <a:tcPr marT="27432" marB="27432" anchor="ctr">
                    <a:solidFill>
                      <a:srgbClr val="FFFDF8"/>
                    </a:solidFill>
                  </a:tcPr>
                </a:tc>
                <a:tc>
                  <a:txBody>
                    <a:bodyPr/>
                    <a:lstStyle/>
                    <a:p>
                      <a:pPr algn="r"/>
                      <a:r>
                        <a:rPr sz="1200" b="0">
                          <a:solidFill>
                            <a:srgbClr val="15171E"/>
                          </a:solidFill>
                          <a:latin typeface="Inter"/>
                        </a:rPr>
                        <a:t>3,562 (0.9%)</a:t>
                      </a:r>
                    </a:p>
                  </a:txBody>
                  <a:tcPr marT="27432" marB="27432" anchor="ctr">
                    <a:solidFill>
                      <a:srgbClr val="FFFDF8"/>
                    </a:solidFill>
                  </a:tcPr>
                </a:tc>
                <a:tc>
                  <a:txBody>
                    <a:bodyPr/>
                    <a:lstStyle/>
                    <a:p>
                      <a:pPr algn="l"/>
                      <a:r>
                        <a:rPr sz="1200" b="1">
                          <a:solidFill>
                            <a:srgbClr val="B8401A"/>
                          </a:solidFill>
                          <a:latin typeface="Inter"/>
                        </a:rPr>
                        <a:t>Dropped</a:t>
                      </a:r>
                    </a:p>
                  </a:txBody>
                  <a:tcPr marT="27432" marB="27432" anchor="ctr">
                    <a:solidFill>
                      <a:srgbClr val="FFFDF8"/>
                    </a:solidFill>
                  </a:tcPr>
                </a:tc>
                <a:tc>
                  <a:txBody>
                    <a:bodyPr/>
                    <a:lstStyle/>
                    <a:p>
                      <a:pPr algn="l"/>
                      <a:r>
                        <a:rPr sz="1200" b="0">
                          <a:solidFill>
                            <a:srgbClr val="15171E"/>
                          </a:solidFill>
                          <a:latin typeface="Inter"/>
                        </a:rPr>
                        <a:t>Outcome unknown</a:t>
                      </a:r>
                    </a:p>
                  </a:txBody>
                  <a:tcPr marT="27432" marB="27432" anchor="ctr">
                    <a:solidFill>
                      <a:srgbClr val="FFFDF8"/>
                    </a:solidFill>
                  </a:tcPr>
                </a:tc>
                <a:extLst>
                  <a:ext uri="{0D108BD9-81ED-4DB2-BD59-A6C34878D82A}">
                    <a16:rowId xmlns:a16="http://schemas.microsoft.com/office/drawing/2014/main" val="10006"/>
                  </a:ext>
                </a:extLst>
              </a:tr>
              <a:tr h="347472">
                <a:tc>
                  <a:txBody>
                    <a:bodyPr/>
                    <a:lstStyle/>
                    <a:p>
                      <a:pPr algn="l"/>
                      <a:r>
                        <a:rPr sz="1200" b="1">
                          <a:solidFill>
                            <a:srgbClr val="15171E"/>
                          </a:solidFill>
                          <a:latin typeface="Inter"/>
                        </a:rPr>
                        <a:t>Suspended</a:t>
                      </a:r>
                    </a:p>
                  </a:txBody>
                  <a:tcPr marT="27432" marB="27432" anchor="ctr">
                    <a:solidFill>
                      <a:srgbClr val="FFFDF8"/>
                    </a:solidFill>
                  </a:tcPr>
                </a:tc>
                <a:tc>
                  <a:txBody>
                    <a:bodyPr/>
                    <a:lstStyle/>
                    <a:p>
                      <a:pPr algn="r"/>
                      <a:r>
                        <a:rPr sz="1200" b="0">
                          <a:solidFill>
                            <a:srgbClr val="15171E"/>
                          </a:solidFill>
                          <a:latin typeface="Inter"/>
                        </a:rPr>
                        <a:t>1,846 (0.5%)</a:t>
                      </a:r>
                    </a:p>
                  </a:txBody>
                  <a:tcPr marT="27432" marB="27432" anchor="ctr">
                    <a:solidFill>
                      <a:srgbClr val="FFFDF8"/>
                    </a:solidFill>
                  </a:tcPr>
                </a:tc>
                <a:tc>
                  <a:txBody>
                    <a:bodyPr/>
                    <a:lstStyle/>
                    <a:p>
                      <a:pPr algn="l"/>
                      <a:r>
                        <a:rPr sz="1200" b="1">
                          <a:solidFill>
                            <a:srgbClr val="B8401A"/>
                          </a:solidFill>
                          <a:latin typeface="Inter"/>
                        </a:rPr>
                        <a:t>Dropped</a:t>
                      </a:r>
                    </a:p>
                  </a:txBody>
                  <a:tcPr marT="27432" marB="27432" anchor="ctr">
                    <a:solidFill>
                      <a:srgbClr val="FFFDF8"/>
                    </a:solidFill>
                  </a:tcPr>
                </a:tc>
                <a:tc>
                  <a:txBody>
                    <a:bodyPr/>
                    <a:lstStyle/>
                    <a:p>
                      <a:pPr algn="l"/>
                      <a:r>
                        <a:rPr sz="1200" b="0">
                          <a:solidFill>
                            <a:srgbClr val="15171E"/>
                          </a:solidFill>
                          <a:latin typeface="Inter"/>
                        </a:rPr>
                        <a:t>Stopped by Kickstarter for rule breaks (e.g. suspected fraud), not by backers</a:t>
                      </a:r>
                    </a:p>
                  </a:txBody>
                  <a:tcPr marT="27432" marB="27432" anchor="ctr">
                    <a:solidFill>
                      <a:srgbClr val="FFFDF8"/>
                    </a:solidFill>
                  </a:tcPr>
                </a:tc>
                <a:extLst>
                  <a:ext uri="{0D108BD9-81ED-4DB2-BD59-A6C34878D82A}">
                    <a16:rowId xmlns:a16="http://schemas.microsoft.com/office/drawing/2014/main" val="10007"/>
                  </a:ext>
                </a:extLst>
              </a:tr>
              <a:tr h="347472">
                <a:tc>
                  <a:txBody>
                    <a:bodyPr/>
                    <a:lstStyle/>
                    <a:p>
                      <a:pPr algn="l"/>
                      <a:r>
                        <a:rPr sz="1200" b="1">
                          <a:solidFill>
                            <a:srgbClr val="15171E"/>
                          </a:solidFill>
                          <a:latin typeface="Inter"/>
                        </a:rPr>
                        <a:t>Other cleaning (any state)</a:t>
                      </a:r>
                    </a:p>
                  </a:txBody>
                  <a:tcPr marT="27432" marB="27432" anchor="ctr">
                    <a:solidFill>
                      <a:srgbClr val="FFFDF8"/>
                    </a:solidFill>
                  </a:tcPr>
                </a:tc>
                <a:tc>
                  <a:txBody>
                    <a:bodyPr/>
                    <a:lstStyle/>
                    <a:p>
                      <a:pPr algn="r"/>
                      <a:r>
                        <a:rPr sz="1200" b="0">
                          <a:solidFill>
                            <a:srgbClr val="15171E"/>
                          </a:solidFill>
                          <a:latin typeface="Inter"/>
                        </a:rPr>
                        <a:t>1,713</a:t>
                      </a:r>
                    </a:p>
                  </a:txBody>
                  <a:tcPr marT="27432" marB="27432" anchor="ctr">
                    <a:solidFill>
                      <a:srgbClr val="FFFDF8"/>
                    </a:solidFill>
                  </a:tcPr>
                </a:tc>
                <a:tc>
                  <a:txBody>
                    <a:bodyPr/>
                    <a:lstStyle/>
                    <a:p>
                      <a:pPr algn="l"/>
                      <a:r>
                        <a:rPr sz="1200" b="1">
                          <a:solidFill>
                            <a:srgbClr val="B8401A"/>
                          </a:solidFill>
                          <a:latin typeface="Inter"/>
                        </a:rPr>
                        <a:t>Dropped</a:t>
                      </a:r>
                    </a:p>
                  </a:txBody>
                  <a:tcPr marT="27432" marB="27432" anchor="ctr">
                    <a:solidFill>
                      <a:srgbClr val="FFFDF8"/>
                    </a:solidFill>
                  </a:tcPr>
                </a:tc>
                <a:tc>
                  <a:txBody>
                    <a:bodyPr/>
                    <a:lstStyle/>
                    <a:p>
                      <a:pPr algn="l"/>
                      <a:r>
                        <a:rPr sz="1200" b="0">
                          <a:solidFill>
                            <a:srgbClr val="15171E"/>
                          </a:solidFill>
                          <a:latin typeface="Inter"/>
                        </a:rPr>
                        <a:t>245 missing values · 687 quick re-posts · 781 joke / test projects</a:t>
                      </a:r>
                    </a:p>
                  </a:txBody>
                  <a:tcPr marT="27432" marB="27432" anchor="ctr">
                    <a:solidFill>
                      <a:srgbClr val="FFFDF8"/>
                    </a:solidFill>
                  </a:tcPr>
                </a:tc>
                <a:extLst>
                  <a:ext uri="{0D108BD9-81ED-4DB2-BD59-A6C34878D82A}">
                    <a16:rowId xmlns:a16="http://schemas.microsoft.com/office/drawing/2014/main" val="3652390774"/>
                  </a:ext>
                </a:extLst>
              </a:tr>
              <a:tr h="347472">
                <a:tc>
                  <a:txBody>
                    <a:bodyPr/>
                    <a:lstStyle/>
                    <a:p>
                      <a:pPr algn="l"/>
                      <a:r>
                        <a:rPr sz="1200" b="1">
                          <a:solidFill>
                            <a:srgbClr val="15171E"/>
                          </a:solidFill>
                          <a:latin typeface="Inter"/>
                        </a:rPr>
                        <a:t>Final: funded</a:t>
                      </a:r>
                    </a:p>
                  </a:txBody>
                  <a:tcPr marT="27432" marB="27432" anchor="ctr">
                    <a:solidFill>
                      <a:srgbClr val="E8EEFB"/>
                    </a:solidFill>
                  </a:tcPr>
                </a:tc>
                <a:tc>
                  <a:txBody>
                    <a:bodyPr/>
                    <a:lstStyle/>
                    <a:p>
                      <a:pPr algn="r"/>
                      <a:r>
                        <a:rPr sz="1200" b="0">
                          <a:solidFill>
                            <a:srgbClr val="15171E"/>
                          </a:solidFill>
                          <a:latin typeface="Inter"/>
                        </a:rPr>
                        <a:t>133,652 (36.4%)</a:t>
                      </a:r>
                    </a:p>
                  </a:txBody>
                  <a:tcPr marT="27432" marB="27432" anchor="ctr">
                    <a:solidFill>
                      <a:srgbClr val="E8EEFB"/>
                    </a:solidFill>
                  </a:tcPr>
                </a:tc>
                <a:tc>
                  <a:txBody>
                    <a:bodyPr/>
                    <a:lstStyle/>
                    <a:p>
                      <a:pPr algn="l"/>
                      <a:r>
                        <a:rPr sz="1200" b="1">
                          <a:solidFill>
                            <a:srgbClr val="2F5FC4"/>
                          </a:solidFill>
                          <a:latin typeface="Inter"/>
                        </a:rPr>
                        <a:t>Target = 1</a:t>
                      </a:r>
                    </a:p>
                  </a:txBody>
                  <a:tcPr marT="27432" marB="27432" anchor="ctr">
                    <a:solidFill>
                      <a:srgbClr val="E8EEFB"/>
                    </a:solidFill>
                  </a:tcPr>
                </a:tc>
                <a:tc>
                  <a:txBody>
                    <a:bodyPr/>
                    <a:lstStyle/>
                    <a:p>
                      <a:pPr algn="l"/>
                      <a:r>
                        <a:rPr sz="1200" b="0">
                          <a:solidFill>
                            <a:srgbClr val="15171E"/>
                          </a:solidFill>
                          <a:latin typeface="Inter"/>
                        </a:rPr>
                        <a:t>Successful projects left after all cleaning</a:t>
                      </a:r>
                    </a:p>
                  </a:txBody>
                  <a:tcPr marT="27432" marB="27432" anchor="ctr">
                    <a:solidFill>
                      <a:srgbClr val="E8EEFB"/>
                    </a:solidFill>
                  </a:tcPr>
                </a:tc>
                <a:extLst>
                  <a:ext uri="{0D108BD9-81ED-4DB2-BD59-A6C34878D82A}">
                    <a16:rowId xmlns:a16="http://schemas.microsoft.com/office/drawing/2014/main" val="3638435506"/>
                  </a:ext>
                </a:extLst>
              </a:tr>
              <a:tr h="347472">
                <a:tc>
                  <a:txBody>
                    <a:bodyPr/>
                    <a:lstStyle/>
                    <a:p>
                      <a:pPr algn="l"/>
                      <a:r>
                        <a:rPr sz="1200" b="1">
                          <a:solidFill>
                            <a:srgbClr val="15171E"/>
                          </a:solidFill>
                          <a:latin typeface="Inter"/>
                        </a:rPr>
                        <a:t>Final: not funded</a:t>
                      </a:r>
                    </a:p>
                  </a:txBody>
                  <a:tcPr marT="27432" marB="27432" anchor="ctr">
                    <a:solidFill>
                      <a:srgbClr val="E8EEFB"/>
                    </a:solidFill>
                  </a:tcPr>
                </a:tc>
                <a:tc>
                  <a:txBody>
                    <a:bodyPr/>
                    <a:lstStyle/>
                    <a:p>
                      <a:pPr algn="r"/>
                      <a:r>
                        <a:rPr sz="1200" b="0">
                          <a:solidFill>
                            <a:srgbClr val="15171E"/>
                          </a:solidFill>
                          <a:latin typeface="Inter"/>
                        </a:rPr>
                        <a:t>233,038 (63.6%)</a:t>
                      </a:r>
                    </a:p>
                  </a:txBody>
                  <a:tcPr marT="27432" marB="27432" anchor="ctr">
                    <a:solidFill>
                      <a:srgbClr val="E8EEFB"/>
                    </a:solidFill>
                  </a:tcPr>
                </a:tc>
                <a:tc>
                  <a:txBody>
                    <a:bodyPr/>
                    <a:lstStyle/>
                    <a:p>
                      <a:pPr algn="l"/>
                      <a:r>
                        <a:rPr sz="1200" b="1">
                          <a:solidFill>
                            <a:srgbClr val="2F5FC4"/>
                          </a:solidFill>
                          <a:latin typeface="Inter"/>
                        </a:rPr>
                        <a:t>Target = 0</a:t>
                      </a:r>
                    </a:p>
                  </a:txBody>
                  <a:tcPr marT="27432" marB="27432" anchor="ctr">
                    <a:solidFill>
                      <a:srgbClr val="E8EEFB"/>
                    </a:solidFill>
                  </a:tcPr>
                </a:tc>
                <a:tc>
                  <a:txBody>
                    <a:bodyPr/>
                    <a:lstStyle/>
                    <a:p>
                      <a:pPr algn="l"/>
                      <a:r>
                        <a:rPr sz="1200" b="0">
                          <a:solidFill>
                            <a:srgbClr val="15171E"/>
                          </a:solidFill>
                          <a:latin typeface="Inter"/>
                        </a:rPr>
                        <a:t>197,076 failed + 35,962 canceled under 50% of goal</a:t>
                      </a:r>
                    </a:p>
                  </a:txBody>
                  <a:tcPr marT="27432" marB="27432" anchor="ctr">
                    <a:solidFill>
                      <a:srgbClr val="E8EEFB"/>
                    </a:solidFill>
                  </a:tcPr>
                </a:tc>
                <a:extLst>
                  <a:ext uri="{0D108BD9-81ED-4DB2-BD59-A6C34878D82A}">
                    <a16:rowId xmlns:a16="http://schemas.microsoft.com/office/drawing/2014/main" val="313536012"/>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1097280"/>
            <a:ext cx="10545775" cy="548640"/>
          </a:xfrm>
        </p:spPr>
        <p:txBody>
          <a:bodyPr lIns="0" tIns="0" rIns="0" bIns="0" anchor="t"/>
          <a:lstStyle/>
          <a:p>
            <a:pPr algn="l"/>
            <a:r>
              <a:rPr sz="3200" b="1">
                <a:solidFill>
                  <a:srgbClr val="15171E"/>
                </a:solidFill>
                <a:latin typeface="Space Grotesk"/>
              </a:rPr>
              <a:t>Features: leakage out, redundancy out, signal in</a:t>
            </a:r>
          </a:p>
        </p:txBody>
      </p:sp>
      <p:sp>
        <p:nvSpPr>
          <p:cNvPr id="3" name="Eyebrow"/>
          <p:cNvSpPr txBox="1"/>
          <p:nvPr/>
        </p:nvSpPr>
        <p:spPr>
          <a:xfrm>
            <a:off x="822960" y="822960"/>
            <a:ext cx="10545775" cy="274320"/>
          </a:xfrm>
          <a:prstGeom prst="rect">
            <a:avLst/>
          </a:prstGeom>
          <a:noFill/>
        </p:spPr>
        <p:txBody>
          <a:bodyPr wrap="square" lIns="0" tIns="0" rIns="0" bIns="0" anchor="t">
            <a:spAutoFit/>
          </a:bodyPr>
          <a:lstStyle/>
          <a:p>
            <a:pPr algn="l">
              <a:spcAft>
                <a:spcPts val="0"/>
              </a:spcAft>
            </a:pPr>
            <a:r>
              <a:rPr sz="1200" b="1">
                <a:solidFill>
                  <a:srgbClr val="B8401A"/>
                </a:solidFill>
                <a:latin typeface="Inter"/>
              </a:rPr>
              <a:t>02 · DATA FOUNDATION</a:t>
            </a:r>
          </a:p>
        </p:txBody>
      </p:sp>
      <p:sp>
        <p:nvSpPr>
          <p:cNvPr id="4" name="Footer"/>
          <p:cNvSpPr txBox="1"/>
          <p:nvPr/>
        </p:nvSpPr>
        <p:spPr>
          <a:xfrm>
            <a:off x="822960" y="6217920"/>
            <a:ext cx="7863840" cy="274320"/>
          </a:xfrm>
          <a:prstGeom prst="rect">
            <a:avLst/>
          </a:prstGeom>
          <a:noFill/>
        </p:spPr>
        <p:txBody>
          <a:bodyPr wrap="square" lIns="0" tIns="0" rIns="0" bIns="0" anchor="t">
            <a:spAutoFit/>
          </a:bodyPr>
          <a:lstStyle/>
          <a:p>
            <a:pPr algn="l">
              <a:spcAft>
                <a:spcPts val="0"/>
              </a:spcAft>
            </a:pPr>
            <a:r>
              <a:rPr sz="1200" b="0">
                <a:solidFill>
                  <a:srgbClr val="6B6E76"/>
                </a:solidFill>
                <a:latin typeface="Inter"/>
              </a:rPr>
              <a:t>Outliers · Will your Kickstarter get funded?</a:t>
            </a:r>
          </a:p>
        </p:txBody>
      </p:sp>
      <p:sp>
        <p:nvSpPr>
          <p:cNvPr id="5" name="Leakage box"/>
          <p:cNvSpPr/>
          <p:nvPr/>
        </p:nvSpPr>
        <p:spPr>
          <a:xfrm>
            <a:off x="822960" y="1783080"/>
            <a:ext cx="5120640" cy="4206240"/>
          </a:xfrm>
          <a:prstGeom prst="roundRect">
            <a:avLst>
              <a:gd name="adj" fmla="val 4000"/>
            </a:avLst>
          </a:prstGeom>
          <a:solidFill>
            <a:srgbClr val="151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Leakage heading"/>
          <p:cNvSpPr txBox="1"/>
          <p:nvPr/>
        </p:nvSpPr>
        <p:spPr>
          <a:xfrm>
            <a:off x="1097280" y="2011680"/>
            <a:ext cx="4572000" cy="320040"/>
          </a:xfrm>
          <a:prstGeom prst="rect">
            <a:avLst/>
          </a:prstGeom>
          <a:noFill/>
        </p:spPr>
        <p:txBody>
          <a:bodyPr wrap="square" lIns="0" tIns="0" rIns="0" bIns="0" anchor="t">
            <a:spAutoFit/>
          </a:bodyPr>
          <a:lstStyle/>
          <a:p>
            <a:pPr algn="l">
              <a:spcAft>
                <a:spcPts val="0"/>
              </a:spcAft>
            </a:pPr>
            <a:r>
              <a:rPr sz="1700" b="1">
                <a:solidFill>
                  <a:srgbClr val="FF7A4D"/>
                </a:solidFill>
                <a:latin typeface="Space Grotesk"/>
              </a:rPr>
              <a:t>Leakage: the strongest columns had to go</a:t>
            </a:r>
          </a:p>
        </p:txBody>
      </p:sp>
      <p:sp>
        <p:nvSpPr>
          <p:cNvPr id="7" name="Leakage text"/>
          <p:cNvSpPr txBox="1"/>
          <p:nvPr/>
        </p:nvSpPr>
        <p:spPr>
          <a:xfrm>
            <a:off x="1097280" y="2468880"/>
            <a:ext cx="4572000" cy="600164"/>
          </a:xfrm>
          <a:prstGeom prst="rect">
            <a:avLst/>
          </a:prstGeom>
          <a:noFill/>
        </p:spPr>
        <p:txBody>
          <a:bodyPr wrap="square" lIns="0" tIns="0" rIns="0" bIns="0" anchor="t">
            <a:spAutoFit/>
          </a:bodyPr>
          <a:lstStyle/>
          <a:p>
            <a:pPr algn="l">
              <a:spcAft>
                <a:spcPts val="0"/>
              </a:spcAft>
            </a:pPr>
            <a:r>
              <a:rPr lang="es-ES" sz="1300" b="1" dirty="0">
                <a:solidFill>
                  <a:srgbClr val="FFFFFF"/>
                </a:solidFill>
                <a:latin typeface="Inter"/>
              </a:rPr>
              <a:t>P</a:t>
            </a:r>
            <a:r>
              <a:rPr sz="1300" b="1" dirty="0">
                <a:solidFill>
                  <a:srgbClr val="FFFFFF"/>
                </a:solidFill>
                <a:latin typeface="Inter"/>
              </a:rPr>
              <a:t>ledged</a:t>
            </a:r>
            <a:r>
              <a:rPr lang="es-ES" sz="1300" b="1" dirty="0">
                <a:solidFill>
                  <a:srgbClr val="FFFFFF"/>
                </a:solidFill>
                <a:latin typeface="Inter"/>
              </a:rPr>
              <a:t> </a:t>
            </a:r>
            <a:r>
              <a:rPr sz="1300" b="0" dirty="0">
                <a:solidFill>
                  <a:srgbClr val="D6D8DD"/>
                </a:solidFill>
                <a:latin typeface="Inter"/>
              </a:rPr>
              <a:t>and </a:t>
            </a:r>
            <a:r>
              <a:rPr sz="1300" b="1" dirty="0">
                <a:solidFill>
                  <a:srgbClr val="FFFFFF"/>
                </a:solidFill>
                <a:latin typeface="Inter"/>
              </a:rPr>
              <a:t>backers</a:t>
            </a:r>
            <a:r>
              <a:rPr sz="1300" b="0" dirty="0">
                <a:solidFill>
                  <a:srgbClr val="D6D8DD"/>
                </a:solidFill>
                <a:latin typeface="Inter"/>
              </a:rPr>
              <a:t> were the most predictive columns, but they are only known after the campaign ends. Pledged ≥ goal is the definition of success (matches 99.997%).</a:t>
            </a:r>
          </a:p>
        </p:txBody>
      </p:sp>
      <p:sp>
        <p:nvSpPr>
          <p:cNvPr id="8" name="Leakage check label"/>
          <p:cNvSpPr txBox="1"/>
          <p:nvPr/>
        </p:nvSpPr>
        <p:spPr>
          <a:xfrm>
            <a:off x="1097280" y="3657600"/>
            <a:ext cx="4572000" cy="274320"/>
          </a:xfrm>
          <a:prstGeom prst="rect">
            <a:avLst/>
          </a:prstGeom>
          <a:noFill/>
        </p:spPr>
        <p:txBody>
          <a:bodyPr wrap="square" lIns="0" tIns="0" rIns="0" bIns="0" anchor="t">
            <a:spAutoFit/>
          </a:bodyPr>
          <a:lstStyle/>
          <a:p>
            <a:pPr algn="l">
              <a:spcAft>
                <a:spcPts val="0"/>
              </a:spcAft>
            </a:pPr>
            <a:r>
              <a:rPr sz="1200" b="0">
                <a:solidFill>
                  <a:srgbClr val="D6D8DD"/>
                </a:solidFill>
                <a:latin typeface="Inter"/>
              </a:rPr>
              <a:t>Quick model check, ROC-AUC (1.0 = perfect):</a:t>
            </a:r>
          </a:p>
        </p:txBody>
      </p:sp>
      <p:sp>
        <p:nvSpPr>
          <p:cNvPr id="9" name="Leakage label 1"/>
          <p:cNvSpPr txBox="1"/>
          <p:nvPr/>
        </p:nvSpPr>
        <p:spPr>
          <a:xfrm>
            <a:off x="1097280" y="3995928"/>
            <a:ext cx="1325880" cy="200055"/>
          </a:xfrm>
          <a:prstGeom prst="rect">
            <a:avLst/>
          </a:prstGeom>
          <a:noFill/>
        </p:spPr>
        <p:txBody>
          <a:bodyPr wrap="square" lIns="0" tIns="0" rIns="0" bIns="0" anchor="t">
            <a:spAutoFit/>
          </a:bodyPr>
          <a:lstStyle/>
          <a:p>
            <a:pPr algn="l">
              <a:spcAft>
                <a:spcPts val="0"/>
              </a:spcAft>
            </a:pPr>
            <a:r>
              <a:rPr sz="1300" b="0" dirty="0">
                <a:solidFill>
                  <a:srgbClr val="FFFFFF"/>
                </a:solidFill>
                <a:latin typeface="Inter"/>
              </a:rPr>
              <a:t>Goal + </a:t>
            </a:r>
            <a:r>
              <a:rPr lang="es-ES" sz="1300" b="0" dirty="0" err="1">
                <a:solidFill>
                  <a:srgbClr val="FFFFFF"/>
                </a:solidFill>
                <a:latin typeface="Inter"/>
              </a:rPr>
              <a:t>duration</a:t>
            </a:r>
            <a:endParaRPr sz="1300" b="0" dirty="0">
              <a:solidFill>
                <a:srgbClr val="FFFFFF"/>
              </a:solidFill>
              <a:latin typeface="Inter"/>
            </a:endParaRPr>
          </a:p>
        </p:txBody>
      </p:sp>
      <p:sp>
        <p:nvSpPr>
          <p:cNvPr id="10" name="Leakage bar 1"/>
          <p:cNvSpPr/>
          <p:nvPr/>
        </p:nvSpPr>
        <p:spPr>
          <a:xfrm>
            <a:off x="2514600" y="4032504"/>
            <a:ext cx="1592884" cy="201168"/>
          </a:xfrm>
          <a:prstGeom prst="rect">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Leakage value 1"/>
          <p:cNvSpPr txBox="1"/>
          <p:nvPr/>
        </p:nvSpPr>
        <p:spPr>
          <a:xfrm>
            <a:off x="4198924" y="3995928"/>
            <a:ext cx="731520" cy="256032"/>
          </a:xfrm>
          <a:prstGeom prst="rect">
            <a:avLst/>
          </a:prstGeom>
          <a:noFill/>
        </p:spPr>
        <p:txBody>
          <a:bodyPr wrap="square" lIns="0" tIns="0" rIns="0" bIns="0" anchor="t">
            <a:spAutoFit/>
          </a:bodyPr>
          <a:lstStyle/>
          <a:p>
            <a:pPr algn="l">
              <a:spcAft>
                <a:spcPts val="0"/>
              </a:spcAft>
            </a:pPr>
            <a:r>
              <a:rPr sz="1300" b="1">
                <a:solidFill>
                  <a:srgbClr val="FFFFFF"/>
                </a:solidFill>
                <a:latin typeface="Inter"/>
              </a:rPr>
              <a:t>0.67</a:t>
            </a:r>
          </a:p>
        </p:txBody>
      </p:sp>
      <p:sp>
        <p:nvSpPr>
          <p:cNvPr id="12" name="Leakage label 2"/>
          <p:cNvSpPr txBox="1"/>
          <p:nvPr/>
        </p:nvSpPr>
        <p:spPr>
          <a:xfrm>
            <a:off x="1097280" y="4325112"/>
            <a:ext cx="1325880" cy="256032"/>
          </a:xfrm>
          <a:prstGeom prst="rect">
            <a:avLst/>
          </a:prstGeom>
          <a:noFill/>
        </p:spPr>
        <p:txBody>
          <a:bodyPr wrap="square" lIns="0" tIns="0" rIns="0" bIns="0" anchor="t">
            <a:spAutoFit/>
          </a:bodyPr>
          <a:lstStyle/>
          <a:p>
            <a:pPr algn="l">
              <a:spcAft>
                <a:spcPts val="0"/>
              </a:spcAft>
            </a:pPr>
            <a:r>
              <a:rPr sz="1300" b="0">
                <a:solidFill>
                  <a:srgbClr val="FFFFFF"/>
                </a:solidFill>
                <a:latin typeface="Inter"/>
              </a:rPr>
              <a:t>+ backers</a:t>
            </a:r>
          </a:p>
        </p:txBody>
      </p:sp>
      <p:sp>
        <p:nvSpPr>
          <p:cNvPr id="13" name="Leakage bar 2"/>
          <p:cNvSpPr/>
          <p:nvPr/>
        </p:nvSpPr>
        <p:spPr>
          <a:xfrm>
            <a:off x="2514600" y="4361688"/>
            <a:ext cx="2329891" cy="201168"/>
          </a:xfrm>
          <a:prstGeom prst="rect">
            <a:avLst/>
          </a:prstGeom>
          <a:solidFill>
            <a:srgbClr val="F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Leakage value 2"/>
          <p:cNvSpPr txBox="1"/>
          <p:nvPr/>
        </p:nvSpPr>
        <p:spPr>
          <a:xfrm>
            <a:off x="4935931" y="4325112"/>
            <a:ext cx="731520" cy="256032"/>
          </a:xfrm>
          <a:prstGeom prst="rect">
            <a:avLst/>
          </a:prstGeom>
          <a:noFill/>
        </p:spPr>
        <p:txBody>
          <a:bodyPr wrap="square" lIns="0" tIns="0" rIns="0" bIns="0" anchor="t">
            <a:spAutoFit/>
          </a:bodyPr>
          <a:lstStyle/>
          <a:p>
            <a:pPr algn="l">
              <a:spcAft>
                <a:spcPts val="0"/>
              </a:spcAft>
            </a:pPr>
            <a:r>
              <a:rPr sz="1300" b="1">
                <a:solidFill>
                  <a:srgbClr val="FFFFFF"/>
                </a:solidFill>
                <a:latin typeface="Inter"/>
              </a:rPr>
              <a:t>0.98</a:t>
            </a:r>
          </a:p>
        </p:txBody>
      </p:sp>
      <p:sp>
        <p:nvSpPr>
          <p:cNvPr id="15" name="Leakage label 3"/>
          <p:cNvSpPr txBox="1"/>
          <p:nvPr/>
        </p:nvSpPr>
        <p:spPr>
          <a:xfrm>
            <a:off x="1097280" y="4654296"/>
            <a:ext cx="1325880" cy="256032"/>
          </a:xfrm>
          <a:prstGeom prst="rect">
            <a:avLst/>
          </a:prstGeom>
          <a:noFill/>
        </p:spPr>
        <p:txBody>
          <a:bodyPr wrap="square" lIns="0" tIns="0" rIns="0" bIns="0" anchor="t">
            <a:spAutoFit/>
          </a:bodyPr>
          <a:lstStyle/>
          <a:p>
            <a:pPr algn="l">
              <a:spcAft>
                <a:spcPts val="0"/>
              </a:spcAft>
            </a:pPr>
            <a:r>
              <a:rPr sz="1300" b="0">
                <a:solidFill>
                  <a:srgbClr val="FFFFFF"/>
                </a:solidFill>
                <a:latin typeface="Inter"/>
              </a:rPr>
              <a:t>+ pledged $</a:t>
            </a:r>
          </a:p>
        </p:txBody>
      </p:sp>
      <p:sp>
        <p:nvSpPr>
          <p:cNvPr id="16" name="Leakage bar 3"/>
          <p:cNvSpPr/>
          <p:nvPr/>
        </p:nvSpPr>
        <p:spPr>
          <a:xfrm>
            <a:off x="2514600" y="4690872"/>
            <a:ext cx="2377202" cy="201168"/>
          </a:xfrm>
          <a:prstGeom prst="rect">
            <a:avLst/>
          </a:prstGeom>
          <a:solidFill>
            <a:srgbClr val="F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Leakage value 3"/>
          <p:cNvSpPr txBox="1"/>
          <p:nvPr/>
        </p:nvSpPr>
        <p:spPr>
          <a:xfrm>
            <a:off x="4983242" y="4654296"/>
            <a:ext cx="731520" cy="256032"/>
          </a:xfrm>
          <a:prstGeom prst="rect">
            <a:avLst/>
          </a:prstGeom>
          <a:noFill/>
        </p:spPr>
        <p:txBody>
          <a:bodyPr wrap="square" lIns="0" tIns="0" rIns="0" bIns="0" anchor="t">
            <a:spAutoFit/>
          </a:bodyPr>
          <a:lstStyle/>
          <a:p>
            <a:pPr algn="l">
              <a:spcAft>
                <a:spcPts val="0"/>
              </a:spcAft>
            </a:pPr>
            <a:r>
              <a:rPr sz="1300" b="1">
                <a:solidFill>
                  <a:srgbClr val="FFFFFF"/>
                </a:solidFill>
                <a:latin typeface="Inter"/>
              </a:rPr>
              <a:t>0.9999</a:t>
            </a:r>
          </a:p>
        </p:txBody>
      </p:sp>
      <p:sp>
        <p:nvSpPr>
          <p:cNvPr id="18" name="Leakage conclusion"/>
          <p:cNvSpPr txBox="1"/>
          <p:nvPr/>
        </p:nvSpPr>
        <p:spPr>
          <a:xfrm>
            <a:off x="1097280" y="5074920"/>
            <a:ext cx="4572000" cy="822960"/>
          </a:xfrm>
          <a:prstGeom prst="rect">
            <a:avLst/>
          </a:prstGeom>
          <a:noFill/>
        </p:spPr>
        <p:txBody>
          <a:bodyPr wrap="square" lIns="0" tIns="0" rIns="0" bIns="0" anchor="t">
            <a:spAutoFit/>
          </a:bodyPr>
          <a:lstStyle/>
          <a:p>
            <a:pPr algn="l">
              <a:spcAft>
                <a:spcPts val="0"/>
              </a:spcAft>
            </a:pPr>
            <a:r>
              <a:rPr sz="1300" b="0">
                <a:solidFill>
                  <a:srgbClr val="FFFFFF"/>
                </a:solidFill>
                <a:latin typeface="Inter"/>
              </a:rPr>
              <a:t>Kept in, they make the model look perfect but useless before launch. Without them, launch-time facts alone are weak (0.67), so we engineered more signal.</a:t>
            </a:r>
          </a:p>
        </p:txBody>
      </p:sp>
      <p:sp>
        <p:nvSpPr>
          <p:cNvPr id="19" name="Feature card 1"/>
          <p:cNvSpPr/>
          <p:nvPr/>
        </p:nvSpPr>
        <p:spPr>
          <a:xfrm>
            <a:off x="6217920" y="1783080"/>
            <a:ext cx="5150815" cy="1600200"/>
          </a:xfrm>
          <a:prstGeom prst="roundRect">
            <a:avLst>
              <a:gd name="adj" fmla="val 4000"/>
            </a:avLst>
          </a:prstGeom>
          <a:solidFill>
            <a:srgbClr val="FFFDF8"/>
          </a:solidFill>
          <a:ln w="9525">
            <a:solidFill>
              <a:srgbClr val="E3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Feature card 1 heading"/>
          <p:cNvSpPr txBox="1"/>
          <p:nvPr/>
        </p:nvSpPr>
        <p:spPr>
          <a:xfrm>
            <a:off x="6446520" y="1938528"/>
            <a:ext cx="4693615" cy="230832"/>
          </a:xfrm>
          <a:prstGeom prst="rect">
            <a:avLst/>
          </a:prstGeom>
          <a:noFill/>
        </p:spPr>
        <p:txBody>
          <a:bodyPr wrap="square" lIns="0" tIns="0" rIns="0" bIns="0" anchor="t">
            <a:spAutoFit/>
          </a:bodyPr>
          <a:lstStyle/>
          <a:p>
            <a:pPr algn="l">
              <a:spcAft>
                <a:spcPts val="0"/>
              </a:spcAft>
            </a:pPr>
            <a:r>
              <a:rPr sz="1500" b="1" dirty="0">
                <a:solidFill>
                  <a:srgbClr val="2F5FC4"/>
                </a:solidFill>
                <a:latin typeface="Space Grotesk"/>
              </a:rPr>
              <a:t>Feature engineering: new features</a:t>
            </a:r>
          </a:p>
        </p:txBody>
      </p:sp>
      <p:sp>
        <p:nvSpPr>
          <p:cNvPr id="21" name="Feature card 1 text"/>
          <p:cNvSpPr txBox="1"/>
          <p:nvPr/>
        </p:nvSpPr>
        <p:spPr>
          <a:xfrm>
            <a:off x="6446520" y="2267712"/>
            <a:ext cx="4693615" cy="1000274"/>
          </a:xfrm>
          <a:prstGeom prst="rect">
            <a:avLst/>
          </a:prstGeom>
          <a:noFill/>
        </p:spPr>
        <p:txBody>
          <a:bodyPr wrap="square" lIns="0" tIns="0" rIns="0" bIns="0" anchor="t">
            <a:spAutoFit/>
          </a:bodyPr>
          <a:lstStyle/>
          <a:p>
            <a:pPr algn="l">
              <a:spcAft>
                <a:spcPts val="300"/>
              </a:spcAft>
            </a:pPr>
            <a:r>
              <a:rPr sz="1200" b="1" dirty="0">
                <a:solidFill>
                  <a:srgbClr val="15171E"/>
                </a:solidFill>
                <a:latin typeface="Inter"/>
              </a:rPr>
              <a:t>Campaign duration</a:t>
            </a:r>
            <a:r>
              <a:rPr sz="1200" b="0" dirty="0">
                <a:solidFill>
                  <a:srgbClr val="15171E"/>
                </a:solidFill>
                <a:latin typeface="Inter"/>
              </a:rPr>
              <a:t> (deadline − launch): 30-day campaigns 32% funded, 60-day only 19%.</a:t>
            </a:r>
          </a:p>
          <a:p>
            <a:pPr algn="l">
              <a:spcAft>
                <a:spcPts val="300"/>
              </a:spcAft>
            </a:pPr>
            <a:r>
              <a:rPr sz="1200" b="1" dirty="0">
                <a:solidFill>
                  <a:srgbClr val="15171E"/>
                </a:solidFill>
                <a:latin typeface="Inter"/>
              </a:rPr>
              <a:t>Goal vs category</a:t>
            </a:r>
            <a:r>
              <a:rPr lang="nl-BE" sz="1200" dirty="0">
                <a:solidFill>
                  <a:srgbClr val="15171E"/>
                </a:solidFill>
                <a:latin typeface="Inter"/>
              </a:rPr>
              <a:t> </a:t>
            </a:r>
            <a:r>
              <a:rPr sz="1200" b="0" dirty="0">
                <a:solidFill>
                  <a:srgbClr val="15171E"/>
                </a:solidFill>
                <a:latin typeface="Inter"/>
              </a:rPr>
              <a:t>Makes goals comparable across categories; boosted our simpler model.</a:t>
            </a:r>
            <a:endParaRPr lang="nl-BE" sz="1200" b="0" dirty="0">
              <a:solidFill>
                <a:srgbClr val="15171E"/>
              </a:solidFill>
              <a:latin typeface="Inter"/>
            </a:endParaRPr>
          </a:p>
          <a:p>
            <a:pPr algn="l">
              <a:spcAft>
                <a:spcPts val="300"/>
              </a:spcAft>
            </a:pPr>
            <a:r>
              <a:rPr lang="en-US" sz="1200" b="1" dirty="0">
                <a:solidFill>
                  <a:srgbClr val="15171E"/>
                </a:solidFill>
                <a:latin typeface="Inter"/>
              </a:rPr>
              <a:t>Name length </a:t>
            </a:r>
            <a:r>
              <a:rPr lang="en-US" sz="1200" dirty="0">
                <a:solidFill>
                  <a:srgbClr val="15171E"/>
                </a:solidFill>
                <a:latin typeface="Inter"/>
              </a:rPr>
              <a:t>Certain correlation with outcome</a:t>
            </a:r>
            <a:endParaRPr sz="1200" dirty="0">
              <a:solidFill>
                <a:srgbClr val="15171E"/>
              </a:solidFill>
              <a:latin typeface="Inter"/>
            </a:endParaRPr>
          </a:p>
        </p:txBody>
      </p:sp>
      <p:sp>
        <p:nvSpPr>
          <p:cNvPr id="22" name="Feature card 2"/>
          <p:cNvSpPr/>
          <p:nvPr/>
        </p:nvSpPr>
        <p:spPr>
          <a:xfrm>
            <a:off x="6217920" y="3566160"/>
            <a:ext cx="5150815" cy="1143000"/>
          </a:xfrm>
          <a:prstGeom prst="roundRect">
            <a:avLst>
              <a:gd name="adj" fmla="val 4000"/>
            </a:avLst>
          </a:prstGeom>
          <a:solidFill>
            <a:srgbClr val="FFFDF8"/>
          </a:solidFill>
          <a:ln w="9525">
            <a:solidFill>
              <a:srgbClr val="E3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Feature card 2 heading"/>
          <p:cNvSpPr txBox="1"/>
          <p:nvPr/>
        </p:nvSpPr>
        <p:spPr>
          <a:xfrm>
            <a:off x="6446520" y="3721608"/>
            <a:ext cx="4693615" cy="320040"/>
          </a:xfrm>
          <a:prstGeom prst="rect">
            <a:avLst/>
          </a:prstGeom>
          <a:noFill/>
        </p:spPr>
        <p:txBody>
          <a:bodyPr wrap="square" lIns="0" tIns="0" rIns="0" bIns="0" anchor="t">
            <a:spAutoFit/>
          </a:bodyPr>
          <a:lstStyle/>
          <a:p>
            <a:pPr algn="l">
              <a:spcAft>
                <a:spcPts val="0"/>
              </a:spcAft>
            </a:pPr>
            <a:r>
              <a:rPr sz="1500" b="1" dirty="0">
                <a:solidFill>
                  <a:srgbClr val="B8401A"/>
                </a:solidFill>
                <a:latin typeface="Space Grotesk"/>
              </a:rPr>
              <a:t>Redundant columns dropped</a:t>
            </a:r>
          </a:p>
        </p:txBody>
      </p:sp>
      <p:sp>
        <p:nvSpPr>
          <p:cNvPr id="24" name="Feature card 2 text"/>
          <p:cNvSpPr txBox="1"/>
          <p:nvPr/>
        </p:nvSpPr>
        <p:spPr>
          <a:xfrm>
            <a:off x="6446520" y="4050791"/>
            <a:ext cx="4693615" cy="369332"/>
          </a:xfrm>
          <a:prstGeom prst="rect">
            <a:avLst/>
          </a:prstGeom>
          <a:noFill/>
        </p:spPr>
        <p:txBody>
          <a:bodyPr wrap="square" lIns="0" tIns="0" rIns="0" bIns="0" anchor="t">
            <a:spAutoFit/>
          </a:bodyPr>
          <a:lstStyle/>
          <a:p>
            <a:pPr algn="l">
              <a:spcAft>
                <a:spcPts val="300"/>
              </a:spcAft>
            </a:pPr>
            <a:r>
              <a:rPr lang="es-ES" sz="1200" b="1" dirty="0" err="1">
                <a:solidFill>
                  <a:srgbClr val="15171E"/>
                </a:solidFill>
                <a:latin typeface="Inter"/>
              </a:rPr>
              <a:t>Main</a:t>
            </a:r>
            <a:r>
              <a:rPr lang="es-ES" sz="1200" b="1" dirty="0">
                <a:solidFill>
                  <a:srgbClr val="15171E"/>
                </a:solidFill>
                <a:latin typeface="Inter"/>
              </a:rPr>
              <a:t> </a:t>
            </a:r>
            <a:r>
              <a:rPr sz="1200" b="1" dirty="0">
                <a:solidFill>
                  <a:srgbClr val="15171E"/>
                </a:solidFill>
                <a:latin typeface="Inter"/>
              </a:rPr>
              <a:t>category</a:t>
            </a:r>
            <a:r>
              <a:rPr sz="1200" b="0" dirty="0">
                <a:solidFill>
                  <a:srgbClr val="15171E"/>
                </a:solidFill>
                <a:latin typeface="Inter"/>
              </a:rPr>
              <a:t> (15 groups; category, 159, is more detailed) · </a:t>
            </a:r>
            <a:r>
              <a:rPr sz="1200" b="1" dirty="0">
                <a:solidFill>
                  <a:srgbClr val="15171E"/>
                </a:solidFill>
                <a:latin typeface="Inter"/>
              </a:rPr>
              <a:t>currency</a:t>
            </a:r>
            <a:r>
              <a:rPr sz="1200" b="0" dirty="0">
                <a:solidFill>
                  <a:srgbClr val="15171E"/>
                </a:solidFill>
                <a:latin typeface="Inter"/>
              </a:rPr>
              <a:t> (country explains it) · goal in local currency (USD kept) · ID.</a:t>
            </a:r>
          </a:p>
        </p:txBody>
      </p:sp>
      <p:sp>
        <p:nvSpPr>
          <p:cNvPr id="25" name="Feature card 3"/>
          <p:cNvSpPr/>
          <p:nvPr/>
        </p:nvSpPr>
        <p:spPr>
          <a:xfrm>
            <a:off x="6217920" y="4892040"/>
            <a:ext cx="5150815" cy="1097280"/>
          </a:xfrm>
          <a:prstGeom prst="roundRect">
            <a:avLst>
              <a:gd name="adj" fmla="val 4000"/>
            </a:avLst>
          </a:prstGeom>
          <a:solidFill>
            <a:srgbClr val="FFFDF8"/>
          </a:solidFill>
          <a:ln w="9525">
            <a:solidFill>
              <a:srgbClr val="E3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Feature card 3 heading"/>
          <p:cNvSpPr txBox="1"/>
          <p:nvPr/>
        </p:nvSpPr>
        <p:spPr>
          <a:xfrm>
            <a:off x="6446520" y="5047488"/>
            <a:ext cx="4693615" cy="320040"/>
          </a:xfrm>
          <a:prstGeom prst="rect">
            <a:avLst/>
          </a:prstGeom>
          <a:noFill/>
        </p:spPr>
        <p:txBody>
          <a:bodyPr wrap="square" lIns="0" tIns="0" rIns="0" bIns="0" anchor="t">
            <a:spAutoFit/>
          </a:bodyPr>
          <a:lstStyle/>
          <a:p>
            <a:pPr algn="l">
              <a:spcAft>
                <a:spcPts val="0"/>
              </a:spcAft>
            </a:pPr>
            <a:r>
              <a:rPr sz="1500" b="1">
                <a:solidFill>
                  <a:srgbClr val="15171E"/>
                </a:solidFill>
                <a:latin typeface="Space Grotesk"/>
              </a:rPr>
              <a:t>Outliers kept, goal on a log scale</a:t>
            </a:r>
          </a:p>
        </p:txBody>
      </p:sp>
      <p:sp>
        <p:nvSpPr>
          <p:cNvPr id="27" name="Feature card 3 text"/>
          <p:cNvSpPr txBox="1"/>
          <p:nvPr/>
        </p:nvSpPr>
        <p:spPr>
          <a:xfrm>
            <a:off x="6446520" y="5376672"/>
            <a:ext cx="4693615" cy="548640"/>
          </a:xfrm>
          <a:prstGeom prst="rect">
            <a:avLst/>
          </a:prstGeom>
          <a:noFill/>
        </p:spPr>
        <p:txBody>
          <a:bodyPr wrap="square" lIns="0" tIns="0" rIns="0" bIns="0" anchor="t">
            <a:spAutoFit/>
          </a:bodyPr>
          <a:lstStyle/>
          <a:p>
            <a:pPr algn="l">
              <a:spcAft>
                <a:spcPts val="300"/>
              </a:spcAft>
            </a:pPr>
            <a:r>
              <a:rPr sz="1200" b="0">
                <a:solidFill>
                  <a:srgbClr val="15171E"/>
                </a:solidFill>
                <a:latin typeface="Inter"/>
              </a:rPr>
              <a:t>Goals run from $0.01 to $166M. log10 makes them near-symmetric; the extremes are real and informative: under $10, 79% funded; $10M+, 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Shape 81"/>
        <p:cNvGrpSpPr/>
        <p:nvPr/>
      </p:nvGrpSpPr>
      <p:grpSpPr>
        <a:xfrm>
          <a:off x="0" y="0"/>
          <a:ext cx="0" cy="0"/>
          <a:chOff x="0" y="0"/>
          <a:chExt cx="0" cy="0"/>
        </a:xfrm>
      </p:grpSpPr>
      <p:sp>
        <p:nvSpPr>
          <p:cNvPr id="82" name="Google Shape;82;p7"/>
          <p:cNvSpPr/>
          <p:nvPr/>
        </p:nvSpPr>
        <p:spPr>
          <a:xfrm>
            <a:off x="812800" y="812800"/>
            <a:ext cx="10883392" cy="23872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8401A"/>
              </a:buClr>
              <a:buSzPts val="1200"/>
              <a:buFont typeface="Inter"/>
              <a:buNone/>
            </a:pPr>
            <a:r>
              <a:rPr lang="en-US" sz="1200" b="1">
                <a:solidFill>
                  <a:srgbClr val="B8401A"/>
                </a:solidFill>
                <a:latin typeface="Inter"/>
                <a:ea typeface="Inter"/>
                <a:cs typeface="Inter"/>
                <a:sym typeface="Inter"/>
              </a:rPr>
              <a:t>03 · METHODS</a:t>
            </a:r>
            <a:endParaRPr sz="1200">
              <a:solidFill>
                <a:schemeClr val="dk1"/>
              </a:solidFill>
              <a:latin typeface="Inter"/>
              <a:ea typeface="Inter"/>
              <a:cs typeface="Inter"/>
              <a:sym typeface="Inter"/>
            </a:endParaRPr>
          </a:p>
        </p:txBody>
      </p:sp>
      <p:sp>
        <p:nvSpPr>
          <p:cNvPr id="83" name="Google Shape;83;p7"/>
          <p:cNvSpPr txBox="1">
            <a:spLocks noGrp="1"/>
          </p:cNvSpPr>
          <p:nvPr>
            <p:ph type="title"/>
          </p:nvPr>
        </p:nvSpPr>
        <p:spPr>
          <a:xfrm>
            <a:off x="812800" y="1102320"/>
            <a:ext cx="10883392" cy="472380"/>
          </a:xfrm>
          <a:prstGeom prst="rect">
            <a:avLst/>
          </a:prstGeom>
          <a:noFill/>
          <a:ln>
            <a:noFill/>
          </a:ln>
        </p:spPr>
        <p:txBody>
          <a:bodyPr spcFirstLastPara="1" wrap="square" lIns="0" tIns="0" rIns="0" bIns="0" anchor="t" anchorCtr="0">
            <a:normAutofit fontScale="90000"/>
          </a:bodyPr>
          <a:lstStyle/>
          <a:p>
            <a:pPr marL="0" lvl="0" indent="0" algn="l" rtl="0">
              <a:lnSpc>
                <a:spcPct val="110000"/>
              </a:lnSpc>
              <a:spcBef>
                <a:spcPts val="0"/>
              </a:spcBef>
              <a:spcAft>
                <a:spcPts val="0"/>
              </a:spcAft>
              <a:buClr>
                <a:srgbClr val="15171E"/>
              </a:buClr>
              <a:buSzPts val="3200"/>
              <a:buFont typeface="Space Grotesk"/>
              <a:buNone/>
            </a:pPr>
            <a:r>
              <a:rPr lang="en-US" sz="3200" b="1" i="0">
                <a:solidFill>
                  <a:srgbClr val="15171E"/>
                </a:solidFill>
                <a:latin typeface="Space Grotesk"/>
                <a:ea typeface="Space Grotesk"/>
                <a:cs typeface="Space Grotesk"/>
                <a:sym typeface="Space Grotesk"/>
              </a:rPr>
              <a:t>Our model: Gradient Boosting</a:t>
            </a:r>
            <a:endParaRPr sz="3200"/>
          </a:p>
        </p:txBody>
      </p:sp>
      <p:sp>
        <p:nvSpPr>
          <p:cNvPr id="84" name="Google Shape;84;p7"/>
          <p:cNvSpPr/>
          <p:nvPr/>
        </p:nvSpPr>
        <p:spPr>
          <a:xfrm>
            <a:off x="815975" y="1781076"/>
            <a:ext cx="2524125" cy="1870472"/>
          </a:xfrm>
          <a:prstGeom prst="roundRect">
            <a:avLst>
              <a:gd name="adj" fmla="val 5262"/>
            </a:avLst>
          </a:prstGeom>
          <a:solidFill>
            <a:srgbClr val="FFFDF8"/>
          </a:solidFill>
          <a:ln w="9525" cap="flat" cmpd="sng">
            <a:solidFill>
              <a:srgbClr val="E2DE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7"/>
          <p:cNvSpPr/>
          <p:nvPr/>
        </p:nvSpPr>
        <p:spPr>
          <a:xfrm>
            <a:off x="996950" y="1962051"/>
            <a:ext cx="2227040" cy="23872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5171E"/>
              </a:buClr>
              <a:buSzPts val="1400"/>
              <a:buFont typeface="Space Grotesk"/>
              <a:buNone/>
            </a:pPr>
            <a:r>
              <a:rPr lang="en-US" sz="1400" b="1">
                <a:solidFill>
                  <a:srgbClr val="15171E"/>
                </a:solidFill>
                <a:latin typeface="Space Grotesk"/>
                <a:ea typeface="Space Grotesk"/>
                <a:cs typeface="Space Grotesk"/>
                <a:sym typeface="Space Grotesk"/>
              </a:rPr>
              <a:t>Baseline</a:t>
            </a:r>
            <a:endParaRPr sz="1400">
              <a:solidFill>
                <a:schemeClr val="dk1"/>
              </a:solidFill>
              <a:latin typeface="Inter"/>
              <a:ea typeface="Inter"/>
              <a:cs typeface="Inter"/>
              <a:sym typeface="Inter"/>
            </a:endParaRPr>
          </a:p>
        </p:txBody>
      </p:sp>
      <p:sp>
        <p:nvSpPr>
          <p:cNvPr id="86" name="Google Shape;86;p7"/>
          <p:cNvSpPr/>
          <p:nvPr/>
        </p:nvSpPr>
        <p:spPr>
          <a:xfrm>
            <a:off x="996950" y="2238871"/>
            <a:ext cx="2339975" cy="23872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200"/>
              <a:buFont typeface="Inter"/>
              <a:buNone/>
            </a:pPr>
            <a:r>
              <a:rPr lang="en-US" sz="1200">
                <a:solidFill>
                  <a:srgbClr val="15171E"/>
                </a:solidFill>
                <a:latin typeface="Inter"/>
                <a:ea typeface="Inter"/>
                <a:cs typeface="Inter"/>
                <a:sym typeface="Inter"/>
              </a:rPr>
              <a:t>Always predicts “not funded”.</a:t>
            </a:r>
            <a:endParaRPr sz="1200">
              <a:solidFill>
                <a:schemeClr val="dk1"/>
              </a:solidFill>
              <a:latin typeface="Inter"/>
              <a:ea typeface="Inter"/>
              <a:cs typeface="Inter"/>
              <a:sym typeface="Inter"/>
            </a:endParaRPr>
          </a:p>
        </p:txBody>
      </p:sp>
      <p:sp>
        <p:nvSpPr>
          <p:cNvPr id="87" name="Google Shape;87;p7"/>
          <p:cNvSpPr/>
          <p:nvPr/>
        </p:nvSpPr>
        <p:spPr>
          <a:xfrm>
            <a:off x="996950" y="2515691"/>
            <a:ext cx="2227040" cy="665361"/>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8401A"/>
              </a:buClr>
              <a:buSzPts val="1200"/>
              <a:buFont typeface="Inter"/>
              <a:buNone/>
            </a:pPr>
            <a:r>
              <a:rPr lang="en-US" sz="1200" b="1">
                <a:solidFill>
                  <a:srgbClr val="B8401A"/>
                </a:solidFill>
                <a:latin typeface="Inter"/>
                <a:ea typeface="Inter"/>
                <a:cs typeface="Inter"/>
                <a:sym typeface="Inter"/>
              </a:rPr>
              <a:t>Benchmark:</a:t>
            </a:r>
            <a:r>
              <a:rPr lang="en-US" sz="1200">
                <a:solidFill>
                  <a:srgbClr val="5B5E66"/>
                </a:solidFill>
                <a:latin typeface="Inter"/>
                <a:ea typeface="Inter"/>
                <a:cs typeface="Inter"/>
                <a:sym typeface="Inter"/>
              </a:rPr>
              <a:t> the bar to beat. 63.4% accurate, yet finds zero successes (validation).</a:t>
            </a:r>
            <a:endParaRPr sz="1200">
              <a:solidFill>
                <a:schemeClr val="dk1"/>
              </a:solidFill>
              <a:latin typeface="Inter"/>
              <a:ea typeface="Inter"/>
              <a:cs typeface="Inter"/>
              <a:sym typeface="Inter"/>
            </a:endParaRPr>
          </a:p>
        </p:txBody>
      </p:sp>
      <p:sp>
        <p:nvSpPr>
          <p:cNvPr id="88" name="Google Shape;88;p7"/>
          <p:cNvSpPr/>
          <p:nvPr/>
        </p:nvSpPr>
        <p:spPr>
          <a:xfrm>
            <a:off x="3498850" y="1781076"/>
            <a:ext cx="2524125" cy="1870472"/>
          </a:xfrm>
          <a:prstGeom prst="roundRect">
            <a:avLst>
              <a:gd name="adj" fmla="val 5262"/>
            </a:avLst>
          </a:prstGeom>
          <a:solidFill>
            <a:srgbClr val="FFFDF8"/>
          </a:solidFill>
          <a:ln w="9525" cap="flat" cmpd="sng">
            <a:solidFill>
              <a:srgbClr val="E2DE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7"/>
          <p:cNvSpPr/>
          <p:nvPr/>
        </p:nvSpPr>
        <p:spPr>
          <a:xfrm>
            <a:off x="3679825" y="1962051"/>
            <a:ext cx="2227040" cy="23872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5171E"/>
              </a:buClr>
              <a:buSzPts val="1400"/>
              <a:buFont typeface="Space Grotesk"/>
              <a:buNone/>
            </a:pPr>
            <a:r>
              <a:rPr lang="en-US" sz="1400" b="1">
                <a:solidFill>
                  <a:srgbClr val="15171E"/>
                </a:solidFill>
                <a:latin typeface="Space Grotesk"/>
                <a:ea typeface="Space Grotesk"/>
                <a:cs typeface="Space Grotesk"/>
                <a:sym typeface="Space Grotesk"/>
              </a:rPr>
              <a:t>Logistic Regression</a:t>
            </a:r>
            <a:endParaRPr sz="1400">
              <a:solidFill>
                <a:schemeClr val="dk1"/>
              </a:solidFill>
              <a:latin typeface="Inter"/>
              <a:ea typeface="Inter"/>
              <a:cs typeface="Inter"/>
              <a:sym typeface="Inter"/>
            </a:endParaRPr>
          </a:p>
        </p:txBody>
      </p:sp>
      <p:sp>
        <p:nvSpPr>
          <p:cNvPr id="90" name="Google Shape;90;p7"/>
          <p:cNvSpPr/>
          <p:nvPr/>
        </p:nvSpPr>
        <p:spPr>
          <a:xfrm>
            <a:off x="3679825" y="2238871"/>
            <a:ext cx="2227040" cy="452041"/>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200"/>
              <a:buFont typeface="Inter"/>
              <a:buNone/>
            </a:pPr>
            <a:r>
              <a:rPr lang="en-US" sz="1200">
                <a:solidFill>
                  <a:srgbClr val="15171E"/>
                </a:solidFill>
                <a:latin typeface="Inter"/>
                <a:ea typeface="Inter"/>
                <a:cs typeface="Inter"/>
                <a:sym typeface="Inter"/>
              </a:rPr>
              <a:t>One weighted formula over all factors.</a:t>
            </a:r>
            <a:endParaRPr sz="1200">
              <a:solidFill>
                <a:schemeClr val="dk1"/>
              </a:solidFill>
              <a:latin typeface="Inter"/>
              <a:ea typeface="Inter"/>
              <a:cs typeface="Inter"/>
              <a:sym typeface="Inter"/>
            </a:endParaRPr>
          </a:p>
        </p:txBody>
      </p:sp>
      <p:sp>
        <p:nvSpPr>
          <p:cNvPr id="91" name="Google Shape;91;p7"/>
          <p:cNvSpPr/>
          <p:nvPr/>
        </p:nvSpPr>
        <p:spPr>
          <a:xfrm>
            <a:off x="3679825" y="2729012"/>
            <a:ext cx="2227040" cy="452041"/>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8401A"/>
              </a:buClr>
              <a:buSzPts val="1200"/>
              <a:buFont typeface="Inter"/>
              <a:buNone/>
            </a:pPr>
            <a:r>
              <a:rPr lang="en-US" sz="1200" b="1">
                <a:solidFill>
                  <a:srgbClr val="B8401A"/>
                </a:solidFill>
                <a:latin typeface="Inter"/>
                <a:ea typeface="Inter"/>
                <a:cs typeface="Inter"/>
                <a:sym typeface="Inter"/>
              </a:rPr>
              <a:t>Benchmark:</a:t>
            </a:r>
            <a:r>
              <a:rPr lang="en-US" sz="1200">
                <a:solidFill>
                  <a:srgbClr val="5B5E66"/>
                </a:solidFill>
                <a:latin typeface="Inter"/>
                <a:ea typeface="Inter"/>
                <a:cs typeface="Inter"/>
                <a:sym typeface="Inter"/>
              </a:rPr>
              <a:t> simple and transparent.</a:t>
            </a:r>
            <a:endParaRPr sz="1200">
              <a:solidFill>
                <a:schemeClr val="dk1"/>
              </a:solidFill>
              <a:latin typeface="Inter"/>
              <a:ea typeface="Inter"/>
              <a:cs typeface="Inter"/>
              <a:sym typeface="Inter"/>
            </a:endParaRPr>
          </a:p>
        </p:txBody>
      </p:sp>
      <p:sp>
        <p:nvSpPr>
          <p:cNvPr id="92" name="Google Shape;92;p7"/>
          <p:cNvSpPr/>
          <p:nvPr/>
        </p:nvSpPr>
        <p:spPr>
          <a:xfrm>
            <a:off x="6181725" y="1781076"/>
            <a:ext cx="2524125" cy="1870472"/>
          </a:xfrm>
          <a:prstGeom prst="roundRect">
            <a:avLst>
              <a:gd name="adj" fmla="val 5262"/>
            </a:avLst>
          </a:prstGeom>
          <a:solidFill>
            <a:srgbClr val="FFFDF8"/>
          </a:solidFill>
          <a:ln w="9525" cap="flat" cmpd="sng">
            <a:solidFill>
              <a:srgbClr val="E2DE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7"/>
          <p:cNvSpPr/>
          <p:nvPr/>
        </p:nvSpPr>
        <p:spPr>
          <a:xfrm>
            <a:off x="6362700" y="1962051"/>
            <a:ext cx="2227040" cy="23872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5171E"/>
              </a:buClr>
              <a:buSzPts val="1400"/>
              <a:buFont typeface="Space Grotesk"/>
              <a:buNone/>
            </a:pPr>
            <a:r>
              <a:rPr lang="en-US" sz="1400" b="1">
                <a:solidFill>
                  <a:srgbClr val="15171E"/>
                </a:solidFill>
                <a:latin typeface="Space Grotesk"/>
                <a:ea typeface="Space Grotesk"/>
                <a:cs typeface="Space Grotesk"/>
                <a:sym typeface="Space Grotesk"/>
              </a:rPr>
              <a:t>Random Forest</a:t>
            </a:r>
            <a:endParaRPr sz="1400">
              <a:solidFill>
                <a:schemeClr val="dk1"/>
              </a:solidFill>
              <a:latin typeface="Inter"/>
              <a:ea typeface="Inter"/>
              <a:cs typeface="Inter"/>
              <a:sym typeface="Inter"/>
            </a:endParaRPr>
          </a:p>
        </p:txBody>
      </p:sp>
      <p:sp>
        <p:nvSpPr>
          <p:cNvPr id="94" name="Google Shape;94;p7"/>
          <p:cNvSpPr/>
          <p:nvPr/>
        </p:nvSpPr>
        <p:spPr>
          <a:xfrm>
            <a:off x="6362700" y="2238871"/>
            <a:ext cx="2227040" cy="452041"/>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200"/>
              <a:buFont typeface="Inter"/>
              <a:buNone/>
            </a:pPr>
            <a:r>
              <a:rPr lang="en-US" sz="1200">
                <a:solidFill>
                  <a:srgbClr val="15171E"/>
                </a:solidFill>
                <a:latin typeface="Inter"/>
                <a:ea typeface="Inter"/>
                <a:cs typeface="Inter"/>
                <a:sym typeface="Inter"/>
              </a:rPr>
              <a:t>100 decision trees vote on the outcome.</a:t>
            </a:r>
            <a:endParaRPr sz="1200">
              <a:solidFill>
                <a:schemeClr val="dk1"/>
              </a:solidFill>
              <a:latin typeface="Inter"/>
              <a:ea typeface="Inter"/>
              <a:cs typeface="Inter"/>
              <a:sym typeface="Inter"/>
            </a:endParaRPr>
          </a:p>
        </p:txBody>
      </p:sp>
      <p:sp>
        <p:nvSpPr>
          <p:cNvPr id="95" name="Google Shape;95;p7"/>
          <p:cNvSpPr/>
          <p:nvPr/>
        </p:nvSpPr>
        <p:spPr>
          <a:xfrm>
            <a:off x="6362700" y="2729012"/>
            <a:ext cx="2227040" cy="665361"/>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8401A"/>
              </a:buClr>
              <a:buSzPts val="1200"/>
              <a:buFont typeface="Inter"/>
              <a:buNone/>
            </a:pPr>
            <a:r>
              <a:rPr lang="en-US" sz="1200" b="1">
                <a:solidFill>
                  <a:srgbClr val="B8401A"/>
                </a:solidFill>
                <a:latin typeface="Inter"/>
                <a:ea typeface="Inter"/>
                <a:cs typeface="Inter"/>
                <a:sym typeface="Inter"/>
              </a:rPr>
              <a:t>Benchmark:</a:t>
            </a:r>
            <a:r>
              <a:rPr lang="en-US" sz="1200">
                <a:solidFill>
                  <a:srgbClr val="5B5E66"/>
                </a:solidFill>
                <a:latin typeface="Inter"/>
                <a:ea typeface="Inter"/>
                <a:cs typeface="Inter"/>
                <a:sym typeface="Inter"/>
              </a:rPr>
              <a:t> catches non-straight-line patterns, like goal thresholds.</a:t>
            </a:r>
            <a:endParaRPr sz="1200">
              <a:solidFill>
                <a:schemeClr val="dk1"/>
              </a:solidFill>
              <a:latin typeface="Inter"/>
              <a:ea typeface="Inter"/>
              <a:cs typeface="Inter"/>
              <a:sym typeface="Inter"/>
            </a:endParaRPr>
          </a:p>
        </p:txBody>
      </p:sp>
      <p:sp>
        <p:nvSpPr>
          <p:cNvPr id="96" name="Google Shape;96;p7"/>
          <p:cNvSpPr/>
          <p:nvPr/>
        </p:nvSpPr>
        <p:spPr>
          <a:xfrm>
            <a:off x="8861425" y="1777901"/>
            <a:ext cx="2517775" cy="1876822"/>
          </a:xfrm>
          <a:prstGeom prst="roundRect">
            <a:avLst>
              <a:gd name="adj" fmla="val 5413"/>
            </a:avLst>
          </a:prstGeom>
          <a:solidFill>
            <a:srgbClr val="1517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7"/>
          <p:cNvSpPr/>
          <p:nvPr/>
        </p:nvSpPr>
        <p:spPr>
          <a:xfrm>
            <a:off x="9039225" y="1955701"/>
            <a:ext cx="1180108" cy="264120"/>
          </a:xfrm>
          <a:prstGeom prst="roundRect">
            <a:avLst>
              <a:gd name="adj" fmla="val 19234"/>
            </a:avLst>
          </a:prstGeom>
          <a:solidFill>
            <a:srgbClr val="FF7A4D"/>
          </a:solid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Clr>
                <a:srgbClr val="15171E"/>
              </a:buClr>
              <a:buSzPts val="1200"/>
              <a:buFont typeface="Inter"/>
              <a:buNone/>
            </a:pPr>
            <a:r>
              <a:rPr lang="en-US" sz="1200" b="1">
                <a:solidFill>
                  <a:srgbClr val="15171E"/>
                </a:solidFill>
                <a:latin typeface="Inter"/>
                <a:ea typeface="Inter"/>
                <a:cs typeface="Inter"/>
                <a:sym typeface="Inter"/>
              </a:rPr>
              <a:t>OUR MODEL</a:t>
            </a:r>
            <a:endParaRPr sz="1200">
              <a:solidFill>
                <a:schemeClr val="dk1"/>
              </a:solidFill>
              <a:latin typeface="Inter"/>
              <a:ea typeface="Inter"/>
              <a:cs typeface="Inter"/>
              <a:sym typeface="Inter"/>
            </a:endParaRPr>
          </a:p>
        </p:txBody>
      </p:sp>
      <p:sp>
        <p:nvSpPr>
          <p:cNvPr id="98" name="Google Shape;98;p7"/>
          <p:cNvSpPr/>
          <p:nvPr/>
        </p:nvSpPr>
        <p:spPr>
          <a:xfrm>
            <a:off x="9039225" y="2283321"/>
            <a:ext cx="2227040" cy="23872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F7A4D"/>
              </a:buClr>
              <a:buSzPts val="1400"/>
              <a:buFont typeface="Space Grotesk"/>
              <a:buNone/>
            </a:pPr>
            <a:r>
              <a:rPr lang="en-US" sz="1400" b="1">
                <a:solidFill>
                  <a:srgbClr val="FF7A4D"/>
                </a:solidFill>
                <a:latin typeface="Space Grotesk"/>
                <a:ea typeface="Space Grotesk"/>
                <a:cs typeface="Space Grotesk"/>
                <a:sym typeface="Space Grotesk"/>
              </a:rPr>
              <a:t>Gradient Boosting</a:t>
            </a:r>
            <a:endParaRPr sz="1400">
              <a:solidFill>
                <a:schemeClr val="dk1"/>
              </a:solidFill>
              <a:latin typeface="Inter"/>
              <a:ea typeface="Inter"/>
              <a:cs typeface="Inter"/>
              <a:sym typeface="Inter"/>
            </a:endParaRPr>
          </a:p>
        </p:txBody>
      </p:sp>
      <p:sp>
        <p:nvSpPr>
          <p:cNvPr id="99" name="Google Shape;99;p7"/>
          <p:cNvSpPr/>
          <p:nvPr/>
        </p:nvSpPr>
        <p:spPr>
          <a:xfrm>
            <a:off x="9039225" y="2560141"/>
            <a:ext cx="2227040" cy="452041"/>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5F3EE"/>
              </a:buClr>
              <a:buSzPts val="1200"/>
              <a:buFont typeface="Inter"/>
              <a:buNone/>
            </a:pPr>
            <a:r>
              <a:rPr lang="en-US" sz="1200">
                <a:solidFill>
                  <a:srgbClr val="F5F3EE"/>
                </a:solidFill>
                <a:latin typeface="Inter"/>
                <a:ea typeface="Inter"/>
                <a:cs typeface="Inter"/>
                <a:sym typeface="Inter"/>
              </a:rPr>
              <a:t>Trees built in sequence, each fixing the last one’s errors.</a:t>
            </a:r>
            <a:endParaRPr sz="1200">
              <a:solidFill>
                <a:schemeClr val="dk1"/>
              </a:solidFill>
              <a:latin typeface="Inter"/>
              <a:ea typeface="Inter"/>
              <a:cs typeface="Inter"/>
              <a:sym typeface="Inter"/>
            </a:endParaRPr>
          </a:p>
        </p:txBody>
      </p:sp>
      <p:sp>
        <p:nvSpPr>
          <p:cNvPr id="100" name="Google Shape;100;p7"/>
          <p:cNvSpPr/>
          <p:nvPr/>
        </p:nvSpPr>
        <p:spPr>
          <a:xfrm>
            <a:off x="9039225" y="3050282"/>
            <a:ext cx="2227040" cy="452041"/>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F7A4D"/>
              </a:buClr>
              <a:buSzPts val="1200"/>
              <a:buFont typeface="Inter"/>
              <a:buNone/>
            </a:pPr>
            <a:r>
              <a:rPr lang="en-US" sz="1200" b="1">
                <a:solidFill>
                  <a:srgbClr val="FF7A4D"/>
                </a:solidFill>
                <a:latin typeface="Inter"/>
                <a:ea typeface="Inter"/>
                <a:cs typeface="Inter"/>
                <a:sym typeface="Inter"/>
              </a:rPr>
              <a:t>Why:</a:t>
            </a:r>
            <a:r>
              <a:rPr lang="en-US" sz="1200">
                <a:solidFill>
                  <a:srgbClr val="C4C7CE"/>
                </a:solidFill>
                <a:latin typeface="Inter"/>
                <a:ea typeface="Inter"/>
                <a:cs typeface="Inter"/>
                <a:sym typeface="Inter"/>
              </a:rPr>
              <a:t> often strongest on table-style data like this.</a:t>
            </a:r>
            <a:endParaRPr sz="1200">
              <a:solidFill>
                <a:schemeClr val="dk1"/>
              </a:solidFill>
              <a:latin typeface="Inter"/>
              <a:ea typeface="Inter"/>
              <a:cs typeface="Inter"/>
              <a:sym typeface="Inter"/>
            </a:endParaRPr>
          </a:p>
        </p:txBody>
      </p:sp>
      <p:sp>
        <p:nvSpPr>
          <p:cNvPr id="101" name="Google Shape;101;p7"/>
          <p:cNvSpPr/>
          <p:nvPr/>
        </p:nvSpPr>
        <p:spPr>
          <a:xfrm>
            <a:off x="812800" y="3883323"/>
            <a:ext cx="10883392"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500"/>
              <a:buFont typeface="Space Grotesk"/>
              <a:buNone/>
            </a:pPr>
            <a:r>
              <a:rPr lang="en-US" sz="1500" b="1">
                <a:solidFill>
                  <a:srgbClr val="15171E"/>
                </a:solidFill>
                <a:latin typeface="Space Grotesk"/>
                <a:ea typeface="Space Grotesk"/>
                <a:cs typeface="Space Grotesk"/>
                <a:sym typeface="Space Grotesk"/>
              </a:rPr>
              <a:t>How we kept it honest</a:t>
            </a:r>
            <a:endParaRPr sz="1500">
              <a:solidFill>
                <a:schemeClr val="dk1"/>
              </a:solidFill>
              <a:latin typeface="Inter"/>
              <a:ea typeface="Inter"/>
              <a:cs typeface="Inter"/>
              <a:sym typeface="Inter"/>
            </a:endParaRPr>
          </a:p>
        </p:txBody>
      </p:sp>
      <p:cxnSp>
        <p:nvCxnSpPr>
          <p:cNvPr id="102" name="Google Shape;102;p7"/>
          <p:cNvCxnSpPr/>
          <p:nvPr/>
        </p:nvCxnSpPr>
        <p:spPr>
          <a:xfrm>
            <a:off x="812800" y="4391323"/>
            <a:ext cx="3420467" cy="0"/>
          </a:xfrm>
          <a:prstGeom prst="straightConnector1">
            <a:avLst/>
          </a:prstGeom>
          <a:noFill/>
          <a:ln w="25400" cap="flat" cmpd="sng">
            <a:solidFill>
              <a:srgbClr val="2563C9"/>
            </a:solidFill>
            <a:prstDash val="solid"/>
            <a:round/>
            <a:headEnd type="none" w="sm" len="sm"/>
            <a:tailEnd type="none" w="sm" len="sm"/>
          </a:ln>
        </p:spPr>
      </p:cxnSp>
      <p:sp>
        <p:nvSpPr>
          <p:cNvPr id="103" name="Google Shape;103;p7"/>
          <p:cNvSpPr/>
          <p:nvPr/>
        </p:nvSpPr>
        <p:spPr>
          <a:xfrm>
            <a:off x="812800" y="4531023"/>
            <a:ext cx="3523081" cy="23872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5171E"/>
              </a:buClr>
              <a:buSzPts val="1400"/>
              <a:buFont typeface="Space Grotesk"/>
              <a:buNone/>
            </a:pPr>
            <a:r>
              <a:rPr lang="en-US" sz="1400" b="1">
                <a:solidFill>
                  <a:srgbClr val="15171E"/>
                </a:solidFill>
                <a:latin typeface="Space Grotesk"/>
                <a:ea typeface="Space Grotesk"/>
                <a:cs typeface="Space Grotesk"/>
                <a:sym typeface="Space Grotesk"/>
              </a:rPr>
              <a:t>Group-aware split</a:t>
            </a:r>
            <a:endParaRPr sz="1400">
              <a:solidFill>
                <a:schemeClr val="dk1"/>
              </a:solidFill>
              <a:latin typeface="Inter"/>
              <a:ea typeface="Inter"/>
              <a:cs typeface="Inter"/>
              <a:sym typeface="Inter"/>
            </a:endParaRPr>
          </a:p>
        </p:txBody>
      </p:sp>
      <p:sp>
        <p:nvSpPr>
          <p:cNvPr id="104" name="Google Shape;104;p7"/>
          <p:cNvSpPr/>
          <p:nvPr/>
        </p:nvSpPr>
        <p:spPr>
          <a:xfrm>
            <a:off x="812800" y="4807843"/>
            <a:ext cx="3523081" cy="665361"/>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200"/>
              <a:buFont typeface="Inter"/>
              <a:buNone/>
            </a:pPr>
            <a:r>
              <a:rPr lang="en-US" sz="1200">
                <a:solidFill>
                  <a:srgbClr val="15171E"/>
                </a:solidFill>
                <a:latin typeface="Inter"/>
                <a:ea typeface="Inter"/>
                <a:cs typeface="Inter"/>
                <a:sym typeface="Inter"/>
              </a:rPr>
              <a:t>68% train, 12% validation, 20% test (249,365 / 44,010 / 73,315). Relaunches of one project stay on one side.</a:t>
            </a:r>
            <a:endParaRPr sz="1200">
              <a:solidFill>
                <a:schemeClr val="dk1"/>
              </a:solidFill>
              <a:latin typeface="Inter"/>
              <a:ea typeface="Inter"/>
              <a:cs typeface="Inter"/>
              <a:sym typeface="Inter"/>
            </a:endParaRPr>
          </a:p>
        </p:txBody>
      </p:sp>
      <p:cxnSp>
        <p:nvCxnSpPr>
          <p:cNvPr id="105" name="Google Shape;105;p7"/>
          <p:cNvCxnSpPr/>
          <p:nvPr/>
        </p:nvCxnSpPr>
        <p:spPr>
          <a:xfrm>
            <a:off x="4385667" y="4391323"/>
            <a:ext cx="3420566" cy="0"/>
          </a:xfrm>
          <a:prstGeom prst="straightConnector1">
            <a:avLst/>
          </a:prstGeom>
          <a:noFill/>
          <a:ln w="25400" cap="flat" cmpd="sng">
            <a:solidFill>
              <a:srgbClr val="2563C9"/>
            </a:solidFill>
            <a:prstDash val="solid"/>
            <a:round/>
            <a:headEnd type="none" w="sm" len="sm"/>
            <a:tailEnd type="none" w="sm" len="sm"/>
          </a:ln>
        </p:spPr>
      </p:cxnSp>
      <p:sp>
        <p:nvSpPr>
          <p:cNvPr id="106" name="Google Shape;106;p7"/>
          <p:cNvSpPr/>
          <p:nvPr/>
        </p:nvSpPr>
        <p:spPr>
          <a:xfrm>
            <a:off x="4385667" y="4531023"/>
            <a:ext cx="3523183" cy="23872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5171E"/>
              </a:buClr>
              <a:buSzPts val="1400"/>
              <a:buFont typeface="Space Grotesk"/>
              <a:buNone/>
            </a:pPr>
            <a:r>
              <a:rPr lang="en-US" sz="1400" b="1">
                <a:solidFill>
                  <a:srgbClr val="15171E"/>
                </a:solidFill>
                <a:latin typeface="Space Grotesk"/>
                <a:ea typeface="Space Grotesk"/>
                <a:cs typeface="Space Grotesk"/>
                <a:sym typeface="Space Grotesk"/>
              </a:rPr>
              <a:t>The right scorecard</a:t>
            </a:r>
            <a:endParaRPr sz="1400">
              <a:solidFill>
                <a:schemeClr val="dk1"/>
              </a:solidFill>
              <a:latin typeface="Inter"/>
              <a:ea typeface="Inter"/>
              <a:cs typeface="Inter"/>
              <a:sym typeface="Inter"/>
            </a:endParaRPr>
          </a:p>
        </p:txBody>
      </p:sp>
      <p:sp>
        <p:nvSpPr>
          <p:cNvPr id="107" name="Google Shape;107;p7"/>
          <p:cNvSpPr/>
          <p:nvPr/>
        </p:nvSpPr>
        <p:spPr>
          <a:xfrm>
            <a:off x="4385667" y="4807843"/>
            <a:ext cx="3523183" cy="665361"/>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200"/>
              <a:buFont typeface="Inter"/>
              <a:buNone/>
            </a:pPr>
            <a:r>
              <a:rPr lang="en-US" sz="1200" b="1">
                <a:solidFill>
                  <a:srgbClr val="15171E"/>
                </a:solidFill>
                <a:latin typeface="Inter"/>
                <a:ea typeface="Inter"/>
                <a:cs typeface="Inter"/>
                <a:sym typeface="Inter"/>
              </a:rPr>
              <a:t>F1</a:t>
            </a:r>
            <a:r>
              <a:rPr lang="en-US" sz="1200">
                <a:solidFill>
                  <a:srgbClr val="15171E"/>
                </a:solidFill>
                <a:latin typeface="Inter"/>
                <a:ea typeface="Inter"/>
                <a:cs typeface="Inter"/>
                <a:sym typeface="Inter"/>
              </a:rPr>
              <a:t> balances precision (success calls that are right) and recall (successes found). </a:t>
            </a:r>
            <a:r>
              <a:rPr lang="en-US" sz="1200" b="1">
                <a:solidFill>
                  <a:srgbClr val="15171E"/>
                </a:solidFill>
                <a:latin typeface="Inter"/>
                <a:ea typeface="Inter"/>
                <a:cs typeface="Inter"/>
                <a:sym typeface="Inter"/>
              </a:rPr>
              <a:t>ROC AUC</a:t>
            </a:r>
            <a:r>
              <a:rPr lang="en-US" sz="1200">
                <a:solidFill>
                  <a:srgbClr val="15171E"/>
                </a:solidFill>
                <a:latin typeface="Inter"/>
                <a:ea typeface="Inter"/>
                <a:cs typeface="Inter"/>
                <a:sym typeface="Inter"/>
              </a:rPr>
              <a:t>: 0.5 = coin flip, 1.0 = perfect.</a:t>
            </a:r>
            <a:endParaRPr sz="1200">
              <a:solidFill>
                <a:schemeClr val="dk1"/>
              </a:solidFill>
              <a:latin typeface="Inter"/>
              <a:ea typeface="Inter"/>
              <a:cs typeface="Inter"/>
              <a:sym typeface="Inter"/>
            </a:endParaRPr>
          </a:p>
        </p:txBody>
      </p:sp>
      <p:cxnSp>
        <p:nvCxnSpPr>
          <p:cNvPr id="108" name="Google Shape;108;p7"/>
          <p:cNvCxnSpPr/>
          <p:nvPr/>
        </p:nvCxnSpPr>
        <p:spPr>
          <a:xfrm>
            <a:off x="7958634" y="4391323"/>
            <a:ext cx="3420566" cy="0"/>
          </a:xfrm>
          <a:prstGeom prst="straightConnector1">
            <a:avLst/>
          </a:prstGeom>
          <a:noFill/>
          <a:ln w="25400" cap="flat" cmpd="sng">
            <a:solidFill>
              <a:srgbClr val="2563C9"/>
            </a:solidFill>
            <a:prstDash val="solid"/>
            <a:round/>
            <a:headEnd type="none" w="sm" len="sm"/>
            <a:tailEnd type="none" w="sm" len="sm"/>
          </a:ln>
        </p:spPr>
      </p:cxnSp>
      <p:sp>
        <p:nvSpPr>
          <p:cNvPr id="109" name="Google Shape;109;p7"/>
          <p:cNvSpPr/>
          <p:nvPr/>
        </p:nvSpPr>
        <p:spPr>
          <a:xfrm>
            <a:off x="7958634" y="4531023"/>
            <a:ext cx="3523183" cy="23872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5171E"/>
              </a:buClr>
              <a:buSzPts val="1400"/>
              <a:buFont typeface="Space Grotesk"/>
              <a:buNone/>
            </a:pPr>
            <a:r>
              <a:rPr lang="en-US" sz="1400" b="1">
                <a:solidFill>
                  <a:srgbClr val="15171E"/>
                </a:solidFill>
                <a:latin typeface="Space Grotesk"/>
                <a:ea typeface="Space Grotesk"/>
                <a:cs typeface="Space Grotesk"/>
                <a:sym typeface="Space Grotesk"/>
              </a:rPr>
              <a:t>Fair tuning</a:t>
            </a:r>
            <a:endParaRPr sz="1400">
              <a:solidFill>
                <a:schemeClr val="dk1"/>
              </a:solidFill>
              <a:latin typeface="Inter"/>
              <a:ea typeface="Inter"/>
              <a:cs typeface="Inter"/>
              <a:sym typeface="Inter"/>
            </a:endParaRPr>
          </a:p>
        </p:txBody>
      </p:sp>
      <p:sp>
        <p:nvSpPr>
          <p:cNvPr id="110" name="Google Shape;110;p7"/>
          <p:cNvSpPr/>
          <p:nvPr/>
        </p:nvSpPr>
        <p:spPr>
          <a:xfrm>
            <a:off x="7958634" y="4807843"/>
            <a:ext cx="3523183" cy="452041"/>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200"/>
              <a:buFont typeface="Inter"/>
              <a:buNone/>
            </a:pPr>
            <a:r>
              <a:rPr lang="en-US" sz="1200">
                <a:solidFill>
                  <a:srgbClr val="15171E"/>
                </a:solidFill>
                <a:latin typeface="Inter"/>
                <a:ea typeface="Inter"/>
                <a:cs typeface="Inter"/>
                <a:sym typeface="Inter"/>
              </a:rPr>
              <a:t>38 settings tried on validation only (8 LR, 18 RF, 12 GB). The test set was used once, at the end.</a:t>
            </a:r>
            <a:endParaRPr sz="1200">
              <a:solidFill>
                <a:schemeClr val="dk1"/>
              </a:solidFill>
              <a:latin typeface="Inter"/>
              <a:ea typeface="Inter"/>
              <a:cs typeface="Inter"/>
              <a:sym typeface="Inter"/>
            </a:endParaRPr>
          </a:p>
        </p:txBody>
      </p:sp>
      <p:sp>
        <p:nvSpPr>
          <p:cNvPr id="111" name="Google Shape;111;p7"/>
          <p:cNvSpPr/>
          <p:nvPr/>
        </p:nvSpPr>
        <p:spPr>
          <a:xfrm>
            <a:off x="812800" y="6238280"/>
            <a:ext cx="7848600" cy="23872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6B6E76"/>
              </a:buClr>
              <a:buSzPts val="1200"/>
              <a:buFont typeface="Inter"/>
              <a:buNone/>
            </a:pPr>
            <a:r>
              <a:rPr lang="en-US" sz="1200">
                <a:solidFill>
                  <a:srgbClr val="6B6E76"/>
                </a:solidFill>
                <a:latin typeface="Inter"/>
                <a:ea typeface="Inter"/>
                <a:cs typeface="Inter"/>
                <a:sym typeface="Inter"/>
              </a:rPr>
              <a:t>Outliers · Will your Kickstarter get funded?</a:t>
            </a:r>
            <a:endParaRPr sz="1200">
              <a:solidFill>
                <a:schemeClr val="dk1"/>
              </a:solidFill>
              <a:latin typeface="Inter"/>
              <a:ea typeface="Inter"/>
              <a:cs typeface="Inter"/>
              <a:sym typeface="Inter"/>
            </a:endParaRPr>
          </a:p>
        </p:txBody>
      </p:sp>
      <p:sp>
        <p:nvSpPr>
          <p:cNvPr id="112" name="Google Shape;112;p7"/>
          <p:cNvSpPr/>
          <p:nvPr/>
        </p:nvSpPr>
        <p:spPr>
          <a:xfrm>
            <a:off x="10058400" y="6238280"/>
            <a:ext cx="1320800" cy="238720"/>
          </a:xfrm>
          <a:prstGeom prst="rect">
            <a:avLst/>
          </a:prstGeom>
          <a:noFill/>
          <a:ln>
            <a:noFill/>
          </a:ln>
        </p:spPr>
        <p:txBody>
          <a:bodyPr spcFirstLastPara="1" wrap="square" lIns="0" tIns="0" rIns="0" bIns="0" anchor="t" anchorCtr="0">
            <a:noAutofit/>
          </a:bodyPr>
          <a:lstStyle/>
          <a:p>
            <a:pPr marL="0" marR="0" lvl="0" indent="0" algn="r" rtl="0">
              <a:lnSpc>
                <a:spcPct val="140000"/>
              </a:lnSpc>
              <a:spcBef>
                <a:spcPts val="0"/>
              </a:spcBef>
              <a:spcAft>
                <a:spcPts val="0"/>
              </a:spcAft>
              <a:buClr>
                <a:srgbClr val="6B6E76"/>
              </a:buClr>
              <a:buSzPts val="1200"/>
              <a:buFont typeface="Inter"/>
              <a:buNone/>
            </a:pPr>
            <a:r>
              <a:rPr lang="en-US" sz="1200">
                <a:solidFill>
                  <a:srgbClr val="6B6E76"/>
                </a:solidFill>
                <a:latin typeface="Inter"/>
                <a:ea typeface="Inter"/>
                <a:cs typeface="Inter"/>
                <a:sym typeface="Inter"/>
              </a:rPr>
              <a:t>4 / 12</a:t>
            </a:r>
            <a:endParaRPr sz="1200">
              <a:solidFill>
                <a:schemeClr val="dk1"/>
              </a:solidFill>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Shape 117"/>
        <p:cNvGrpSpPr/>
        <p:nvPr/>
      </p:nvGrpSpPr>
      <p:grpSpPr>
        <a:xfrm>
          <a:off x="0" y="0"/>
          <a:ext cx="0" cy="0"/>
          <a:chOff x="0" y="0"/>
          <a:chExt cx="0" cy="0"/>
        </a:xfrm>
      </p:grpSpPr>
      <p:sp>
        <p:nvSpPr>
          <p:cNvPr id="118" name="Google Shape;118;p8"/>
          <p:cNvSpPr/>
          <p:nvPr/>
        </p:nvSpPr>
        <p:spPr>
          <a:xfrm>
            <a:off x="812800" y="812800"/>
            <a:ext cx="10883392" cy="23872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8401A"/>
              </a:buClr>
              <a:buSzPts val="1200"/>
              <a:buFont typeface="Inter"/>
              <a:buNone/>
            </a:pPr>
            <a:r>
              <a:rPr lang="en-US" sz="1200" b="1">
                <a:solidFill>
                  <a:srgbClr val="B8401A"/>
                </a:solidFill>
                <a:latin typeface="Inter"/>
                <a:ea typeface="Inter"/>
                <a:cs typeface="Inter"/>
                <a:sym typeface="Inter"/>
              </a:rPr>
              <a:t>04 · BENCHMARKING OUR MODEL</a:t>
            </a:r>
            <a:endParaRPr sz="1200">
              <a:solidFill>
                <a:schemeClr val="dk1"/>
              </a:solidFill>
              <a:latin typeface="Inter"/>
              <a:ea typeface="Inter"/>
              <a:cs typeface="Inter"/>
              <a:sym typeface="Inter"/>
            </a:endParaRPr>
          </a:p>
        </p:txBody>
      </p:sp>
      <p:sp>
        <p:nvSpPr>
          <p:cNvPr id="119" name="Google Shape;119;p8"/>
          <p:cNvSpPr txBox="1">
            <a:spLocks noGrp="1"/>
          </p:cNvSpPr>
          <p:nvPr>
            <p:ph type="title"/>
          </p:nvPr>
        </p:nvSpPr>
        <p:spPr>
          <a:xfrm>
            <a:off x="812800" y="1102320"/>
            <a:ext cx="10883392" cy="472380"/>
          </a:xfrm>
          <a:prstGeom prst="rect">
            <a:avLst/>
          </a:prstGeom>
          <a:noFill/>
          <a:ln>
            <a:noFill/>
          </a:ln>
        </p:spPr>
        <p:txBody>
          <a:bodyPr spcFirstLastPara="1" wrap="square" lIns="0" tIns="0" rIns="0" bIns="0" anchor="t" anchorCtr="0">
            <a:normAutofit fontScale="90000"/>
          </a:bodyPr>
          <a:lstStyle/>
          <a:p>
            <a:pPr marL="0" lvl="0" indent="0" algn="l" rtl="0">
              <a:lnSpc>
                <a:spcPct val="110000"/>
              </a:lnSpc>
              <a:spcBef>
                <a:spcPts val="0"/>
              </a:spcBef>
              <a:spcAft>
                <a:spcPts val="0"/>
              </a:spcAft>
              <a:buClr>
                <a:srgbClr val="15171E"/>
              </a:buClr>
              <a:buSzPts val="3200"/>
              <a:buFont typeface="Space Grotesk"/>
              <a:buNone/>
            </a:pPr>
            <a:r>
              <a:rPr lang="en-US" sz="3200" b="1" i="0">
                <a:solidFill>
                  <a:srgbClr val="15171E"/>
                </a:solidFill>
                <a:latin typeface="Space Grotesk"/>
                <a:ea typeface="Space Grotesk"/>
                <a:cs typeface="Space Grotesk"/>
                <a:sym typeface="Space Grotesk"/>
              </a:rPr>
              <a:t>Gradient Boosting beats every benchmark</a:t>
            </a:r>
            <a:endParaRPr sz="3200"/>
          </a:p>
        </p:txBody>
      </p:sp>
      <p:sp>
        <p:nvSpPr>
          <p:cNvPr id="120" name="Google Shape;120;p8"/>
          <p:cNvSpPr/>
          <p:nvPr/>
        </p:nvSpPr>
        <p:spPr>
          <a:xfrm>
            <a:off x="812800" y="1803301"/>
            <a:ext cx="6671310" cy="452041"/>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5E66"/>
              </a:buClr>
              <a:buSzPts val="1200"/>
              <a:buFont typeface="Inter"/>
              <a:buNone/>
            </a:pPr>
            <a:r>
              <a:rPr lang="en-US" sz="1200">
                <a:solidFill>
                  <a:srgbClr val="5B5E66"/>
                </a:solidFill>
                <a:latin typeface="Inter"/>
                <a:ea typeface="Inter"/>
                <a:cs typeface="Inter"/>
                <a:sym typeface="Inter"/>
              </a:rPr>
              <a:t>What it shows: validation scores of each model’s best-tuned version (training notebook, “Comparison of the Best Models”). Bars start at 0.</a:t>
            </a:r>
            <a:endParaRPr sz="1200">
              <a:solidFill>
                <a:schemeClr val="dk1"/>
              </a:solidFill>
              <a:latin typeface="Inter"/>
              <a:ea typeface="Inter"/>
              <a:cs typeface="Inter"/>
              <a:sym typeface="Inter"/>
            </a:endParaRPr>
          </a:p>
        </p:txBody>
      </p:sp>
      <p:sp>
        <p:nvSpPr>
          <p:cNvPr id="121" name="Google Shape;121;p8"/>
          <p:cNvSpPr/>
          <p:nvPr/>
        </p:nvSpPr>
        <p:spPr>
          <a:xfrm>
            <a:off x="812800" y="2344241"/>
            <a:ext cx="6671310" cy="274241"/>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8401A"/>
              </a:buClr>
              <a:buSzPts val="1400"/>
              <a:buFont typeface="Space Grotesk"/>
              <a:buNone/>
            </a:pPr>
            <a:r>
              <a:rPr lang="en-US" sz="1400" b="1">
                <a:solidFill>
                  <a:srgbClr val="B8401A"/>
                </a:solidFill>
                <a:latin typeface="Space Grotesk"/>
                <a:ea typeface="Space Grotesk"/>
                <a:cs typeface="Space Grotesk"/>
                <a:sym typeface="Space Grotesk"/>
              </a:rPr>
              <a:t>F1 score (higher = better balance of hits and misses)</a:t>
            </a:r>
            <a:endParaRPr sz="1400">
              <a:solidFill>
                <a:schemeClr val="dk1"/>
              </a:solidFill>
              <a:latin typeface="Inter"/>
              <a:ea typeface="Inter"/>
              <a:cs typeface="Inter"/>
              <a:sym typeface="Inter"/>
            </a:endParaRPr>
          </a:p>
        </p:txBody>
      </p:sp>
      <p:sp>
        <p:nvSpPr>
          <p:cNvPr id="122" name="Google Shape;122;p8"/>
          <p:cNvSpPr/>
          <p:nvPr/>
        </p:nvSpPr>
        <p:spPr>
          <a:xfrm>
            <a:off x="812800" y="2707382"/>
            <a:ext cx="2092960" cy="25648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300"/>
              <a:buFont typeface="Inter"/>
              <a:buNone/>
            </a:pPr>
            <a:r>
              <a:rPr lang="en-US" sz="1300" b="1">
                <a:solidFill>
                  <a:srgbClr val="15171E"/>
                </a:solidFill>
                <a:latin typeface="Inter"/>
                <a:ea typeface="Inter"/>
                <a:cs typeface="Inter"/>
                <a:sym typeface="Inter"/>
              </a:rPr>
              <a:t>Gradient Boosting</a:t>
            </a:r>
            <a:endParaRPr sz="1300">
              <a:solidFill>
                <a:schemeClr val="dk1"/>
              </a:solidFill>
              <a:latin typeface="Inter"/>
              <a:ea typeface="Inter"/>
              <a:cs typeface="Inter"/>
              <a:sym typeface="Inter"/>
            </a:endParaRPr>
          </a:p>
        </p:txBody>
      </p:sp>
      <p:sp>
        <p:nvSpPr>
          <p:cNvPr id="123" name="Google Shape;123;p8"/>
          <p:cNvSpPr/>
          <p:nvPr/>
        </p:nvSpPr>
        <p:spPr>
          <a:xfrm>
            <a:off x="2971800" y="2714923"/>
            <a:ext cx="1981200" cy="215900"/>
          </a:xfrm>
          <a:prstGeom prst="roundRect">
            <a:avLst>
              <a:gd name="adj" fmla="val 17647"/>
            </a:avLst>
          </a:prstGeom>
          <a:solidFill>
            <a:srgbClr val="E857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8"/>
          <p:cNvSpPr/>
          <p:nvPr/>
        </p:nvSpPr>
        <p:spPr>
          <a:xfrm>
            <a:off x="5080000" y="2707382"/>
            <a:ext cx="695920" cy="25648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300"/>
              <a:buFont typeface="Inter"/>
              <a:buNone/>
            </a:pPr>
            <a:r>
              <a:rPr lang="en-US" sz="1300" b="1">
                <a:solidFill>
                  <a:srgbClr val="15171E"/>
                </a:solidFill>
                <a:latin typeface="Inter"/>
                <a:ea typeface="Inter"/>
                <a:cs typeface="Inter"/>
                <a:sym typeface="Inter"/>
              </a:rPr>
              <a:t>0.6245</a:t>
            </a:r>
            <a:endParaRPr sz="1300">
              <a:solidFill>
                <a:schemeClr val="dk1"/>
              </a:solidFill>
              <a:latin typeface="Inter"/>
              <a:ea typeface="Inter"/>
              <a:cs typeface="Inter"/>
              <a:sym typeface="Inter"/>
            </a:endParaRPr>
          </a:p>
        </p:txBody>
      </p:sp>
      <p:sp>
        <p:nvSpPr>
          <p:cNvPr id="125" name="Google Shape;125;p8"/>
          <p:cNvSpPr/>
          <p:nvPr/>
        </p:nvSpPr>
        <p:spPr>
          <a:xfrm>
            <a:off x="812800" y="3052763"/>
            <a:ext cx="2092960" cy="25648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300"/>
              <a:buFont typeface="Inter"/>
              <a:buNone/>
            </a:pPr>
            <a:r>
              <a:rPr lang="en-US" sz="1300">
                <a:solidFill>
                  <a:srgbClr val="15171E"/>
                </a:solidFill>
                <a:latin typeface="Inter"/>
                <a:ea typeface="Inter"/>
                <a:cs typeface="Inter"/>
                <a:sym typeface="Inter"/>
              </a:rPr>
              <a:t>Random Forest</a:t>
            </a:r>
            <a:endParaRPr sz="1300">
              <a:solidFill>
                <a:schemeClr val="dk1"/>
              </a:solidFill>
              <a:latin typeface="Inter"/>
              <a:ea typeface="Inter"/>
              <a:cs typeface="Inter"/>
              <a:sym typeface="Inter"/>
            </a:endParaRPr>
          </a:p>
        </p:txBody>
      </p:sp>
      <p:sp>
        <p:nvSpPr>
          <p:cNvPr id="126" name="Google Shape;126;p8"/>
          <p:cNvSpPr/>
          <p:nvPr/>
        </p:nvSpPr>
        <p:spPr>
          <a:xfrm>
            <a:off x="2971800" y="3060303"/>
            <a:ext cx="1949450" cy="215900"/>
          </a:xfrm>
          <a:prstGeom prst="roundRect">
            <a:avLst>
              <a:gd name="adj" fmla="val 17647"/>
            </a:avLst>
          </a:prstGeom>
          <a:solidFill>
            <a:srgbClr val="F0A1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8"/>
          <p:cNvSpPr/>
          <p:nvPr/>
        </p:nvSpPr>
        <p:spPr>
          <a:xfrm>
            <a:off x="5048250" y="3052763"/>
            <a:ext cx="620197" cy="25648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300"/>
              <a:buFont typeface="Inter"/>
              <a:buNone/>
            </a:pPr>
            <a:r>
              <a:rPr lang="en-US" sz="1300">
                <a:solidFill>
                  <a:srgbClr val="15171E"/>
                </a:solidFill>
                <a:latin typeface="Inter"/>
                <a:ea typeface="Inter"/>
                <a:cs typeface="Inter"/>
                <a:sym typeface="Inter"/>
              </a:rPr>
              <a:t>0.6133</a:t>
            </a:r>
            <a:endParaRPr sz="1300">
              <a:solidFill>
                <a:schemeClr val="dk1"/>
              </a:solidFill>
              <a:latin typeface="Inter"/>
              <a:ea typeface="Inter"/>
              <a:cs typeface="Inter"/>
              <a:sym typeface="Inter"/>
            </a:endParaRPr>
          </a:p>
        </p:txBody>
      </p:sp>
      <p:sp>
        <p:nvSpPr>
          <p:cNvPr id="128" name="Google Shape;128;p8"/>
          <p:cNvSpPr/>
          <p:nvPr/>
        </p:nvSpPr>
        <p:spPr>
          <a:xfrm>
            <a:off x="812800" y="3398143"/>
            <a:ext cx="2092960" cy="25648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300"/>
              <a:buFont typeface="Inter"/>
              <a:buNone/>
            </a:pPr>
            <a:r>
              <a:rPr lang="en-US" sz="1300">
                <a:solidFill>
                  <a:srgbClr val="15171E"/>
                </a:solidFill>
                <a:latin typeface="Inter"/>
                <a:ea typeface="Inter"/>
                <a:cs typeface="Inter"/>
                <a:sym typeface="Inter"/>
              </a:rPr>
              <a:t>Logistic Regression</a:t>
            </a:r>
            <a:endParaRPr sz="1300">
              <a:solidFill>
                <a:schemeClr val="dk1"/>
              </a:solidFill>
              <a:latin typeface="Inter"/>
              <a:ea typeface="Inter"/>
              <a:cs typeface="Inter"/>
              <a:sym typeface="Inter"/>
            </a:endParaRPr>
          </a:p>
        </p:txBody>
      </p:sp>
      <p:sp>
        <p:nvSpPr>
          <p:cNvPr id="129" name="Google Shape;129;p8"/>
          <p:cNvSpPr/>
          <p:nvPr/>
        </p:nvSpPr>
        <p:spPr>
          <a:xfrm>
            <a:off x="2971800" y="3405684"/>
            <a:ext cx="1866900" cy="215900"/>
          </a:xfrm>
          <a:prstGeom prst="roundRect">
            <a:avLst>
              <a:gd name="adj" fmla="val 17647"/>
            </a:avLst>
          </a:prstGeom>
          <a:solidFill>
            <a:srgbClr val="F0A1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8"/>
          <p:cNvSpPr/>
          <p:nvPr/>
        </p:nvSpPr>
        <p:spPr>
          <a:xfrm>
            <a:off x="4965700" y="3398143"/>
            <a:ext cx="654487" cy="25648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300"/>
              <a:buFont typeface="Inter"/>
              <a:buNone/>
            </a:pPr>
            <a:r>
              <a:rPr lang="en-US" sz="1300">
                <a:solidFill>
                  <a:srgbClr val="15171E"/>
                </a:solidFill>
                <a:latin typeface="Inter"/>
                <a:ea typeface="Inter"/>
                <a:cs typeface="Inter"/>
                <a:sym typeface="Inter"/>
              </a:rPr>
              <a:t>0.5885</a:t>
            </a:r>
            <a:endParaRPr sz="1300">
              <a:solidFill>
                <a:schemeClr val="dk1"/>
              </a:solidFill>
              <a:latin typeface="Inter"/>
              <a:ea typeface="Inter"/>
              <a:cs typeface="Inter"/>
              <a:sym typeface="Inter"/>
            </a:endParaRPr>
          </a:p>
        </p:txBody>
      </p:sp>
      <p:sp>
        <p:nvSpPr>
          <p:cNvPr id="131" name="Google Shape;131;p8"/>
          <p:cNvSpPr/>
          <p:nvPr/>
        </p:nvSpPr>
        <p:spPr>
          <a:xfrm>
            <a:off x="812800" y="3743523"/>
            <a:ext cx="2092960" cy="25648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300"/>
              <a:buFont typeface="Inter"/>
              <a:buNone/>
            </a:pPr>
            <a:r>
              <a:rPr lang="en-US" sz="1300">
                <a:solidFill>
                  <a:srgbClr val="15171E"/>
                </a:solidFill>
                <a:latin typeface="Inter"/>
                <a:ea typeface="Inter"/>
                <a:cs typeface="Inter"/>
                <a:sym typeface="Inter"/>
              </a:rPr>
              <a:t>Baseline</a:t>
            </a:r>
            <a:endParaRPr sz="1300">
              <a:solidFill>
                <a:schemeClr val="dk1"/>
              </a:solidFill>
              <a:latin typeface="Inter"/>
              <a:ea typeface="Inter"/>
              <a:cs typeface="Inter"/>
              <a:sym typeface="Inter"/>
            </a:endParaRPr>
          </a:p>
        </p:txBody>
      </p:sp>
      <p:sp>
        <p:nvSpPr>
          <p:cNvPr id="132" name="Google Shape;132;p8"/>
          <p:cNvSpPr/>
          <p:nvPr/>
        </p:nvSpPr>
        <p:spPr>
          <a:xfrm>
            <a:off x="2971800" y="3743523"/>
            <a:ext cx="2676644" cy="25648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5B5E66"/>
              </a:buClr>
              <a:buSzPts val="1300"/>
              <a:buFont typeface="Inter"/>
              <a:buNone/>
            </a:pPr>
            <a:r>
              <a:rPr lang="en-US" sz="1300">
                <a:solidFill>
                  <a:srgbClr val="5B5E66"/>
                </a:solidFill>
                <a:latin typeface="Inter"/>
                <a:ea typeface="Inter"/>
                <a:cs typeface="Inter"/>
                <a:sym typeface="Inter"/>
              </a:rPr>
              <a:t>0.0000 (finds no successes)</a:t>
            </a:r>
            <a:endParaRPr sz="1300">
              <a:solidFill>
                <a:schemeClr val="dk1"/>
              </a:solidFill>
              <a:latin typeface="Inter"/>
              <a:ea typeface="Inter"/>
              <a:cs typeface="Inter"/>
              <a:sym typeface="Inter"/>
            </a:endParaRPr>
          </a:p>
        </p:txBody>
      </p:sp>
      <p:sp>
        <p:nvSpPr>
          <p:cNvPr id="133" name="Google Shape;133;p8"/>
          <p:cNvSpPr/>
          <p:nvPr/>
        </p:nvSpPr>
        <p:spPr>
          <a:xfrm>
            <a:off x="812800" y="4088904"/>
            <a:ext cx="6671310" cy="274241"/>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2563C9"/>
              </a:buClr>
              <a:buSzPts val="1400"/>
              <a:buFont typeface="Space Grotesk"/>
              <a:buNone/>
            </a:pPr>
            <a:r>
              <a:rPr lang="en-US" sz="1400" b="1">
                <a:solidFill>
                  <a:srgbClr val="2563C9"/>
                </a:solidFill>
                <a:latin typeface="Space Grotesk"/>
                <a:ea typeface="Space Grotesk"/>
                <a:cs typeface="Space Grotesk"/>
                <a:sym typeface="Space Grotesk"/>
              </a:rPr>
              <a:t>ROC AUC (0.5 = coin flip, 1.0 = perfect ranking)</a:t>
            </a:r>
            <a:endParaRPr sz="1400">
              <a:solidFill>
                <a:schemeClr val="dk1"/>
              </a:solidFill>
              <a:latin typeface="Inter"/>
              <a:ea typeface="Inter"/>
              <a:cs typeface="Inter"/>
              <a:sym typeface="Inter"/>
            </a:endParaRPr>
          </a:p>
        </p:txBody>
      </p:sp>
      <p:sp>
        <p:nvSpPr>
          <p:cNvPr id="134" name="Google Shape;134;p8"/>
          <p:cNvSpPr/>
          <p:nvPr/>
        </p:nvSpPr>
        <p:spPr>
          <a:xfrm>
            <a:off x="812800" y="4452045"/>
            <a:ext cx="2092960" cy="25648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300"/>
              <a:buFont typeface="Inter"/>
              <a:buNone/>
            </a:pPr>
            <a:r>
              <a:rPr lang="en-US" sz="1300" b="1">
                <a:solidFill>
                  <a:srgbClr val="15171E"/>
                </a:solidFill>
                <a:latin typeface="Inter"/>
                <a:ea typeface="Inter"/>
                <a:cs typeface="Inter"/>
                <a:sym typeface="Inter"/>
              </a:rPr>
              <a:t>Gradient Boosting</a:t>
            </a:r>
            <a:endParaRPr sz="1300">
              <a:solidFill>
                <a:schemeClr val="dk1"/>
              </a:solidFill>
              <a:latin typeface="Inter"/>
              <a:ea typeface="Inter"/>
              <a:cs typeface="Inter"/>
              <a:sym typeface="Inter"/>
            </a:endParaRPr>
          </a:p>
        </p:txBody>
      </p:sp>
      <p:sp>
        <p:nvSpPr>
          <p:cNvPr id="135" name="Google Shape;135;p8"/>
          <p:cNvSpPr/>
          <p:nvPr/>
        </p:nvSpPr>
        <p:spPr>
          <a:xfrm>
            <a:off x="2971800" y="4459585"/>
            <a:ext cx="2419350" cy="215900"/>
          </a:xfrm>
          <a:prstGeom prst="roundRect">
            <a:avLst>
              <a:gd name="adj" fmla="val 17647"/>
            </a:avLst>
          </a:prstGeom>
          <a:solidFill>
            <a:srgbClr val="2563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8"/>
          <p:cNvSpPr/>
          <p:nvPr/>
        </p:nvSpPr>
        <p:spPr>
          <a:xfrm>
            <a:off x="5518150" y="4452045"/>
            <a:ext cx="630436" cy="25648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300"/>
              <a:buFont typeface="Inter"/>
              <a:buNone/>
            </a:pPr>
            <a:r>
              <a:rPr lang="en-US" sz="1300" b="1">
                <a:solidFill>
                  <a:srgbClr val="15171E"/>
                </a:solidFill>
                <a:latin typeface="Inter"/>
                <a:ea typeface="Inter"/>
                <a:cs typeface="Inter"/>
                <a:sym typeface="Inter"/>
              </a:rPr>
              <a:t>0.7617</a:t>
            </a:r>
            <a:endParaRPr sz="1300">
              <a:solidFill>
                <a:schemeClr val="dk1"/>
              </a:solidFill>
              <a:latin typeface="Inter"/>
              <a:ea typeface="Inter"/>
              <a:cs typeface="Inter"/>
              <a:sym typeface="Inter"/>
            </a:endParaRPr>
          </a:p>
        </p:txBody>
      </p:sp>
      <p:sp>
        <p:nvSpPr>
          <p:cNvPr id="137" name="Google Shape;137;p8"/>
          <p:cNvSpPr/>
          <p:nvPr/>
        </p:nvSpPr>
        <p:spPr>
          <a:xfrm>
            <a:off x="812800" y="4797425"/>
            <a:ext cx="2092960" cy="25648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300"/>
              <a:buFont typeface="Inter"/>
              <a:buNone/>
            </a:pPr>
            <a:r>
              <a:rPr lang="en-US" sz="1300">
                <a:solidFill>
                  <a:srgbClr val="15171E"/>
                </a:solidFill>
                <a:latin typeface="Inter"/>
                <a:ea typeface="Inter"/>
                <a:cs typeface="Inter"/>
                <a:sym typeface="Inter"/>
              </a:rPr>
              <a:t>Random Forest</a:t>
            </a:r>
            <a:endParaRPr sz="1300">
              <a:solidFill>
                <a:schemeClr val="dk1"/>
              </a:solidFill>
              <a:latin typeface="Inter"/>
              <a:ea typeface="Inter"/>
              <a:cs typeface="Inter"/>
              <a:sym typeface="Inter"/>
            </a:endParaRPr>
          </a:p>
        </p:txBody>
      </p:sp>
      <p:sp>
        <p:nvSpPr>
          <p:cNvPr id="138" name="Google Shape;138;p8"/>
          <p:cNvSpPr/>
          <p:nvPr/>
        </p:nvSpPr>
        <p:spPr>
          <a:xfrm>
            <a:off x="2971800" y="4804966"/>
            <a:ext cx="2374900" cy="215900"/>
          </a:xfrm>
          <a:prstGeom prst="roundRect">
            <a:avLst>
              <a:gd name="adj" fmla="val 17647"/>
            </a:avLst>
          </a:prstGeom>
          <a:solidFill>
            <a:srgbClr val="8FB0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8"/>
          <p:cNvSpPr/>
          <p:nvPr/>
        </p:nvSpPr>
        <p:spPr>
          <a:xfrm>
            <a:off x="5473700" y="4797425"/>
            <a:ext cx="606028" cy="25648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300"/>
              <a:buFont typeface="Inter"/>
              <a:buNone/>
            </a:pPr>
            <a:r>
              <a:rPr lang="en-US" sz="1300">
                <a:solidFill>
                  <a:srgbClr val="15171E"/>
                </a:solidFill>
                <a:latin typeface="Inter"/>
                <a:ea typeface="Inter"/>
                <a:cs typeface="Inter"/>
                <a:sym typeface="Inter"/>
              </a:rPr>
              <a:t>0.7481</a:t>
            </a:r>
            <a:endParaRPr sz="1300">
              <a:solidFill>
                <a:schemeClr val="dk1"/>
              </a:solidFill>
              <a:latin typeface="Inter"/>
              <a:ea typeface="Inter"/>
              <a:cs typeface="Inter"/>
              <a:sym typeface="Inter"/>
            </a:endParaRPr>
          </a:p>
        </p:txBody>
      </p:sp>
      <p:sp>
        <p:nvSpPr>
          <p:cNvPr id="140" name="Google Shape;140;p8"/>
          <p:cNvSpPr/>
          <p:nvPr/>
        </p:nvSpPr>
        <p:spPr>
          <a:xfrm>
            <a:off x="812800" y="5142805"/>
            <a:ext cx="2092960" cy="25648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300"/>
              <a:buFont typeface="Inter"/>
              <a:buNone/>
            </a:pPr>
            <a:r>
              <a:rPr lang="en-US" sz="1300">
                <a:solidFill>
                  <a:srgbClr val="15171E"/>
                </a:solidFill>
                <a:latin typeface="Inter"/>
                <a:ea typeface="Inter"/>
                <a:cs typeface="Inter"/>
                <a:sym typeface="Inter"/>
              </a:rPr>
              <a:t>Logistic Regression</a:t>
            </a:r>
            <a:endParaRPr sz="1300">
              <a:solidFill>
                <a:schemeClr val="dk1"/>
              </a:solidFill>
              <a:latin typeface="Inter"/>
              <a:ea typeface="Inter"/>
              <a:cs typeface="Inter"/>
              <a:sym typeface="Inter"/>
            </a:endParaRPr>
          </a:p>
        </p:txBody>
      </p:sp>
      <p:sp>
        <p:nvSpPr>
          <p:cNvPr id="141" name="Google Shape;141;p8"/>
          <p:cNvSpPr/>
          <p:nvPr/>
        </p:nvSpPr>
        <p:spPr>
          <a:xfrm>
            <a:off x="2971800" y="5150346"/>
            <a:ext cx="2298700" cy="215900"/>
          </a:xfrm>
          <a:prstGeom prst="roundRect">
            <a:avLst>
              <a:gd name="adj" fmla="val 17647"/>
            </a:avLst>
          </a:prstGeom>
          <a:solidFill>
            <a:srgbClr val="8FB0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8"/>
          <p:cNvSpPr/>
          <p:nvPr/>
        </p:nvSpPr>
        <p:spPr>
          <a:xfrm>
            <a:off x="5397500" y="5142805"/>
            <a:ext cx="652939" cy="25648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300"/>
              <a:buFont typeface="Inter"/>
              <a:buNone/>
            </a:pPr>
            <a:r>
              <a:rPr lang="en-US" sz="1300">
                <a:solidFill>
                  <a:srgbClr val="15171E"/>
                </a:solidFill>
                <a:latin typeface="Inter"/>
                <a:ea typeface="Inter"/>
                <a:cs typeface="Inter"/>
                <a:sym typeface="Inter"/>
              </a:rPr>
              <a:t>0.7242</a:t>
            </a:r>
            <a:endParaRPr sz="1300">
              <a:solidFill>
                <a:schemeClr val="dk1"/>
              </a:solidFill>
              <a:latin typeface="Inter"/>
              <a:ea typeface="Inter"/>
              <a:cs typeface="Inter"/>
              <a:sym typeface="Inter"/>
            </a:endParaRPr>
          </a:p>
        </p:txBody>
      </p:sp>
      <p:sp>
        <p:nvSpPr>
          <p:cNvPr id="143" name="Google Shape;143;p8"/>
          <p:cNvSpPr/>
          <p:nvPr/>
        </p:nvSpPr>
        <p:spPr>
          <a:xfrm>
            <a:off x="812800" y="5488186"/>
            <a:ext cx="2092960" cy="25648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300"/>
              <a:buFont typeface="Inter"/>
              <a:buNone/>
            </a:pPr>
            <a:r>
              <a:rPr lang="en-US" sz="1300">
                <a:solidFill>
                  <a:srgbClr val="15171E"/>
                </a:solidFill>
                <a:latin typeface="Inter"/>
                <a:ea typeface="Inter"/>
                <a:cs typeface="Inter"/>
                <a:sym typeface="Inter"/>
              </a:rPr>
              <a:t>Baseline</a:t>
            </a:r>
            <a:endParaRPr sz="1300">
              <a:solidFill>
                <a:schemeClr val="dk1"/>
              </a:solidFill>
              <a:latin typeface="Inter"/>
              <a:ea typeface="Inter"/>
              <a:cs typeface="Inter"/>
              <a:sym typeface="Inter"/>
            </a:endParaRPr>
          </a:p>
        </p:txBody>
      </p:sp>
      <p:sp>
        <p:nvSpPr>
          <p:cNvPr id="144" name="Google Shape;144;p8"/>
          <p:cNvSpPr/>
          <p:nvPr/>
        </p:nvSpPr>
        <p:spPr>
          <a:xfrm>
            <a:off x="2971800" y="5495727"/>
            <a:ext cx="1587500" cy="215900"/>
          </a:xfrm>
          <a:prstGeom prst="roundRect">
            <a:avLst>
              <a:gd name="adj" fmla="val 17647"/>
            </a:avLst>
          </a:prstGeom>
          <a:solidFill>
            <a:srgbClr val="C9CB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8"/>
          <p:cNvSpPr/>
          <p:nvPr/>
        </p:nvSpPr>
        <p:spPr>
          <a:xfrm>
            <a:off x="4686300" y="5488186"/>
            <a:ext cx="666750" cy="25648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300"/>
              <a:buFont typeface="Inter"/>
              <a:buNone/>
            </a:pPr>
            <a:r>
              <a:rPr lang="en-US" sz="1300">
                <a:solidFill>
                  <a:srgbClr val="15171E"/>
                </a:solidFill>
                <a:latin typeface="Inter"/>
                <a:ea typeface="Inter"/>
                <a:cs typeface="Inter"/>
                <a:sym typeface="Inter"/>
              </a:rPr>
              <a:t>0.5000</a:t>
            </a:r>
            <a:endParaRPr sz="1300">
              <a:solidFill>
                <a:schemeClr val="dk1"/>
              </a:solidFill>
              <a:latin typeface="Inter"/>
              <a:ea typeface="Inter"/>
              <a:cs typeface="Inter"/>
              <a:sym typeface="Inter"/>
            </a:endParaRPr>
          </a:p>
        </p:txBody>
      </p:sp>
      <p:sp>
        <p:nvSpPr>
          <p:cNvPr id="146" name="Google Shape;146;p8"/>
          <p:cNvSpPr/>
          <p:nvPr/>
        </p:nvSpPr>
        <p:spPr>
          <a:xfrm>
            <a:off x="7645400" y="1803301"/>
            <a:ext cx="3845814" cy="2540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5171E"/>
              </a:buClr>
              <a:buSzPts val="1500"/>
              <a:buFont typeface="Space Grotesk"/>
              <a:buNone/>
            </a:pPr>
            <a:r>
              <a:rPr lang="en-US" sz="1500" b="1">
                <a:solidFill>
                  <a:srgbClr val="15171E"/>
                </a:solidFill>
                <a:latin typeface="Space Grotesk"/>
                <a:ea typeface="Space Grotesk"/>
                <a:cs typeface="Space Grotesk"/>
                <a:sym typeface="Space Grotesk"/>
              </a:rPr>
              <a:t>How our model compares</a:t>
            </a:r>
            <a:endParaRPr sz="1500">
              <a:solidFill>
                <a:schemeClr val="dk1"/>
              </a:solidFill>
              <a:latin typeface="Inter"/>
              <a:ea typeface="Inter"/>
              <a:cs typeface="Inter"/>
              <a:sym typeface="Inter"/>
            </a:endParaRPr>
          </a:p>
        </p:txBody>
      </p:sp>
      <p:sp>
        <p:nvSpPr>
          <p:cNvPr id="147" name="Google Shape;147;p8"/>
          <p:cNvSpPr/>
          <p:nvPr/>
        </p:nvSpPr>
        <p:spPr>
          <a:xfrm>
            <a:off x="7645400" y="2171601"/>
            <a:ext cx="3845814" cy="665361"/>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200"/>
              <a:buFont typeface="Inter"/>
              <a:buNone/>
            </a:pPr>
            <a:r>
              <a:rPr lang="en-US" sz="1200" b="1">
                <a:solidFill>
                  <a:srgbClr val="15171E"/>
                </a:solidFill>
                <a:latin typeface="Inter"/>
                <a:ea typeface="Inter"/>
                <a:cs typeface="Inter"/>
                <a:sym typeface="Inter"/>
              </a:rPr>
              <a:t>Gradient Boosting (our model):</a:t>
            </a:r>
            <a:r>
              <a:rPr lang="en-US" sz="1200">
                <a:solidFill>
                  <a:srgbClr val="15171E"/>
                </a:solidFill>
                <a:latin typeface="Inter"/>
                <a:ea typeface="Inter"/>
                <a:cs typeface="Inter"/>
                <a:sym typeface="Inter"/>
              </a:rPr>
              <a:t> best on every metric (F1 0.6245, AUC 0.7617; best setting: learning rate 0.1, 63 leaves).</a:t>
            </a:r>
            <a:endParaRPr sz="1200">
              <a:solidFill>
                <a:schemeClr val="dk1"/>
              </a:solidFill>
              <a:latin typeface="Inter"/>
              <a:ea typeface="Inter"/>
              <a:cs typeface="Inter"/>
              <a:sym typeface="Inter"/>
            </a:endParaRPr>
          </a:p>
        </p:txBody>
      </p:sp>
      <p:sp>
        <p:nvSpPr>
          <p:cNvPr id="148" name="Google Shape;148;p8"/>
          <p:cNvSpPr/>
          <p:nvPr/>
        </p:nvSpPr>
        <p:spPr>
          <a:xfrm>
            <a:off x="7645400" y="2951262"/>
            <a:ext cx="3845814" cy="665361"/>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200"/>
              <a:buFont typeface="Inter"/>
              <a:buNone/>
            </a:pPr>
            <a:r>
              <a:rPr lang="en-US" sz="1200" b="1">
                <a:solidFill>
                  <a:srgbClr val="15171E"/>
                </a:solidFill>
                <a:latin typeface="Inter"/>
                <a:ea typeface="Inter"/>
                <a:cs typeface="Inter"/>
                <a:sym typeface="Inter"/>
              </a:rPr>
              <a:t>Random Forest (benchmark):</a:t>
            </a:r>
            <a:r>
              <a:rPr lang="en-US" sz="1200">
                <a:solidFill>
                  <a:srgbClr val="15171E"/>
                </a:solidFill>
                <a:latin typeface="Inter"/>
                <a:ea typeface="Inter"/>
                <a:cs typeface="Inter"/>
                <a:sym typeface="Inter"/>
              </a:rPr>
              <a:t> close second (F1 0.6133, AUC 0.7481; deeper trees helped, depth 20).</a:t>
            </a:r>
            <a:endParaRPr sz="1200">
              <a:solidFill>
                <a:schemeClr val="dk1"/>
              </a:solidFill>
              <a:latin typeface="Inter"/>
              <a:ea typeface="Inter"/>
              <a:cs typeface="Inter"/>
              <a:sym typeface="Inter"/>
            </a:endParaRPr>
          </a:p>
        </p:txBody>
      </p:sp>
      <p:sp>
        <p:nvSpPr>
          <p:cNvPr id="149" name="Google Shape;149;p8"/>
          <p:cNvSpPr/>
          <p:nvPr/>
        </p:nvSpPr>
        <p:spPr>
          <a:xfrm>
            <a:off x="7645400" y="3730923"/>
            <a:ext cx="3845814" cy="878681"/>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200"/>
              <a:buFont typeface="Inter"/>
              <a:buNone/>
            </a:pPr>
            <a:r>
              <a:rPr lang="en-US" sz="1200" b="1">
                <a:solidFill>
                  <a:srgbClr val="15171E"/>
                </a:solidFill>
                <a:latin typeface="Inter"/>
                <a:ea typeface="Inter"/>
                <a:cs typeface="Inter"/>
                <a:sym typeface="Inter"/>
              </a:rPr>
              <a:t>Logistic Regression (benchmark):</a:t>
            </a:r>
            <a:r>
              <a:rPr lang="en-US" sz="1200">
                <a:solidFill>
                  <a:srgbClr val="15171E"/>
                </a:solidFill>
                <a:latin typeface="Inter"/>
                <a:ea typeface="Inter"/>
                <a:cs typeface="Inter"/>
                <a:sym typeface="Inter"/>
              </a:rPr>
              <a:t> weakest but most transparent (F1 0.5885). Weighting successes mattered far more than other tuning (F1 0.4803 unweighted vs 0.5885 weighted).</a:t>
            </a:r>
            <a:endParaRPr sz="1200">
              <a:solidFill>
                <a:schemeClr val="dk1"/>
              </a:solidFill>
              <a:latin typeface="Inter"/>
              <a:ea typeface="Inter"/>
              <a:cs typeface="Inter"/>
              <a:sym typeface="Inter"/>
            </a:endParaRPr>
          </a:p>
        </p:txBody>
      </p:sp>
      <p:sp>
        <p:nvSpPr>
          <p:cNvPr id="150" name="Google Shape;150;p8"/>
          <p:cNvSpPr/>
          <p:nvPr/>
        </p:nvSpPr>
        <p:spPr>
          <a:xfrm>
            <a:off x="7645400" y="4723904"/>
            <a:ext cx="3733800" cy="893961"/>
          </a:xfrm>
          <a:prstGeom prst="roundRect">
            <a:avLst>
              <a:gd name="adj" fmla="val 8524"/>
            </a:avLst>
          </a:prstGeom>
          <a:solidFill>
            <a:srgbClr val="E9E4D8"/>
          </a:solidFill>
          <a:ln>
            <a:noFill/>
          </a:ln>
        </p:spPr>
        <p:txBody>
          <a:bodyPr spcFirstLastPara="1" wrap="square" lIns="104675" tIns="104675" rIns="275" bIns="79275" anchor="t" anchorCtr="0">
            <a:noAutofit/>
          </a:bodyPr>
          <a:lstStyle/>
          <a:p>
            <a:pPr marL="0" marR="0" lvl="0" indent="0" algn="l" rtl="0">
              <a:lnSpc>
                <a:spcPct val="140000"/>
              </a:lnSpc>
              <a:spcBef>
                <a:spcPts val="0"/>
              </a:spcBef>
              <a:spcAft>
                <a:spcPts val="0"/>
              </a:spcAft>
              <a:buClr>
                <a:srgbClr val="15171E"/>
              </a:buClr>
              <a:buSzPts val="1200"/>
              <a:buFont typeface="Inter"/>
              <a:buNone/>
            </a:pPr>
            <a:r>
              <a:rPr lang="en-US" sz="1200" b="1">
                <a:solidFill>
                  <a:srgbClr val="15171E"/>
                </a:solidFill>
                <a:latin typeface="Inter"/>
                <a:ea typeface="Inter"/>
                <a:cs typeface="Inter"/>
                <a:sym typeface="Inter"/>
              </a:rPr>
              <a:t>So what:</a:t>
            </a:r>
            <a:r>
              <a:rPr lang="en-US" sz="1200">
                <a:solidFill>
                  <a:srgbClr val="15171E"/>
                </a:solidFill>
                <a:latin typeface="Inter"/>
                <a:ea typeface="Inter"/>
                <a:cs typeface="Inter"/>
                <a:sym typeface="Inter"/>
              </a:rPr>
              <a:t> our model leads, but the benchmarks land close (F1 0.59–0.62), so the limit is the data, not the algorithm.</a:t>
            </a:r>
            <a:endParaRPr sz="1200">
              <a:solidFill>
                <a:schemeClr val="dk1"/>
              </a:solidFill>
              <a:latin typeface="Inter"/>
              <a:ea typeface="Inter"/>
              <a:cs typeface="Inter"/>
              <a:sym typeface="Inter"/>
            </a:endParaRPr>
          </a:p>
        </p:txBody>
      </p:sp>
      <p:sp>
        <p:nvSpPr>
          <p:cNvPr id="151" name="Google Shape;151;p8"/>
          <p:cNvSpPr/>
          <p:nvPr/>
        </p:nvSpPr>
        <p:spPr>
          <a:xfrm>
            <a:off x="812800" y="6238280"/>
            <a:ext cx="7848600" cy="23872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6B6E76"/>
              </a:buClr>
              <a:buSzPts val="1200"/>
              <a:buFont typeface="Inter"/>
              <a:buNone/>
            </a:pPr>
            <a:r>
              <a:rPr lang="en-US" sz="1200">
                <a:solidFill>
                  <a:srgbClr val="6B6E76"/>
                </a:solidFill>
                <a:latin typeface="Inter"/>
                <a:ea typeface="Inter"/>
                <a:cs typeface="Inter"/>
                <a:sym typeface="Inter"/>
              </a:rPr>
              <a:t>Outliers · Will your Kickstarter get funded?</a:t>
            </a:r>
            <a:endParaRPr sz="1200">
              <a:solidFill>
                <a:schemeClr val="dk1"/>
              </a:solidFill>
              <a:latin typeface="Inter"/>
              <a:ea typeface="Inter"/>
              <a:cs typeface="Inter"/>
              <a:sym typeface="Inter"/>
            </a:endParaRPr>
          </a:p>
        </p:txBody>
      </p:sp>
      <p:sp>
        <p:nvSpPr>
          <p:cNvPr id="152" name="Google Shape;152;p8"/>
          <p:cNvSpPr/>
          <p:nvPr/>
        </p:nvSpPr>
        <p:spPr>
          <a:xfrm>
            <a:off x="10058400" y="6238280"/>
            <a:ext cx="1320800" cy="238720"/>
          </a:xfrm>
          <a:prstGeom prst="rect">
            <a:avLst/>
          </a:prstGeom>
          <a:noFill/>
          <a:ln>
            <a:noFill/>
          </a:ln>
        </p:spPr>
        <p:txBody>
          <a:bodyPr spcFirstLastPara="1" wrap="square" lIns="0" tIns="0" rIns="0" bIns="0" anchor="t" anchorCtr="0">
            <a:noAutofit/>
          </a:bodyPr>
          <a:lstStyle/>
          <a:p>
            <a:pPr marL="0" marR="0" lvl="0" indent="0" algn="r" rtl="0">
              <a:lnSpc>
                <a:spcPct val="140000"/>
              </a:lnSpc>
              <a:spcBef>
                <a:spcPts val="0"/>
              </a:spcBef>
              <a:spcAft>
                <a:spcPts val="0"/>
              </a:spcAft>
              <a:buClr>
                <a:srgbClr val="6B6E76"/>
              </a:buClr>
              <a:buSzPts val="1200"/>
              <a:buFont typeface="Inter"/>
              <a:buNone/>
            </a:pPr>
            <a:r>
              <a:rPr lang="en-US" sz="1200">
                <a:solidFill>
                  <a:srgbClr val="6B6E76"/>
                </a:solidFill>
                <a:latin typeface="Inter"/>
                <a:ea typeface="Inter"/>
                <a:cs typeface="Inter"/>
                <a:sym typeface="Inter"/>
              </a:rPr>
              <a:t>5 / 12</a:t>
            </a:r>
            <a:endParaRPr sz="1200">
              <a:solidFill>
                <a:schemeClr val="dk1"/>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Shape 157"/>
        <p:cNvGrpSpPr/>
        <p:nvPr/>
      </p:nvGrpSpPr>
      <p:grpSpPr>
        <a:xfrm>
          <a:off x="0" y="0"/>
          <a:ext cx="0" cy="0"/>
          <a:chOff x="0" y="0"/>
          <a:chExt cx="0" cy="0"/>
        </a:xfrm>
      </p:grpSpPr>
      <p:sp>
        <p:nvSpPr>
          <p:cNvPr id="158" name="Google Shape;158;p9"/>
          <p:cNvSpPr/>
          <p:nvPr/>
        </p:nvSpPr>
        <p:spPr>
          <a:xfrm>
            <a:off x="812800" y="812800"/>
            <a:ext cx="10883392" cy="223044"/>
          </a:xfrm>
          <a:prstGeom prst="rect">
            <a:avLst/>
          </a:prstGeom>
          <a:noFill/>
          <a:ln>
            <a:noFill/>
          </a:ln>
        </p:spPr>
        <p:txBody>
          <a:bodyPr spcFirstLastPara="1" wrap="square" lIns="0" tIns="0" rIns="0" bIns="0" anchor="t" anchorCtr="0">
            <a:noAutofit/>
          </a:bodyPr>
          <a:lstStyle/>
          <a:p>
            <a:pPr marL="0" marR="0" lvl="0" indent="0" algn="l" rtl="0">
              <a:lnSpc>
                <a:spcPct val="140053"/>
              </a:lnSpc>
              <a:spcBef>
                <a:spcPts val="0"/>
              </a:spcBef>
              <a:spcAft>
                <a:spcPts val="0"/>
              </a:spcAft>
              <a:buClr>
                <a:srgbClr val="B8401A"/>
              </a:buClr>
              <a:buSzPts val="1121"/>
              <a:buFont typeface="Inter"/>
              <a:buNone/>
            </a:pPr>
            <a:r>
              <a:rPr lang="en-US" sz="1121" b="1">
                <a:solidFill>
                  <a:srgbClr val="B8401A"/>
                </a:solidFill>
                <a:latin typeface="Inter"/>
                <a:ea typeface="Inter"/>
                <a:cs typeface="Inter"/>
                <a:sym typeface="Inter"/>
              </a:rPr>
              <a:t>05 · FINAL MODEL ON UNSEEN PROJECTS</a:t>
            </a:r>
            <a:endParaRPr sz="1121">
              <a:solidFill>
                <a:schemeClr val="dk1"/>
              </a:solidFill>
              <a:latin typeface="Inter"/>
              <a:ea typeface="Inter"/>
              <a:cs typeface="Inter"/>
              <a:sym typeface="Inter"/>
            </a:endParaRPr>
          </a:p>
        </p:txBody>
      </p:sp>
      <p:sp>
        <p:nvSpPr>
          <p:cNvPr id="159" name="Google Shape;159;p9"/>
          <p:cNvSpPr txBox="1">
            <a:spLocks noGrp="1"/>
          </p:cNvSpPr>
          <p:nvPr>
            <p:ph type="title"/>
          </p:nvPr>
        </p:nvSpPr>
        <p:spPr>
          <a:xfrm>
            <a:off x="812800" y="1086644"/>
            <a:ext cx="10883392" cy="439539"/>
          </a:xfrm>
          <a:prstGeom prst="rect">
            <a:avLst/>
          </a:prstGeom>
          <a:noFill/>
          <a:ln>
            <a:noFill/>
          </a:ln>
        </p:spPr>
        <p:txBody>
          <a:bodyPr spcFirstLastPara="1" wrap="square" lIns="0" tIns="0" rIns="0" bIns="0" anchor="t" anchorCtr="0">
            <a:normAutofit fontScale="90000"/>
          </a:bodyPr>
          <a:lstStyle/>
          <a:p>
            <a:pPr marL="0" lvl="0" indent="0" algn="l" rtl="0">
              <a:lnSpc>
                <a:spcPct val="110000"/>
              </a:lnSpc>
              <a:spcBef>
                <a:spcPts val="0"/>
              </a:spcBef>
              <a:spcAft>
                <a:spcPts val="0"/>
              </a:spcAft>
              <a:buClr>
                <a:srgbClr val="15171E"/>
              </a:buClr>
              <a:buSzPts val="2970"/>
              <a:buFont typeface="Space Grotesk"/>
              <a:buNone/>
            </a:pPr>
            <a:r>
              <a:rPr lang="en-US" sz="2970" b="1" i="0">
                <a:solidFill>
                  <a:srgbClr val="15171E"/>
                </a:solidFill>
                <a:latin typeface="Space Grotesk"/>
                <a:ea typeface="Space Grotesk"/>
                <a:cs typeface="Space Grotesk"/>
                <a:sym typeface="Space Grotesk"/>
              </a:rPr>
              <a:t>Right about 2 in 3 times, and stable</a:t>
            </a:r>
            <a:endParaRPr sz="2970"/>
          </a:p>
        </p:txBody>
      </p:sp>
      <p:sp>
        <p:nvSpPr>
          <p:cNvPr id="160" name="Google Shape;160;p9"/>
          <p:cNvSpPr/>
          <p:nvPr/>
        </p:nvSpPr>
        <p:spPr>
          <a:xfrm>
            <a:off x="812800" y="1678583"/>
            <a:ext cx="10883392" cy="224730"/>
          </a:xfrm>
          <a:prstGeom prst="rect">
            <a:avLst/>
          </a:prstGeom>
          <a:noFill/>
          <a:ln>
            <a:noFill/>
          </a:ln>
        </p:spPr>
        <p:txBody>
          <a:bodyPr spcFirstLastPara="1" wrap="square" lIns="0" tIns="0" rIns="0" bIns="0" anchor="t" anchorCtr="0">
            <a:noAutofit/>
          </a:bodyPr>
          <a:lstStyle/>
          <a:p>
            <a:pPr marL="0" marR="0" lvl="0" indent="0" algn="l" rtl="0">
              <a:lnSpc>
                <a:spcPct val="140053"/>
              </a:lnSpc>
              <a:spcBef>
                <a:spcPts val="0"/>
              </a:spcBef>
              <a:spcAft>
                <a:spcPts val="0"/>
              </a:spcAft>
              <a:buClr>
                <a:srgbClr val="5B5E66"/>
              </a:buClr>
              <a:buSzPts val="1121"/>
              <a:buFont typeface="Inter"/>
              <a:buNone/>
            </a:pPr>
            <a:r>
              <a:rPr lang="en-US" sz="1121">
                <a:solidFill>
                  <a:srgbClr val="5B5E66"/>
                </a:solidFill>
                <a:latin typeface="Inter"/>
                <a:ea typeface="Inter"/>
                <a:cs typeface="Inter"/>
                <a:sym typeface="Inter"/>
              </a:rPr>
              <a:t>What it shows: Gradient Boosting scored once on 73,315 held-out test projects (training notebook, “Final Model and Test Evaluation”)</a:t>
            </a:r>
            <a:endParaRPr sz="1121">
              <a:solidFill>
                <a:schemeClr val="dk1"/>
              </a:solidFill>
              <a:latin typeface="Inter"/>
              <a:ea typeface="Inter"/>
              <a:cs typeface="Inter"/>
              <a:sym typeface="Inter"/>
            </a:endParaRPr>
          </a:p>
        </p:txBody>
      </p:sp>
      <p:sp>
        <p:nvSpPr>
          <p:cNvPr id="161" name="Google Shape;161;p9"/>
          <p:cNvSpPr/>
          <p:nvPr/>
        </p:nvSpPr>
        <p:spPr>
          <a:xfrm>
            <a:off x="812800" y="2055713"/>
            <a:ext cx="2001441" cy="1447304"/>
          </a:xfrm>
          <a:prstGeom prst="roundRect">
            <a:avLst>
              <a:gd name="adj" fmla="val 7020"/>
            </a:avLst>
          </a:prstGeom>
          <a:solidFill>
            <a:srgbClr val="1517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9"/>
          <p:cNvSpPr/>
          <p:nvPr/>
        </p:nvSpPr>
        <p:spPr>
          <a:xfrm>
            <a:off x="990600" y="2233513"/>
            <a:ext cx="1696641" cy="221456"/>
          </a:xfrm>
          <a:prstGeom prst="rect">
            <a:avLst/>
          </a:prstGeom>
          <a:noFill/>
          <a:ln>
            <a:noFill/>
          </a:ln>
        </p:spPr>
        <p:txBody>
          <a:bodyPr spcFirstLastPara="1" wrap="square" lIns="0" tIns="0" rIns="0" bIns="0" anchor="t" anchorCtr="0">
            <a:noAutofit/>
          </a:bodyPr>
          <a:lstStyle/>
          <a:p>
            <a:pPr marL="0" marR="0" lvl="0" indent="0" algn="l" rtl="0">
              <a:lnSpc>
                <a:spcPct val="140053"/>
              </a:lnSpc>
              <a:spcBef>
                <a:spcPts val="0"/>
              </a:spcBef>
              <a:spcAft>
                <a:spcPts val="0"/>
              </a:spcAft>
              <a:buClr>
                <a:srgbClr val="FF7A4D"/>
              </a:buClr>
              <a:buSzPts val="1121"/>
              <a:buFont typeface="Inter"/>
              <a:buNone/>
            </a:pPr>
            <a:r>
              <a:rPr lang="en-US" sz="1121" b="1">
                <a:solidFill>
                  <a:srgbClr val="FF7A4D"/>
                </a:solidFill>
                <a:latin typeface="Inter"/>
                <a:ea typeface="Inter"/>
                <a:cs typeface="Inter"/>
                <a:sym typeface="Inter"/>
              </a:rPr>
              <a:t>F1</a:t>
            </a:r>
            <a:endParaRPr sz="1121">
              <a:solidFill>
                <a:schemeClr val="dk1"/>
              </a:solidFill>
              <a:latin typeface="Inter"/>
              <a:ea typeface="Inter"/>
              <a:cs typeface="Inter"/>
              <a:sym typeface="Inter"/>
            </a:endParaRPr>
          </a:p>
        </p:txBody>
      </p:sp>
      <p:sp>
        <p:nvSpPr>
          <p:cNvPr id="163" name="Google Shape;163;p9"/>
          <p:cNvSpPr/>
          <p:nvPr/>
        </p:nvSpPr>
        <p:spPr>
          <a:xfrm>
            <a:off x="990600" y="2467670"/>
            <a:ext cx="1696641" cy="466725"/>
          </a:xfrm>
          <a:prstGeom prst="rect">
            <a:avLst/>
          </a:prstGeom>
          <a:noFill/>
          <a:ln>
            <a:noFill/>
          </a:ln>
        </p:spPr>
        <p:txBody>
          <a:bodyPr spcFirstLastPara="1" wrap="square" lIns="0" tIns="0" rIns="0" bIns="0" anchor="t" anchorCtr="0">
            <a:noAutofit/>
          </a:bodyPr>
          <a:lstStyle/>
          <a:p>
            <a:pPr marL="0" marR="0" lvl="0" indent="0" algn="l" rtl="0">
              <a:lnSpc>
                <a:spcPct val="104980"/>
              </a:lnSpc>
              <a:spcBef>
                <a:spcPts val="0"/>
              </a:spcBef>
              <a:spcAft>
                <a:spcPts val="0"/>
              </a:spcAft>
              <a:buClr>
                <a:srgbClr val="F5F3EE"/>
              </a:buClr>
              <a:buSzPts val="3353"/>
              <a:buFont typeface="Space Grotesk"/>
              <a:buNone/>
            </a:pPr>
            <a:r>
              <a:rPr lang="en-US" sz="3353" b="1">
                <a:solidFill>
                  <a:srgbClr val="F5F3EE"/>
                </a:solidFill>
                <a:latin typeface="Space Grotesk"/>
                <a:ea typeface="Space Grotesk"/>
                <a:cs typeface="Space Grotesk"/>
                <a:sym typeface="Space Grotesk"/>
              </a:rPr>
              <a:t>0.621</a:t>
            </a:r>
            <a:endParaRPr sz="3353">
              <a:solidFill>
                <a:schemeClr val="dk1"/>
              </a:solidFill>
              <a:latin typeface="Inter"/>
              <a:ea typeface="Inter"/>
              <a:cs typeface="Inter"/>
              <a:sym typeface="Inter"/>
            </a:endParaRPr>
          </a:p>
        </p:txBody>
      </p:sp>
      <p:sp>
        <p:nvSpPr>
          <p:cNvPr id="164" name="Google Shape;164;p9"/>
          <p:cNvSpPr/>
          <p:nvPr/>
        </p:nvSpPr>
        <p:spPr>
          <a:xfrm>
            <a:off x="990600" y="2947095"/>
            <a:ext cx="1823641" cy="403523"/>
          </a:xfrm>
          <a:prstGeom prst="rect">
            <a:avLst/>
          </a:prstGeom>
          <a:noFill/>
          <a:ln>
            <a:noFill/>
          </a:ln>
        </p:spPr>
        <p:txBody>
          <a:bodyPr spcFirstLastPara="1" wrap="square" lIns="0" tIns="0" rIns="0" bIns="0" anchor="t" anchorCtr="0">
            <a:noAutofit/>
          </a:bodyPr>
          <a:lstStyle/>
          <a:p>
            <a:pPr marL="0" marR="0" lvl="0" indent="0" algn="l" rtl="0">
              <a:lnSpc>
                <a:spcPct val="134909"/>
              </a:lnSpc>
              <a:spcBef>
                <a:spcPts val="0"/>
              </a:spcBef>
              <a:spcAft>
                <a:spcPts val="0"/>
              </a:spcAft>
              <a:buClr>
                <a:srgbClr val="C4C7CE"/>
              </a:buClr>
              <a:buSzPts val="1163"/>
              <a:buFont typeface="Inter"/>
              <a:buNone/>
            </a:pPr>
            <a:r>
              <a:rPr lang="en-US" sz="1163">
                <a:solidFill>
                  <a:srgbClr val="C4C7CE"/>
                </a:solidFill>
                <a:latin typeface="Inter"/>
                <a:ea typeface="Inter"/>
                <a:cs typeface="Inter"/>
                <a:sym typeface="Inter"/>
              </a:rPr>
              <a:t>vs 0.00 for the baseline</a:t>
            </a:r>
            <a:endParaRPr sz="1163">
              <a:solidFill>
                <a:schemeClr val="dk1"/>
              </a:solidFill>
              <a:latin typeface="Inter"/>
              <a:ea typeface="Inter"/>
              <a:cs typeface="Inter"/>
              <a:sym typeface="Inter"/>
            </a:endParaRPr>
          </a:p>
        </p:txBody>
      </p:sp>
      <p:sp>
        <p:nvSpPr>
          <p:cNvPr id="165" name="Google Shape;165;p9"/>
          <p:cNvSpPr/>
          <p:nvPr/>
        </p:nvSpPr>
        <p:spPr>
          <a:xfrm>
            <a:off x="2944416" y="2058888"/>
            <a:ext cx="2007890" cy="1440954"/>
          </a:xfrm>
          <a:prstGeom prst="roundRect">
            <a:avLst>
              <a:gd name="adj" fmla="val 6831"/>
            </a:avLst>
          </a:prstGeom>
          <a:solidFill>
            <a:srgbClr val="FFFDF8"/>
          </a:solidFill>
          <a:ln w="9525" cap="flat" cmpd="sng">
            <a:solidFill>
              <a:srgbClr val="E2DE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9"/>
          <p:cNvSpPr/>
          <p:nvPr/>
        </p:nvSpPr>
        <p:spPr>
          <a:xfrm>
            <a:off x="3125391" y="2239863"/>
            <a:ext cx="1696740" cy="219075"/>
          </a:xfrm>
          <a:prstGeom prst="rect">
            <a:avLst/>
          </a:prstGeom>
          <a:noFill/>
          <a:ln>
            <a:noFill/>
          </a:ln>
        </p:spPr>
        <p:txBody>
          <a:bodyPr spcFirstLastPara="1" wrap="square" lIns="0" tIns="0" rIns="0" bIns="0" anchor="t" anchorCtr="0">
            <a:noAutofit/>
          </a:bodyPr>
          <a:lstStyle/>
          <a:p>
            <a:pPr marL="0" marR="0" lvl="0" indent="0" algn="l" rtl="0">
              <a:lnSpc>
                <a:spcPct val="140053"/>
              </a:lnSpc>
              <a:spcBef>
                <a:spcPts val="0"/>
              </a:spcBef>
              <a:spcAft>
                <a:spcPts val="0"/>
              </a:spcAft>
              <a:buClr>
                <a:srgbClr val="2563C9"/>
              </a:buClr>
              <a:buSzPts val="1121"/>
              <a:buFont typeface="Inter"/>
              <a:buNone/>
            </a:pPr>
            <a:r>
              <a:rPr lang="en-US" sz="1121" b="1">
                <a:solidFill>
                  <a:srgbClr val="2563C9"/>
                </a:solidFill>
                <a:latin typeface="Inter"/>
                <a:ea typeface="Inter"/>
                <a:cs typeface="Inter"/>
                <a:sym typeface="Inter"/>
              </a:rPr>
              <a:t>ROC AUC</a:t>
            </a:r>
            <a:endParaRPr sz="1121">
              <a:solidFill>
                <a:schemeClr val="dk1"/>
              </a:solidFill>
              <a:latin typeface="Inter"/>
              <a:ea typeface="Inter"/>
              <a:cs typeface="Inter"/>
              <a:sym typeface="Inter"/>
            </a:endParaRPr>
          </a:p>
        </p:txBody>
      </p:sp>
      <p:sp>
        <p:nvSpPr>
          <p:cNvPr id="167" name="Google Shape;167;p9"/>
          <p:cNvSpPr/>
          <p:nvPr/>
        </p:nvSpPr>
        <p:spPr>
          <a:xfrm>
            <a:off x="3125391" y="2471638"/>
            <a:ext cx="1696740" cy="461169"/>
          </a:xfrm>
          <a:prstGeom prst="rect">
            <a:avLst/>
          </a:prstGeom>
          <a:noFill/>
          <a:ln>
            <a:noFill/>
          </a:ln>
        </p:spPr>
        <p:txBody>
          <a:bodyPr spcFirstLastPara="1" wrap="square" lIns="0" tIns="0" rIns="0" bIns="0" anchor="t" anchorCtr="0">
            <a:noAutofit/>
          </a:bodyPr>
          <a:lstStyle/>
          <a:p>
            <a:pPr marL="0" marR="0" lvl="0" indent="0" algn="l" rtl="0">
              <a:lnSpc>
                <a:spcPct val="104987"/>
              </a:lnSpc>
              <a:spcBef>
                <a:spcPts val="0"/>
              </a:spcBef>
              <a:spcAft>
                <a:spcPts val="0"/>
              </a:spcAft>
              <a:buClr>
                <a:srgbClr val="15171E"/>
              </a:buClr>
              <a:buSzPts val="3308"/>
              <a:buFont typeface="Space Grotesk"/>
              <a:buNone/>
            </a:pPr>
            <a:r>
              <a:rPr lang="en-US" sz="3308" b="1">
                <a:solidFill>
                  <a:srgbClr val="15171E"/>
                </a:solidFill>
                <a:latin typeface="Space Grotesk"/>
                <a:ea typeface="Space Grotesk"/>
                <a:cs typeface="Space Grotesk"/>
                <a:sym typeface="Space Grotesk"/>
              </a:rPr>
              <a:t>0.758</a:t>
            </a:r>
            <a:endParaRPr sz="3308">
              <a:solidFill>
                <a:schemeClr val="dk1"/>
              </a:solidFill>
              <a:latin typeface="Inter"/>
              <a:ea typeface="Inter"/>
              <a:cs typeface="Inter"/>
              <a:sym typeface="Inter"/>
            </a:endParaRPr>
          </a:p>
        </p:txBody>
      </p:sp>
      <p:sp>
        <p:nvSpPr>
          <p:cNvPr id="168" name="Google Shape;168;p9"/>
          <p:cNvSpPr/>
          <p:nvPr/>
        </p:nvSpPr>
        <p:spPr>
          <a:xfrm>
            <a:off x="3125391" y="2945507"/>
            <a:ext cx="1696740" cy="398760"/>
          </a:xfrm>
          <a:prstGeom prst="rect">
            <a:avLst/>
          </a:prstGeom>
          <a:noFill/>
          <a:ln>
            <a:noFill/>
          </a:ln>
        </p:spPr>
        <p:txBody>
          <a:bodyPr spcFirstLastPara="1" wrap="square" lIns="0" tIns="0" rIns="0" bIns="0" anchor="t" anchorCtr="0">
            <a:noAutofit/>
          </a:bodyPr>
          <a:lstStyle/>
          <a:p>
            <a:pPr marL="0" marR="0" lvl="0" indent="0" algn="l" rtl="0">
              <a:lnSpc>
                <a:spcPct val="134940"/>
              </a:lnSpc>
              <a:spcBef>
                <a:spcPts val="0"/>
              </a:spcBef>
              <a:spcAft>
                <a:spcPts val="0"/>
              </a:spcAft>
              <a:buClr>
                <a:srgbClr val="5B5E66"/>
              </a:buClr>
              <a:buSzPts val="1099"/>
              <a:buFont typeface="Inter"/>
              <a:buNone/>
            </a:pPr>
            <a:r>
              <a:rPr lang="en-US" sz="1099">
                <a:solidFill>
                  <a:srgbClr val="5B5E66"/>
                </a:solidFill>
                <a:latin typeface="Inter"/>
                <a:ea typeface="Inter"/>
                <a:cs typeface="Inter"/>
                <a:sym typeface="Inter"/>
              </a:rPr>
              <a:t>well above a coin flip (0.5)</a:t>
            </a:r>
            <a:endParaRPr sz="1099">
              <a:solidFill>
                <a:schemeClr val="dk1"/>
              </a:solidFill>
              <a:latin typeface="Inter"/>
              <a:ea typeface="Inter"/>
              <a:cs typeface="Inter"/>
              <a:sym typeface="Inter"/>
            </a:endParaRPr>
          </a:p>
        </p:txBody>
      </p:sp>
      <p:sp>
        <p:nvSpPr>
          <p:cNvPr id="169" name="Google Shape;169;p9"/>
          <p:cNvSpPr/>
          <p:nvPr/>
        </p:nvSpPr>
        <p:spPr>
          <a:xfrm>
            <a:off x="5085655" y="2058888"/>
            <a:ext cx="2007890" cy="1440954"/>
          </a:xfrm>
          <a:prstGeom prst="roundRect">
            <a:avLst>
              <a:gd name="adj" fmla="val 6831"/>
            </a:avLst>
          </a:prstGeom>
          <a:solidFill>
            <a:srgbClr val="FFFDF8"/>
          </a:solidFill>
          <a:ln w="9525" cap="flat" cmpd="sng">
            <a:solidFill>
              <a:srgbClr val="E2DE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9"/>
          <p:cNvSpPr/>
          <p:nvPr/>
        </p:nvSpPr>
        <p:spPr>
          <a:xfrm>
            <a:off x="5266630" y="2239863"/>
            <a:ext cx="1696740" cy="219075"/>
          </a:xfrm>
          <a:prstGeom prst="rect">
            <a:avLst/>
          </a:prstGeom>
          <a:noFill/>
          <a:ln>
            <a:noFill/>
          </a:ln>
        </p:spPr>
        <p:txBody>
          <a:bodyPr spcFirstLastPara="1" wrap="square" lIns="0" tIns="0" rIns="0" bIns="0" anchor="t" anchorCtr="0">
            <a:noAutofit/>
          </a:bodyPr>
          <a:lstStyle/>
          <a:p>
            <a:pPr marL="0" marR="0" lvl="0" indent="0" algn="l" rtl="0">
              <a:lnSpc>
                <a:spcPct val="140053"/>
              </a:lnSpc>
              <a:spcBef>
                <a:spcPts val="0"/>
              </a:spcBef>
              <a:spcAft>
                <a:spcPts val="0"/>
              </a:spcAft>
              <a:buClr>
                <a:srgbClr val="2563C9"/>
              </a:buClr>
              <a:buSzPts val="1121"/>
              <a:buFont typeface="Inter"/>
              <a:buNone/>
            </a:pPr>
            <a:r>
              <a:rPr lang="en-US" sz="1121" b="1">
                <a:solidFill>
                  <a:srgbClr val="2563C9"/>
                </a:solidFill>
                <a:latin typeface="Inter"/>
                <a:ea typeface="Inter"/>
                <a:cs typeface="Inter"/>
                <a:sym typeface="Inter"/>
              </a:rPr>
              <a:t>Recall</a:t>
            </a:r>
            <a:endParaRPr sz="1121">
              <a:solidFill>
                <a:schemeClr val="dk1"/>
              </a:solidFill>
              <a:latin typeface="Inter"/>
              <a:ea typeface="Inter"/>
              <a:cs typeface="Inter"/>
              <a:sym typeface="Inter"/>
            </a:endParaRPr>
          </a:p>
        </p:txBody>
      </p:sp>
      <p:sp>
        <p:nvSpPr>
          <p:cNvPr id="171" name="Google Shape;171;p9"/>
          <p:cNvSpPr/>
          <p:nvPr/>
        </p:nvSpPr>
        <p:spPr>
          <a:xfrm>
            <a:off x="5266630" y="2471638"/>
            <a:ext cx="1696740" cy="461169"/>
          </a:xfrm>
          <a:prstGeom prst="rect">
            <a:avLst/>
          </a:prstGeom>
          <a:noFill/>
          <a:ln>
            <a:noFill/>
          </a:ln>
        </p:spPr>
        <p:txBody>
          <a:bodyPr spcFirstLastPara="1" wrap="square" lIns="0" tIns="0" rIns="0" bIns="0" anchor="t" anchorCtr="0">
            <a:noAutofit/>
          </a:bodyPr>
          <a:lstStyle/>
          <a:p>
            <a:pPr marL="0" marR="0" lvl="0" indent="0" algn="l" rtl="0">
              <a:lnSpc>
                <a:spcPct val="104987"/>
              </a:lnSpc>
              <a:spcBef>
                <a:spcPts val="0"/>
              </a:spcBef>
              <a:spcAft>
                <a:spcPts val="0"/>
              </a:spcAft>
              <a:buClr>
                <a:srgbClr val="15171E"/>
              </a:buClr>
              <a:buSzPts val="3308"/>
              <a:buFont typeface="Space Grotesk"/>
              <a:buNone/>
            </a:pPr>
            <a:r>
              <a:rPr lang="en-US" sz="3308" b="1">
                <a:solidFill>
                  <a:srgbClr val="15171E"/>
                </a:solidFill>
                <a:latin typeface="Space Grotesk"/>
                <a:ea typeface="Space Grotesk"/>
                <a:cs typeface="Space Grotesk"/>
                <a:sym typeface="Space Grotesk"/>
              </a:rPr>
              <a:t>0.717</a:t>
            </a:r>
            <a:endParaRPr sz="3308">
              <a:solidFill>
                <a:schemeClr val="dk1"/>
              </a:solidFill>
              <a:latin typeface="Inter"/>
              <a:ea typeface="Inter"/>
              <a:cs typeface="Inter"/>
              <a:sym typeface="Inter"/>
            </a:endParaRPr>
          </a:p>
        </p:txBody>
      </p:sp>
      <p:sp>
        <p:nvSpPr>
          <p:cNvPr id="172" name="Google Shape;172;p9"/>
          <p:cNvSpPr/>
          <p:nvPr/>
        </p:nvSpPr>
        <p:spPr>
          <a:xfrm>
            <a:off x="5266630" y="2945507"/>
            <a:ext cx="1696740" cy="398760"/>
          </a:xfrm>
          <a:prstGeom prst="rect">
            <a:avLst/>
          </a:prstGeom>
          <a:noFill/>
          <a:ln>
            <a:noFill/>
          </a:ln>
        </p:spPr>
        <p:txBody>
          <a:bodyPr spcFirstLastPara="1" wrap="square" lIns="0" tIns="0" rIns="0" bIns="0" anchor="t" anchorCtr="0">
            <a:noAutofit/>
          </a:bodyPr>
          <a:lstStyle/>
          <a:p>
            <a:pPr marL="0" marR="0" lvl="0" indent="0" algn="l" rtl="0">
              <a:lnSpc>
                <a:spcPct val="134940"/>
              </a:lnSpc>
              <a:spcBef>
                <a:spcPts val="0"/>
              </a:spcBef>
              <a:spcAft>
                <a:spcPts val="0"/>
              </a:spcAft>
              <a:buClr>
                <a:srgbClr val="5B5E66"/>
              </a:buClr>
              <a:buSzPts val="1099"/>
              <a:buFont typeface="Inter"/>
              <a:buNone/>
            </a:pPr>
            <a:r>
              <a:rPr lang="en-US" sz="1099">
                <a:solidFill>
                  <a:srgbClr val="5B5E66"/>
                </a:solidFill>
                <a:latin typeface="Inter"/>
                <a:ea typeface="Inter"/>
                <a:cs typeface="Inter"/>
                <a:sym typeface="Inter"/>
              </a:rPr>
              <a:t>finds ~7 in 10 funded projects</a:t>
            </a:r>
            <a:endParaRPr sz="1099">
              <a:solidFill>
                <a:schemeClr val="dk1"/>
              </a:solidFill>
              <a:latin typeface="Inter"/>
              <a:ea typeface="Inter"/>
              <a:cs typeface="Inter"/>
              <a:sym typeface="Inter"/>
            </a:endParaRPr>
          </a:p>
        </p:txBody>
      </p:sp>
      <p:sp>
        <p:nvSpPr>
          <p:cNvPr id="173" name="Google Shape;173;p9"/>
          <p:cNvSpPr/>
          <p:nvPr/>
        </p:nvSpPr>
        <p:spPr>
          <a:xfrm>
            <a:off x="7226895" y="2058888"/>
            <a:ext cx="2007890" cy="1440954"/>
          </a:xfrm>
          <a:prstGeom prst="roundRect">
            <a:avLst>
              <a:gd name="adj" fmla="val 6831"/>
            </a:avLst>
          </a:prstGeom>
          <a:solidFill>
            <a:srgbClr val="FFFDF8"/>
          </a:solidFill>
          <a:ln w="9525" cap="flat" cmpd="sng">
            <a:solidFill>
              <a:srgbClr val="E2DE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9"/>
          <p:cNvSpPr/>
          <p:nvPr/>
        </p:nvSpPr>
        <p:spPr>
          <a:xfrm>
            <a:off x="7407870" y="2239863"/>
            <a:ext cx="1696740" cy="219075"/>
          </a:xfrm>
          <a:prstGeom prst="rect">
            <a:avLst/>
          </a:prstGeom>
          <a:noFill/>
          <a:ln>
            <a:noFill/>
          </a:ln>
        </p:spPr>
        <p:txBody>
          <a:bodyPr spcFirstLastPara="1" wrap="square" lIns="0" tIns="0" rIns="0" bIns="0" anchor="t" anchorCtr="0">
            <a:noAutofit/>
          </a:bodyPr>
          <a:lstStyle/>
          <a:p>
            <a:pPr marL="0" marR="0" lvl="0" indent="0" algn="l" rtl="0">
              <a:lnSpc>
                <a:spcPct val="140053"/>
              </a:lnSpc>
              <a:spcBef>
                <a:spcPts val="0"/>
              </a:spcBef>
              <a:spcAft>
                <a:spcPts val="0"/>
              </a:spcAft>
              <a:buClr>
                <a:srgbClr val="2563C9"/>
              </a:buClr>
              <a:buSzPts val="1121"/>
              <a:buFont typeface="Inter"/>
              <a:buNone/>
            </a:pPr>
            <a:r>
              <a:rPr lang="en-US" sz="1121" b="1">
                <a:solidFill>
                  <a:srgbClr val="2563C9"/>
                </a:solidFill>
                <a:latin typeface="Inter"/>
                <a:ea typeface="Inter"/>
                <a:cs typeface="Inter"/>
                <a:sym typeface="Inter"/>
              </a:rPr>
              <a:t>Precision</a:t>
            </a:r>
            <a:endParaRPr sz="1121">
              <a:solidFill>
                <a:schemeClr val="dk1"/>
              </a:solidFill>
              <a:latin typeface="Inter"/>
              <a:ea typeface="Inter"/>
              <a:cs typeface="Inter"/>
              <a:sym typeface="Inter"/>
            </a:endParaRPr>
          </a:p>
        </p:txBody>
      </p:sp>
      <p:sp>
        <p:nvSpPr>
          <p:cNvPr id="175" name="Google Shape;175;p9"/>
          <p:cNvSpPr/>
          <p:nvPr/>
        </p:nvSpPr>
        <p:spPr>
          <a:xfrm>
            <a:off x="7407870" y="2471638"/>
            <a:ext cx="1696740" cy="461169"/>
          </a:xfrm>
          <a:prstGeom prst="rect">
            <a:avLst/>
          </a:prstGeom>
          <a:noFill/>
          <a:ln>
            <a:noFill/>
          </a:ln>
        </p:spPr>
        <p:txBody>
          <a:bodyPr spcFirstLastPara="1" wrap="square" lIns="0" tIns="0" rIns="0" bIns="0" anchor="t" anchorCtr="0">
            <a:noAutofit/>
          </a:bodyPr>
          <a:lstStyle/>
          <a:p>
            <a:pPr marL="0" marR="0" lvl="0" indent="0" algn="l" rtl="0">
              <a:lnSpc>
                <a:spcPct val="104987"/>
              </a:lnSpc>
              <a:spcBef>
                <a:spcPts val="0"/>
              </a:spcBef>
              <a:spcAft>
                <a:spcPts val="0"/>
              </a:spcAft>
              <a:buClr>
                <a:srgbClr val="15171E"/>
              </a:buClr>
              <a:buSzPts val="3308"/>
              <a:buFont typeface="Space Grotesk"/>
              <a:buNone/>
            </a:pPr>
            <a:r>
              <a:rPr lang="en-US" sz="3308" b="1">
                <a:solidFill>
                  <a:srgbClr val="15171E"/>
                </a:solidFill>
                <a:latin typeface="Space Grotesk"/>
                <a:ea typeface="Space Grotesk"/>
                <a:cs typeface="Space Grotesk"/>
                <a:sym typeface="Space Grotesk"/>
              </a:rPr>
              <a:t>0.548</a:t>
            </a:r>
            <a:endParaRPr sz="3308">
              <a:solidFill>
                <a:schemeClr val="dk1"/>
              </a:solidFill>
              <a:latin typeface="Inter"/>
              <a:ea typeface="Inter"/>
              <a:cs typeface="Inter"/>
              <a:sym typeface="Inter"/>
            </a:endParaRPr>
          </a:p>
        </p:txBody>
      </p:sp>
      <p:sp>
        <p:nvSpPr>
          <p:cNvPr id="176" name="Google Shape;176;p9"/>
          <p:cNvSpPr/>
          <p:nvPr/>
        </p:nvSpPr>
        <p:spPr>
          <a:xfrm>
            <a:off x="7407870" y="2945507"/>
            <a:ext cx="1696740" cy="398760"/>
          </a:xfrm>
          <a:prstGeom prst="rect">
            <a:avLst/>
          </a:prstGeom>
          <a:noFill/>
          <a:ln>
            <a:noFill/>
          </a:ln>
        </p:spPr>
        <p:txBody>
          <a:bodyPr spcFirstLastPara="1" wrap="square" lIns="0" tIns="0" rIns="0" bIns="0" anchor="t" anchorCtr="0">
            <a:noAutofit/>
          </a:bodyPr>
          <a:lstStyle/>
          <a:p>
            <a:pPr marL="0" marR="0" lvl="0" indent="0" algn="l" rtl="0">
              <a:lnSpc>
                <a:spcPct val="134940"/>
              </a:lnSpc>
              <a:spcBef>
                <a:spcPts val="0"/>
              </a:spcBef>
              <a:spcAft>
                <a:spcPts val="0"/>
              </a:spcAft>
              <a:buClr>
                <a:srgbClr val="5B5E66"/>
              </a:buClr>
              <a:buSzPts val="1099"/>
              <a:buFont typeface="Inter"/>
              <a:buNone/>
            </a:pPr>
            <a:r>
              <a:rPr lang="en-US" sz="1099">
                <a:solidFill>
                  <a:srgbClr val="5B5E66"/>
                </a:solidFill>
                <a:latin typeface="Inter"/>
                <a:ea typeface="Inter"/>
                <a:cs typeface="Inter"/>
                <a:sym typeface="Inter"/>
              </a:rPr>
              <a:t>of “success” calls are right</a:t>
            </a:r>
            <a:endParaRPr sz="1099">
              <a:solidFill>
                <a:schemeClr val="dk1"/>
              </a:solidFill>
              <a:latin typeface="Inter"/>
              <a:ea typeface="Inter"/>
              <a:cs typeface="Inter"/>
              <a:sym typeface="Inter"/>
            </a:endParaRPr>
          </a:p>
        </p:txBody>
      </p:sp>
      <p:sp>
        <p:nvSpPr>
          <p:cNvPr id="177" name="Google Shape;177;p9"/>
          <p:cNvSpPr/>
          <p:nvPr/>
        </p:nvSpPr>
        <p:spPr>
          <a:xfrm>
            <a:off x="9368135" y="2058888"/>
            <a:ext cx="2007890" cy="1440954"/>
          </a:xfrm>
          <a:prstGeom prst="roundRect">
            <a:avLst>
              <a:gd name="adj" fmla="val 6831"/>
            </a:avLst>
          </a:prstGeom>
          <a:solidFill>
            <a:srgbClr val="FFFDF8"/>
          </a:solidFill>
          <a:ln w="9525" cap="flat" cmpd="sng">
            <a:solidFill>
              <a:srgbClr val="E2DE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9"/>
          <p:cNvSpPr/>
          <p:nvPr/>
        </p:nvSpPr>
        <p:spPr>
          <a:xfrm>
            <a:off x="9549110" y="2239863"/>
            <a:ext cx="1696740" cy="219075"/>
          </a:xfrm>
          <a:prstGeom prst="rect">
            <a:avLst/>
          </a:prstGeom>
          <a:noFill/>
          <a:ln>
            <a:noFill/>
          </a:ln>
        </p:spPr>
        <p:txBody>
          <a:bodyPr spcFirstLastPara="1" wrap="square" lIns="0" tIns="0" rIns="0" bIns="0" anchor="t" anchorCtr="0">
            <a:noAutofit/>
          </a:bodyPr>
          <a:lstStyle/>
          <a:p>
            <a:pPr marL="0" marR="0" lvl="0" indent="0" algn="l" rtl="0">
              <a:lnSpc>
                <a:spcPct val="140053"/>
              </a:lnSpc>
              <a:spcBef>
                <a:spcPts val="0"/>
              </a:spcBef>
              <a:spcAft>
                <a:spcPts val="0"/>
              </a:spcAft>
              <a:buClr>
                <a:srgbClr val="2563C9"/>
              </a:buClr>
              <a:buSzPts val="1121"/>
              <a:buFont typeface="Inter"/>
              <a:buNone/>
            </a:pPr>
            <a:r>
              <a:rPr lang="en-US" sz="1121" b="1">
                <a:solidFill>
                  <a:srgbClr val="2563C9"/>
                </a:solidFill>
                <a:latin typeface="Inter"/>
                <a:ea typeface="Inter"/>
                <a:cs typeface="Inter"/>
                <a:sym typeface="Inter"/>
              </a:rPr>
              <a:t>Accuracy</a:t>
            </a:r>
            <a:endParaRPr sz="1121">
              <a:solidFill>
                <a:schemeClr val="dk1"/>
              </a:solidFill>
              <a:latin typeface="Inter"/>
              <a:ea typeface="Inter"/>
              <a:cs typeface="Inter"/>
              <a:sym typeface="Inter"/>
            </a:endParaRPr>
          </a:p>
        </p:txBody>
      </p:sp>
      <p:sp>
        <p:nvSpPr>
          <p:cNvPr id="179" name="Google Shape;179;p9"/>
          <p:cNvSpPr/>
          <p:nvPr/>
        </p:nvSpPr>
        <p:spPr>
          <a:xfrm>
            <a:off x="9549110" y="2471638"/>
            <a:ext cx="1696740" cy="461169"/>
          </a:xfrm>
          <a:prstGeom prst="rect">
            <a:avLst/>
          </a:prstGeom>
          <a:noFill/>
          <a:ln>
            <a:noFill/>
          </a:ln>
        </p:spPr>
        <p:txBody>
          <a:bodyPr spcFirstLastPara="1" wrap="square" lIns="0" tIns="0" rIns="0" bIns="0" anchor="t" anchorCtr="0">
            <a:noAutofit/>
          </a:bodyPr>
          <a:lstStyle/>
          <a:p>
            <a:pPr marL="0" marR="0" lvl="0" indent="0" algn="l" rtl="0">
              <a:lnSpc>
                <a:spcPct val="104987"/>
              </a:lnSpc>
              <a:spcBef>
                <a:spcPts val="0"/>
              </a:spcBef>
              <a:spcAft>
                <a:spcPts val="0"/>
              </a:spcAft>
              <a:buClr>
                <a:srgbClr val="15171E"/>
              </a:buClr>
              <a:buSzPts val="3308"/>
              <a:buFont typeface="Space Grotesk"/>
              <a:buNone/>
            </a:pPr>
            <a:r>
              <a:rPr lang="en-US" sz="3308" b="1">
                <a:solidFill>
                  <a:srgbClr val="15171E"/>
                </a:solidFill>
                <a:latin typeface="Space Grotesk"/>
                <a:ea typeface="Space Grotesk"/>
                <a:cs typeface="Space Grotesk"/>
                <a:sym typeface="Space Grotesk"/>
              </a:rPr>
              <a:t>0.681</a:t>
            </a:r>
            <a:endParaRPr sz="3308">
              <a:solidFill>
                <a:schemeClr val="dk1"/>
              </a:solidFill>
              <a:latin typeface="Inter"/>
              <a:ea typeface="Inter"/>
              <a:cs typeface="Inter"/>
              <a:sym typeface="Inter"/>
            </a:endParaRPr>
          </a:p>
        </p:txBody>
      </p:sp>
      <p:sp>
        <p:nvSpPr>
          <p:cNvPr id="180" name="Google Shape;180;p9"/>
          <p:cNvSpPr/>
          <p:nvPr/>
        </p:nvSpPr>
        <p:spPr>
          <a:xfrm>
            <a:off x="9549110" y="2945507"/>
            <a:ext cx="1823740" cy="398760"/>
          </a:xfrm>
          <a:prstGeom prst="rect">
            <a:avLst/>
          </a:prstGeom>
          <a:noFill/>
          <a:ln>
            <a:noFill/>
          </a:ln>
        </p:spPr>
        <p:txBody>
          <a:bodyPr spcFirstLastPara="1" wrap="square" lIns="0" tIns="0" rIns="0" bIns="0" anchor="t" anchorCtr="0">
            <a:noAutofit/>
          </a:bodyPr>
          <a:lstStyle/>
          <a:p>
            <a:pPr marL="0" marR="0" lvl="0" indent="0" algn="l" rtl="0">
              <a:lnSpc>
                <a:spcPct val="134940"/>
              </a:lnSpc>
              <a:spcBef>
                <a:spcPts val="0"/>
              </a:spcBef>
              <a:spcAft>
                <a:spcPts val="0"/>
              </a:spcAft>
              <a:buClr>
                <a:srgbClr val="5B5E66"/>
              </a:buClr>
              <a:buSzPts val="1099"/>
              <a:buFont typeface="Inter"/>
              <a:buNone/>
            </a:pPr>
            <a:r>
              <a:rPr lang="en-US" sz="1099">
                <a:solidFill>
                  <a:srgbClr val="5B5E66"/>
                </a:solidFill>
                <a:latin typeface="Inter"/>
                <a:ea typeface="Inter"/>
                <a:cs typeface="Inter"/>
                <a:sym typeface="Inter"/>
              </a:rPr>
              <a:t>vs 0.636 for “always fail”</a:t>
            </a:r>
            <a:endParaRPr sz="1099">
              <a:solidFill>
                <a:schemeClr val="dk1"/>
              </a:solidFill>
              <a:latin typeface="Inter"/>
              <a:ea typeface="Inter"/>
              <a:cs typeface="Inter"/>
              <a:sym typeface="Inter"/>
            </a:endParaRPr>
          </a:p>
        </p:txBody>
      </p:sp>
      <p:sp>
        <p:nvSpPr>
          <p:cNvPr id="181" name="Google Shape;181;p9"/>
          <p:cNvSpPr/>
          <p:nvPr/>
        </p:nvSpPr>
        <p:spPr>
          <a:xfrm>
            <a:off x="812800" y="3680817"/>
            <a:ext cx="5912612" cy="2540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5171E"/>
              </a:buClr>
              <a:buSzPts val="1500"/>
              <a:buFont typeface="Space Grotesk"/>
              <a:buNone/>
            </a:pPr>
            <a:r>
              <a:rPr lang="en-US" sz="1500" b="1">
                <a:solidFill>
                  <a:srgbClr val="15171E"/>
                </a:solidFill>
                <a:latin typeface="Space Grotesk"/>
                <a:ea typeface="Space Grotesk"/>
                <a:cs typeface="Space Grotesk"/>
                <a:sym typeface="Space Grotesk"/>
              </a:rPr>
              <a:t>No overfitting</a:t>
            </a:r>
            <a:endParaRPr sz="1500">
              <a:solidFill>
                <a:schemeClr val="dk1"/>
              </a:solidFill>
              <a:latin typeface="Inter"/>
              <a:ea typeface="Inter"/>
              <a:cs typeface="Inter"/>
              <a:sym typeface="Inter"/>
            </a:endParaRPr>
          </a:p>
        </p:txBody>
      </p:sp>
      <p:sp>
        <p:nvSpPr>
          <p:cNvPr id="182" name="Google Shape;182;p9"/>
          <p:cNvSpPr/>
          <p:nvPr/>
        </p:nvSpPr>
        <p:spPr>
          <a:xfrm>
            <a:off x="812800" y="3985617"/>
            <a:ext cx="5912612" cy="718641"/>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300"/>
              <a:buFont typeface="Inter"/>
              <a:buNone/>
            </a:pPr>
            <a:r>
              <a:rPr lang="en-US" sz="1300">
                <a:solidFill>
                  <a:srgbClr val="15171E"/>
                </a:solidFill>
                <a:latin typeface="Inter"/>
                <a:ea typeface="Inter"/>
                <a:cs typeface="Inter"/>
                <a:sym typeface="Inter"/>
              </a:rPr>
              <a:t>Training and test scores differ by about 0.01 on every metric (F1 0.631 train vs 0.621 test; AUC 0.771 vs 0.758), so it should behave the same on new projects from this population.</a:t>
            </a:r>
            <a:endParaRPr sz="1300">
              <a:solidFill>
                <a:schemeClr val="dk1"/>
              </a:solidFill>
              <a:latin typeface="Inter"/>
              <a:ea typeface="Inter"/>
              <a:cs typeface="Inter"/>
              <a:sym typeface="Inter"/>
            </a:endParaRPr>
          </a:p>
        </p:txBody>
      </p:sp>
      <p:sp>
        <p:nvSpPr>
          <p:cNvPr id="183" name="Google Shape;183;p9"/>
          <p:cNvSpPr/>
          <p:nvPr/>
        </p:nvSpPr>
        <p:spPr>
          <a:xfrm>
            <a:off x="812800" y="4755059"/>
            <a:ext cx="5912612" cy="487561"/>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300"/>
              <a:buFont typeface="Inter"/>
              <a:buNone/>
            </a:pPr>
            <a:r>
              <a:rPr lang="en-US" sz="1300">
                <a:solidFill>
                  <a:srgbClr val="15171E"/>
                </a:solidFill>
                <a:latin typeface="Inter"/>
                <a:ea typeface="Inter"/>
                <a:cs typeface="Inter"/>
                <a:sym typeface="Inter"/>
              </a:rPr>
              <a:t>It leans optimistic: it finds most winners but over-calls success (recall 0.717 vs precision 0.548).</a:t>
            </a:r>
            <a:endParaRPr sz="1300">
              <a:solidFill>
                <a:schemeClr val="dk1"/>
              </a:solidFill>
              <a:latin typeface="Inter"/>
              <a:ea typeface="Inter"/>
              <a:cs typeface="Inter"/>
              <a:sym typeface="Inter"/>
            </a:endParaRPr>
          </a:p>
        </p:txBody>
      </p:sp>
      <p:sp>
        <p:nvSpPr>
          <p:cNvPr id="184" name="Google Shape;184;p9"/>
          <p:cNvSpPr/>
          <p:nvPr/>
        </p:nvSpPr>
        <p:spPr>
          <a:xfrm>
            <a:off x="6807200" y="3680817"/>
            <a:ext cx="4709160" cy="238224"/>
          </a:xfrm>
          <a:prstGeom prst="rect">
            <a:avLst/>
          </a:prstGeom>
          <a:noFill/>
          <a:ln>
            <a:noFill/>
          </a:ln>
        </p:spPr>
        <p:txBody>
          <a:bodyPr spcFirstLastPara="1" wrap="square" lIns="0" tIns="0" rIns="0" bIns="0" anchor="t" anchorCtr="0">
            <a:noAutofit/>
          </a:bodyPr>
          <a:lstStyle/>
          <a:p>
            <a:pPr marL="0" marR="0" lvl="0" indent="0" algn="l" rtl="0">
              <a:lnSpc>
                <a:spcPct val="120013"/>
              </a:lnSpc>
              <a:spcBef>
                <a:spcPts val="0"/>
              </a:spcBef>
              <a:spcAft>
                <a:spcPts val="0"/>
              </a:spcAft>
              <a:buClr>
                <a:srgbClr val="15171E"/>
              </a:buClr>
              <a:buSzPts val="1434"/>
              <a:buFont typeface="Space Grotesk"/>
              <a:buNone/>
            </a:pPr>
            <a:r>
              <a:rPr lang="en-US" sz="1434" b="1">
                <a:solidFill>
                  <a:srgbClr val="15171E"/>
                </a:solidFill>
                <a:latin typeface="Space Grotesk"/>
                <a:ea typeface="Space Grotesk"/>
                <a:cs typeface="Space Grotesk"/>
                <a:sym typeface="Space Grotesk"/>
              </a:rPr>
              <a:t>Dial the caution up or down</a:t>
            </a:r>
            <a:endParaRPr sz="1434">
              <a:solidFill>
                <a:schemeClr val="dk1"/>
              </a:solidFill>
              <a:latin typeface="Inter"/>
              <a:ea typeface="Inter"/>
              <a:cs typeface="Inter"/>
              <a:sym typeface="Inter"/>
            </a:endParaRPr>
          </a:p>
        </p:txBody>
      </p:sp>
      <p:graphicFrame>
        <p:nvGraphicFramePr>
          <p:cNvPr id="185" name="Google Shape;185;p9"/>
          <p:cNvGraphicFramePr/>
          <p:nvPr/>
        </p:nvGraphicFramePr>
        <p:xfrm>
          <a:off x="6819900" y="3957141"/>
          <a:ext cx="4559300" cy="1482360"/>
        </p:xfrm>
        <a:graphic>
          <a:graphicData uri="http://schemas.openxmlformats.org/drawingml/2006/table">
            <a:tbl>
              <a:tblPr>
                <a:noFill/>
                <a:tableStyleId>{83099D49-A1F1-457E-BAD5-869D6B91A4BA}</a:tableStyleId>
              </a:tblPr>
              <a:tblGrid>
                <a:gridCol w="1550150">
                  <a:extLst>
                    <a:ext uri="{9D8B030D-6E8A-4147-A177-3AD203B41FA5}">
                      <a16:colId xmlns:a16="http://schemas.microsoft.com/office/drawing/2014/main" val="20000"/>
                    </a:ext>
                  </a:extLst>
                </a:gridCol>
                <a:gridCol w="1003050">
                  <a:extLst>
                    <a:ext uri="{9D8B030D-6E8A-4147-A177-3AD203B41FA5}">
                      <a16:colId xmlns:a16="http://schemas.microsoft.com/office/drawing/2014/main" val="20001"/>
                    </a:ext>
                  </a:extLst>
                </a:gridCol>
                <a:gridCol w="1003050">
                  <a:extLst>
                    <a:ext uri="{9D8B030D-6E8A-4147-A177-3AD203B41FA5}">
                      <a16:colId xmlns:a16="http://schemas.microsoft.com/office/drawing/2014/main" val="20002"/>
                    </a:ext>
                  </a:extLst>
                </a:gridCol>
                <a:gridCol w="1003050">
                  <a:extLst>
                    <a:ext uri="{9D8B030D-6E8A-4147-A177-3AD203B41FA5}">
                      <a16:colId xmlns:a16="http://schemas.microsoft.com/office/drawing/2014/main" val="20003"/>
                    </a:ext>
                  </a:extLst>
                </a:gridCol>
              </a:tblGrid>
              <a:tr h="507700">
                <a:tc>
                  <a:txBody>
                    <a:bodyPr/>
                    <a:lstStyle/>
                    <a:p>
                      <a:pPr marL="0" marR="0" lvl="0" indent="0" algn="l" rtl="0">
                        <a:lnSpc>
                          <a:spcPct val="139946"/>
                        </a:lnSpc>
                        <a:spcBef>
                          <a:spcPts val="0"/>
                        </a:spcBef>
                        <a:spcAft>
                          <a:spcPts val="0"/>
                        </a:spcAft>
                        <a:buClr>
                          <a:srgbClr val="15171E"/>
                        </a:buClr>
                        <a:buSzPts val="1114"/>
                        <a:buFont typeface="Inter"/>
                        <a:buNone/>
                      </a:pPr>
                      <a:r>
                        <a:rPr lang="en-US" sz="1114" b="1" u="none" strike="noStrike" cap="none">
                          <a:solidFill>
                            <a:srgbClr val="15171E"/>
                          </a:solidFill>
                          <a:latin typeface="Inter"/>
                          <a:ea typeface="Inter"/>
                          <a:cs typeface="Inter"/>
                          <a:sym typeface="Inter"/>
                        </a:rPr>
                        <a:t>Cut-off for “success”</a:t>
                      </a:r>
                      <a:endParaRPr sz="1114" u="none" strike="noStrike" cap="none">
                        <a:latin typeface="Inter"/>
                        <a:ea typeface="Inter"/>
                        <a:cs typeface="Inter"/>
                        <a:sym typeface="Inter"/>
                      </a:endParaRPr>
                    </a:p>
                  </a:txBody>
                  <a:tcPr marL="49500" marR="49500" marT="49500" marB="49500">
                    <a:lnL w="12700" cap="flat" cmpd="sng">
                      <a:solidFill>
                        <a:srgbClr val="C4C2BE"/>
                      </a:solidFill>
                      <a:prstDash val="solid"/>
                      <a:round/>
                      <a:headEnd type="none" w="sm" len="sm"/>
                      <a:tailEnd type="none" w="sm" len="sm"/>
                    </a:lnL>
                    <a:lnR w="12700" cap="flat" cmpd="sng">
                      <a:solidFill>
                        <a:srgbClr val="B5B4B0"/>
                      </a:solidFill>
                      <a:prstDash val="solid"/>
                      <a:round/>
                      <a:headEnd type="none" w="sm" len="sm"/>
                      <a:tailEnd type="none" w="sm" len="sm"/>
                    </a:lnR>
                    <a:lnT w="12700" cap="flat" cmpd="sng">
                      <a:solidFill>
                        <a:srgbClr val="C4C2BE"/>
                      </a:solidFill>
                      <a:prstDash val="solid"/>
                      <a:round/>
                      <a:headEnd type="none" w="sm" len="sm"/>
                      <a:tailEnd type="none" w="sm" len="sm"/>
                    </a:lnT>
                    <a:lnB w="12700" cap="flat" cmpd="sng">
                      <a:solidFill>
                        <a:srgbClr val="B5B4B0"/>
                      </a:solidFill>
                      <a:prstDash val="solid"/>
                      <a:round/>
                      <a:headEnd type="none" w="sm" len="sm"/>
                      <a:tailEnd type="none" w="sm" len="sm"/>
                    </a:lnB>
                    <a:solidFill>
                      <a:srgbClr val="E3E1DC"/>
                    </a:solidFill>
                  </a:tcPr>
                </a:tc>
                <a:tc>
                  <a:txBody>
                    <a:bodyPr/>
                    <a:lstStyle/>
                    <a:p>
                      <a:pPr marL="0" marR="0" lvl="0" indent="0" algn="r" rtl="0">
                        <a:lnSpc>
                          <a:spcPct val="139946"/>
                        </a:lnSpc>
                        <a:spcBef>
                          <a:spcPts val="0"/>
                        </a:spcBef>
                        <a:spcAft>
                          <a:spcPts val="0"/>
                        </a:spcAft>
                        <a:buClr>
                          <a:srgbClr val="15171E"/>
                        </a:buClr>
                        <a:buSzPts val="1114"/>
                        <a:buFont typeface="Inter"/>
                        <a:buNone/>
                      </a:pPr>
                      <a:r>
                        <a:rPr lang="en-US" sz="1114" b="1" u="none" strike="noStrike" cap="none">
                          <a:solidFill>
                            <a:srgbClr val="15171E"/>
                          </a:solidFill>
                          <a:latin typeface="Inter"/>
                          <a:ea typeface="Inter"/>
                          <a:cs typeface="Inter"/>
                          <a:sym typeface="Inter"/>
                        </a:rPr>
                        <a:t>Precision</a:t>
                      </a:r>
                      <a:endParaRPr sz="1114" u="none" strike="noStrike" cap="none">
                        <a:latin typeface="Inter"/>
                        <a:ea typeface="Inter"/>
                        <a:cs typeface="Inter"/>
                        <a:sym typeface="Inter"/>
                      </a:endParaRPr>
                    </a:p>
                  </a:txBody>
                  <a:tcPr marL="49500" marR="49500" marT="49500" marB="49500">
                    <a:lnL w="12700" cap="flat" cmpd="sng">
                      <a:solidFill>
                        <a:srgbClr val="B5B4B0"/>
                      </a:solidFill>
                      <a:prstDash val="solid"/>
                      <a:round/>
                      <a:headEnd type="none" w="sm" len="sm"/>
                      <a:tailEnd type="none" w="sm" len="sm"/>
                    </a:lnL>
                    <a:lnR w="12700" cap="flat" cmpd="sng">
                      <a:solidFill>
                        <a:srgbClr val="B5B4B0"/>
                      </a:solidFill>
                      <a:prstDash val="solid"/>
                      <a:round/>
                      <a:headEnd type="none" w="sm" len="sm"/>
                      <a:tailEnd type="none" w="sm" len="sm"/>
                    </a:lnR>
                    <a:lnT w="12700" cap="flat" cmpd="sng">
                      <a:solidFill>
                        <a:srgbClr val="C4C2BE"/>
                      </a:solidFill>
                      <a:prstDash val="solid"/>
                      <a:round/>
                      <a:headEnd type="none" w="sm" len="sm"/>
                      <a:tailEnd type="none" w="sm" len="sm"/>
                    </a:lnT>
                    <a:lnB w="12700" cap="flat" cmpd="sng">
                      <a:solidFill>
                        <a:srgbClr val="B5B4B0"/>
                      </a:solidFill>
                      <a:prstDash val="solid"/>
                      <a:round/>
                      <a:headEnd type="none" w="sm" len="sm"/>
                      <a:tailEnd type="none" w="sm" len="sm"/>
                    </a:lnB>
                    <a:solidFill>
                      <a:srgbClr val="E3E1DC"/>
                    </a:solidFill>
                  </a:tcPr>
                </a:tc>
                <a:tc>
                  <a:txBody>
                    <a:bodyPr/>
                    <a:lstStyle/>
                    <a:p>
                      <a:pPr marL="0" marR="0" lvl="0" indent="0" algn="r" rtl="0">
                        <a:lnSpc>
                          <a:spcPct val="139946"/>
                        </a:lnSpc>
                        <a:spcBef>
                          <a:spcPts val="0"/>
                        </a:spcBef>
                        <a:spcAft>
                          <a:spcPts val="0"/>
                        </a:spcAft>
                        <a:buClr>
                          <a:srgbClr val="15171E"/>
                        </a:buClr>
                        <a:buSzPts val="1114"/>
                        <a:buFont typeface="Inter"/>
                        <a:buNone/>
                      </a:pPr>
                      <a:r>
                        <a:rPr lang="en-US" sz="1114" b="1" u="none" strike="noStrike" cap="none">
                          <a:solidFill>
                            <a:srgbClr val="15171E"/>
                          </a:solidFill>
                          <a:latin typeface="Inter"/>
                          <a:ea typeface="Inter"/>
                          <a:cs typeface="Inter"/>
                          <a:sym typeface="Inter"/>
                        </a:rPr>
                        <a:t>Recall</a:t>
                      </a:r>
                      <a:endParaRPr sz="1114" u="none" strike="noStrike" cap="none">
                        <a:latin typeface="Inter"/>
                        <a:ea typeface="Inter"/>
                        <a:cs typeface="Inter"/>
                        <a:sym typeface="Inter"/>
                      </a:endParaRPr>
                    </a:p>
                  </a:txBody>
                  <a:tcPr marL="49500" marR="49500" marT="49500" marB="49500">
                    <a:lnL w="12700" cap="flat" cmpd="sng">
                      <a:solidFill>
                        <a:srgbClr val="B5B4B0"/>
                      </a:solidFill>
                      <a:prstDash val="solid"/>
                      <a:round/>
                      <a:headEnd type="none" w="sm" len="sm"/>
                      <a:tailEnd type="none" w="sm" len="sm"/>
                    </a:lnL>
                    <a:lnR w="12700" cap="flat" cmpd="sng">
                      <a:solidFill>
                        <a:srgbClr val="B5B4B0"/>
                      </a:solidFill>
                      <a:prstDash val="solid"/>
                      <a:round/>
                      <a:headEnd type="none" w="sm" len="sm"/>
                      <a:tailEnd type="none" w="sm" len="sm"/>
                    </a:lnR>
                    <a:lnT w="12700" cap="flat" cmpd="sng">
                      <a:solidFill>
                        <a:srgbClr val="C4C2BE"/>
                      </a:solidFill>
                      <a:prstDash val="solid"/>
                      <a:round/>
                      <a:headEnd type="none" w="sm" len="sm"/>
                      <a:tailEnd type="none" w="sm" len="sm"/>
                    </a:lnT>
                    <a:lnB w="12700" cap="flat" cmpd="sng">
                      <a:solidFill>
                        <a:srgbClr val="B5B4B0"/>
                      </a:solidFill>
                      <a:prstDash val="solid"/>
                      <a:round/>
                      <a:headEnd type="none" w="sm" len="sm"/>
                      <a:tailEnd type="none" w="sm" len="sm"/>
                    </a:lnB>
                    <a:solidFill>
                      <a:srgbClr val="E3E1DC"/>
                    </a:solidFill>
                  </a:tcPr>
                </a:tc>
                <a:tc>
                  <a:txBody>
                    <a:bodyPr/>
                    <a:lstStyle/>
                    <a:p>
                      <a:pPr marL="0" marR="0" lvl="0" indent="0" algn="r" rtl="0">
                        <a:lnSpc>
                          <a:spcPct val="139946"/>
                        </a:lnSpc>
                        <a:spcBef>
                          <a:spcPts val="0"/>
                        </a:spcBef>
                        <a:spcAft>
                          <a:spcPts val="0"/>
                        </a:spcAft>
                        <a:buClr>
                          <a:srgbClr val="15171E"/>
                        </a:buClr>
                        <a:buSzPts val="1114"/>
                        <a:buFont typeface="Inter"/>
                        <a:buNone/>
                      </a:pPr>
                      <a:r>
                        <a:rPr lang="en-US" sz="1114" b="1" u="none" strike="noStrike" cap="none">
                          <a:solidFill>
                            <a:srgbClr val="15171E"/>
                          </a:solidFill>
                          <a:latin typeface="Inter"/>
                          <a:ea typeface="Inter"/>
                          <a:cs typeface="Inter"/>
                          <a:sym typeface="Inter"/>
                        </a:rPr>
                        <a:t>F1</a:t>
                      </a:r>
                      <a:endParaRPr sz="1114" u="none" strike="noStrike" cap="none">
                        <a:latin typeface="Inter"/>
                        <a:ea typeface="Inter"/>
                        <a:cs typeface="Inter"/>
                        <a:sym typeface="Inter"/>
                      </a:endParaRPr>
                    </a:p>
                  </a:txBody>
                  <a:tcPr marL="49500" marR="49500" marT="49500" marB="49500">
                    <a:lnL w="12700" cap="flat" cmpd="sng">
                      <a:solidFill>
                        <a:srgbClr val="B5B4B0"/>
                      </a:solidFill>
                      <a:prstDash val="solid"/>
                      <a:round/>
                      <a:headEnd type="none" w="sm" len="sm"/>
                      <a:tailEnd type="none" w="sm" len="sm"/>
                    </a:lnL>
                    <a:lnR w="12700" cap="flat" cmpd="sng">
                      <a:solidFill>
                        <a:srgbClr val="B5B4B0"/>
                      </a:solidFill>
                      <a:prstDash val="solid"/>
                      <a:round/>
                      <a:headEnd type="none" w="sm" len="sm"/>
                      <a:tailEnd type="none" w="sm" len="sm"/>
                    </a:lnR>
                    <a:lnT w="12700" cap="flat" cmpd="sng">
                      <a:solidFill>
                        <a:srgbClr val="C4C2BE"/>
                      </a:solidFill>
                      <a:prstDash val="solid"/>
                      <a:round/>
                      <a:headEnd type="none" w="sm" len="sm"/>
                      <a:tailEnd type="none" w="sm" len="sm"/>
                    </a:lnT>
                    <a:lnB w="12700" cap="flat" cmpd="sng">
                      <a:solidFill>
                        <a:srgbClr val="B5B4B0"/>
                      </a:solidFill>
                      <a:prstDash val="solid"/>
                      <a:round/>
                      <a:headEnd type="none" w="sm" len="sm"/>
                      <a:tailEnd type="none" w="sm" len="sm"/>
                    </a:lnB>
                    <a:solidFill>
                      <a:srgbClr val="E3E1DC"/>
                    </a:solidFill>
                  </a:tcPr>
                </a:tc>
                <a:extLst>
                  <a:ext uri="{0D108BD9-81ED-4DB2-BD59-A6C34878D82A}">
                    <a16:rowId xmlns:a16="http://schemas.microsoft.com/office/drawing/2014/main" val="10000"/>
                  </a:ext>
                </a:extLst>
              </a:tr>
              <a:tr h="309650">
                <a:tc>
                  <a:txBody>
                    <a:bodyPr/>
                    <a:lstStyle/>
                    <a:p>
                      <a:pPr marL="0" marR="0" lvl="0" indent="0" algn="l" rtl="0">
                        <a:lnSpc>
                          <a:spcPct val="139946"/>
                        </a:lnSpc>
                        <a:spcBef>
                          <a:spcPts val="0"/>
                        </a:spcBef>
                        <a:spcAft>
                          <a:spcPts val="0"/>
                        </a:spcAft>
                        <a:buClr>
                          <a:srgbClr val="15171E"/>
                        </a:buClr>
                        <a:buSzPts val="1114"/>
                        <a:buFont typeface="Inter"/>
                        <a:buNone/>
                      </a:pPr>
                      <a:r>
                        <a:rPr lang="en-US" sz="1114" u="none" strike="noStrike" cap="none">
                          <a:solidFill>
                            <a:srgbClr val="15171E"/>
                          </a:solidFill>
                          <a:latin typeface="Inter"/>
                          <a:ea typeface="Inter"/>
                          <a:cs typeface="Inter"/>
                          <a:sym typeface="Inter"/>
                        </a:rPr>
                        <a:t>0.50 (default)</a:t>
                      </a:r>
                      <a:endParaRPr sz="1114" u="none" strike="noStrike" cap="none">
                        <a:latin typeface="Inter"/>
                        <a:ea typeface="Inter"/>
                        <a:cs typeface="Inter"/>
                        <a:sym typeface="Inter"/>
                      </a:endParaRPr>
                    </a:p>
                  </a:txBody>
                  <a:tcPr marL="49500" marR="49500" marT="49500" marB="49500">
                    <a:lnL w="12700" cap="flat" cmpd="sng">
                      <a:solidFill>
                        <a:srgbClr val="C4C2BE"/>
                      </a:solidFill>
                      <a:prstDash val="solid"/>
                      <a:round/>
                      <a:headEnd type="none" w="sm" len="sm"/>
                      <a:tailEnd type="none" w="sm" len="sm"/>
                    </a:lnL>
                    <a:lnR w="12700" cap="flat" cmpd="sng">
                      <a:solidFill>
                        <a:srgbClr val="BAB6AD"/>
                      </a:solidFill>
                      <a:prstDash val="solid"/>
                      <a:round/>
                      <a:headEnd type="none" w="sm" len="sm"/>
                      <a:tailEnd type="none" w="sm" len="sm"/>
                    </a:lnR>
                    <a:lnT w="12700" cap="flat" cmpd="sng">
                      <a:solidFill>
                        <a:srgbClr val="B5B4B0"/>
                      </a:solidFill>
                      <a:prstDash val="solid"/>
                      <a:round/>
                      <a:headEnd type="none" w="sm" len="sm"/>
                      <a:tailEnd type="none" w="sm" len="sm"/>
                    </a:lnT>
                    <a:lnB w="12700" cap="flat" cmpd="sng">
                      <a:solidFill>
                        <a:srgbClr val="BAB6AD"/>
                      </a:solidFill>
                      <a:prstDash val="solid"/>
                      <a:round/>
                      <a:headEnd type="none" w="sm" len="sm"/>
                      <a:tailEnd type="none" w="sm" len="sm"/>
                    </a:lnB>
                    <a:solidFill>
                      <a:srgbClr val="E9E4D8"/>
                    </a:solidFill>
                  </a:tcPr>
                </a:tc>
                <a:tc>
                  <a:txBody>
                    <a:bodyPr/>
                    <a:lstStyle/>
                    <a:p>
                      <a:pPr marL="0" marR="0" lvl="0" indent="0" algn="r" rtl="0">
                        <a:lnSpc>
                          <a:spcPct val="139946"/>
                        </a:lnSpc>
                        <a:spcBef>
                          <a:spcPts val="0"/>
                        </a:spcBef>
                        <a:spcAft>
                          <a:spcPts val="0"/>
                        </a:spcAft>
                        <a:buClr>
                          <a:srgbClr val="15171E"/>
                        </a:buClr>
                        <a:buSzPts val="1114"/>
                        <a:buFont typeface="Inter"/>
                        <a:buNone/>
                      </a:pPr>
                      <a:r>
                        <a:rPr lang="en-US" sz="1114" u="none" strike="noStrike" cap="none">
                          <a:solidFill>
                            <a:srgbClr val="15171E"/>
                          </a:solidFill>
                          <a:latin typeface="Inter"/>
                          <a:ea typeface="Inter"/>
                          <a:cs typeface="Inter"/>
                          <a:sym typeface="Inter"/>
                        </a:rPr>
                        <a:t>0.548</a:t>
                      </a:r>
                      <a:endParaRPr sz="1114" u="none" strike="noStrike" cap="none">
                        <a:latin typeface="Inter"/>
                        <a:ea typeface="Inter"/>
                        <a:cs typeface="Inter"/>
                        <a:sym typeface="Inter"/>
                      </a:endParaRPr>
                    </a:p>
                  </a:txBody>
                  <a:tcPr marL="49500" marR="49500" marT="49500" marB="49500">
                    <a:lnL w="12700" cap="flat" cmpd="sng">
                      <a:solidFill>
                        <a:srgbClr val="BAB6AD"/>
                      </a:solidFill>
                      <a:prstDash val="solid"/>
                      <a:round/>
                      <a:headEnd type="none" w="sm" len="sm"/>
                      <a:tailEnd type="none" w="sm" len="sm"/>
                    </a:lnL>
                    <a:lnR w="12700" cap="flat" cmpd="sng">
                      <a:solidFill>
                        <a:srgbClr val="BAB6AD"/>
                      </a:solidFill>
                      <a:prstDash val="solid"/>
                      <a:round/>
                      <a:headEnd type="none" w="sm" len="sm"/>
                      <a:tailEnd type="none" w="sm" len="sm"/>
                    </a:lnR>
                    <a:lnT w="12700" cap="flat" cmpd="sng">
                      <a:solidFill>
                        <a:srgbClr val="B5B4B0"/>
                      </a:solidFill>
                      <a:prstDash val="solid"/>
                      <a:round/>
                      <a:headEnd type="none" w="sm" len="sm"/>
                      <a:tailEnd type="none" w="sm" len="sm"/>
                    </a:lnT>
                    <a:lnB w="12700" cap="flat" cmpd="sng">
                      <a:solidFill>
                        <a:srgbClr val="BAB6AD"/>
                      </a:solidFill>
                      <a:prstDash val="solid"/>
                      <a:round/>
                      <a:headEnd type="none" w="sm" len="sm"/>
                      <a:tailEnd type="none" w="sm" len="sm"/>
                    </a:lnB>
                    <a:solidFill>
                      <a:srgbClr val="E9E4D8"/>
                    </a:solidFill>
                  </a:tcPr>
                </a:tc>
                <a:tc>
                  <a:txBody>
                    <a:bodyPr/>
                    <a:lstStyle/>
                    <a:p>
                      <a:pPr marL="0" marR="0" lvl="0" indent="0" algn="r" rtl="0">
                        <a:lnSpc>
                          <a:spcPct val="139946"/>
                        </a:lnSpc>
                        <a:spcBef>
                          <a:spcPts val="0"/>
                        </a:spcBef>
                        <a:spcAft>
                          <a:spcPts val="0"/>
                        </a:spcAft>
                        <a:buClr>
                          <a:srgbClr val="15171E"/>
                        </a:buClr>
                        <a:buSzPts val="1114"/>
                        <a:buFont typeface="Inter"/>
                        <a:buNone/>
                      </a:pPr>
                      <a:r>
                        <a:rPr lang="en-US" sz="1114" u="none" strike="noStrike" cap="none">
                          <a:solidFill>
                            <a:srgbClr val="15171E"/>
                          </a:solidFill>
                          <a:latin typeface="Inter"/>
                          <a:ea typeface="Inter"/>
                          <a:cs typeface="Inter"/>
                          <a:sym typeface="Inter"/>
                        </a:rPr>
                        <a:t>0.717</a:t>
                      </a:r>
                      <a:endParaRPr sz="1114" u="none" strike="noStrike" cap="none">
                        <a:latin typeface="Inter"/>
                        <a:ea typeface="Inter"/>
                        <a:cs typeface="Inter"/>
                        <a:sym typeface="Inter"/>
                      </a:endParaRPr>
                    </a:p>
                  </a:txBody>
                  <a:tcPr marL="49500" marR="49500" marT="49500" marB="49500">
                    <a:lnL w="12700" cap="flat" cmpd="sng">
                      <a:solidFill>
                        <a:srgbClr val="BAB6AD"/>
                      </a:solidFill>
                      <a:prstDash val="solid"/>
                      <a:round/>
                      <a:headEnd type="none" w="sm" len="sm"/>
                      <a:tailEnd type="none" w="sm" len="sm"/>
                    </a:lnL>
                    <a:lnR w="12700" cap="flat" cmpd="sng">
                      <a:solidFill>
                        <a:srgbClr val="BAB6AD"/>
                      </a:solidFill>
                      <a:prstDash val="solid"/>
                      <a:round/>
                      <a:headEnd type="none" w="sm" len="sm"/>
                      <a:tailEnd type="none" w="sm" len="sm"/>
                    </a:lnR>
                    <a:lnT w="12700" cap="flat" cmpd="sng">
                      <a:solidFill>
                        <a:srgbClr val="B5B4B0"/>
                      </a:solidFill>
                      <a:prstDash val="solid"/>
                      <a:round/>
                      <a:headEnd type="none" w="sm" len="sm"/>
                      <a:tailEnd type="none" w="sm" len="sm"/>
                    </a:lnT>
                    <a:lnB w="12700" cap="flat" cmpd="sng">
                      <a:solidFill>
                        <a:srgbClr val="BAB6AD"/>
                      </a:solidFill>
                      <a:prstDash val="solid"/>
                      <a:round/>
                      <a:headEnd type="none" w="sm" len="sm"/>
                      <a:tailEnd type="none" w="sm" len="sm"/>
                    </a:lnB>
                    <a:solidFill>
                      <a:srgbClr val="E9E4D8"/>
                    </a:solidFill>
                  </a:tcPr>
                </a:tc>
                <a:tc>
                  <a:txBody>
                    <a:bodyPr/>
                    <a:lstStyle/>
                    <a:p>
                      <a:pPr marL="0" marR="0" lvl="0" indent="0" algn="r" rtl="0">
                        <a:lnSpc>
                          <a:spcPct val="139946"/>
                        </a:lnSpc>
                        <a:spcBef>
                          <a:spcPts val="0"/>
                        </a:spcBef>
                        <a:spcAft>
                          <a:spcPts val="0"/>
                        </a:spcAft>
                        <a:buClr>
                          <a:srgbClr val="15171E"/>
                        </a:buClr>
                        <a:buSzPts val="1114"/>
                        <a:buFont typeface="Inter"/>
                        <a:buNone/>
                      </a:pPr>
                      <a:r>
                        <a:rPr lang="en-US" sz="1114" u="none" strike="noStrike" cap="none">
                          <a:solidFill>
                            <a:srgbClr val="15171E"/>
                          </a:solidFill>
                          <a:latin typeface="Inter"/>
                          <a:ea typeface="Inter"/>
                          <a:cs typeface="Inter"/>
                          <a:sym typeface="Inter"/>
                        </a:rPr>
                        <a:t>0.621</a:t>
                      </a:r>
                      <a:endParaRPr sz="1114" u="none" strike="noStrike" cap="none">
                        <a:latin typeface="Inter"/>
                        <a:ea typeface="Inter"/>
                        <a:cs typeface="Inter"/>
                        <a:sym typeface="Inter"/>
                      </a:endParaRPr>
                    </a:p>
                  </a:txBody>
                  <a:tcPr marL="49500" marR="49500" marT="49500" marB="49500">
                    <a:lnL w="12700" cap="flat" cmpd="sng">
                      <a:solidFill>
                        <a:srgbClr val="BAB6AD"/>
                      </a:solidFill>
                      <a:prstDash val="solid"/>
                      <a:round/>
                      <a:headEnd type="none" w="sm" len="sm"/>
                      <a:tailEnd type="none" w="sm" len="sm"/>
                    </a:lnL>
                    <a:lnR w="12700" cap="flat" cmpd="sng">
                      <a:solidFill>
                        <a:srgbClr val="BAB6AD"/>
                      </a:solidFill>
                      <a:prstDash val="solid"/>
                      <a:round/>
                      <a:headEnd type="none" w="sm" len="sm"/>
                      <a:tailEnd type="none" w="sm" len="sm"/>
                    </a:lnR>
                    <a:lnT w="12700" cap="flat" cmpd="sng">
                      <a:solidFill>
                        <a:srgbClr val="B5B4B0"/>
                      </a:solidFill>
                      <a:prstDash val="solid"/>
                      <a:round/>
                      <a:headEnd type="none" w="sm" len="sm"/>
                      <a:tailEnd type="none" w="sm" len="sm"/>
                    </a:lnT>
                    <a:lnB w="12700" cap="flat" cmpd="sng">
                      <a:solidFill>
                        <a:srgbClr val="BAB6AD"/>
                      </a:solidFill>
                      <a:prstDash val="solid"/>
                      <a:round/>
                      <a:headEnd type="none" w="sm" len="sm"/>
                      <a:tailEnd type="none" w="sm" len="sm"/>
                    </a:lnB>
                    <a:solidFill>
                      <a:srgbClr val="E9E4D8"/>
                    </a:solidFill>
                  </a:tcPr>
                </a:tc>
                <a:extLst>
                  <a:ext uri="{0D108BD9-81ED-4DB2-BD59-A6C34878D82A}">
                    <a16:rowId xmlns:a16="http://schemas.microsoft.com/office/drawing/2014/main" val="10001"/>
                  </a:ext>
                </a:extLst>
              </a:tr>
              <a:tr h="309750">
                <a:tc>
                  <a:txBody>
                    <a:bodyPr/>
                    <a:lstStyle/>
                    <a:p>
                      <a:pPr marL="0" marR="0" lvl="0" indent="0" algn="l" rtl="0">
                        <a:lnSpc>
                          <a:spcPct val="139946"/>
                        </a:lnSpc>
                        <a:spcBef>
                          <a:spcPts val="0"/>
                        </a:spcBef>
                        <a:spcAft>
                          <a:spcPts val="0"/>
                        </a:spcAft>
                        <a:buClr>
                          <a:srgbClr val="15171E"/>
                        </a:buClr>
                        <a:buSzPts val="1114"/>
                        <a:buFont typeface="Inter"/>
                        <a:buNone/>
                      </a:pPr>
                      <a:r>
                        <a:rPr lang="en-US" sz="1114" u="none" strike="noStrike" cap="none">
                          <a:solidFill>
                            <a:srgbClr val="15171E"/>
                          </a:solidFill>
                          <a:latin typeface="Inter"/>
                          <a:ea typeface="Inter"/>
                          <a:cs typeface="Inter"/>
                          <a:sym typeface="Inter"/>
                        </a:rPr>
                        <a:t>0.60</a:t>
                      </a:r>
                      <a:endParaRPr sz="1114" u="none" strike="noStrike" cap="none">
                        <a:latin typeface="Inter"/>
                        <a:ea typeface="Inter"/>
                        <a:cs typeface="Inter"/>
                        <a:sym typeface="Inter"/>
                      </a:endParaRPr>
                    </a:p>
                  </a:txBody>
                  <a:tcPr marL="49500" marR="49500" marT="49500" marB="49500">
                    <a:lnL w="12700" cap="flat" cmpd="sng">
                      <a:solidFill>
                        <a:srgbClr val="C4C2BE"/>
                      </a:solidFill>
                      <a:prstDash val="solid"/>
                      <a:round/>
                      <a:headEnd type="none" w="sm" len="sm"/>
                      <a:tailEnd type="none" w="sm" len="sm"/>
                    </a:lnL>
                    <a:lnR w="12700" cap="flat" cmpd="sng">
                      <a:solidFill>
                        <a:srgbClr val="C4C2BE"/>
                      </a:solidFill>
                      <a:prstDash val="solid"/>
                      <a:round/>
                      <a:headEnd type="none" w="sm" len="sm"/>
                      <a:tailEnd type="none" w="sm" len="sm"/>
                    </a:lnR>
                    <a:lnT w="12700" cap="flat" cmpd="sng">
                      <a:solidFill>
                        <a:srgbClr val="BAB6AD"/>
                      </a:solidFill>
                      <a:prstDash val="solid"/>
                      <a:round/>
                      <a:headEnd type="none" w="sm" len="sm"/>
                      <a:tailEnd type="none" w="sm" len="sm"/>
                    </a:lnT>
                    <a:lnB w="12700" cap="flat" cmpd="sng">
                      <a:solidFill>
                        <a:srgbClr val="C4C2BE"/>
                      </a:solidFill>
                      <a:prstDash val="solid"/>
                      <a:round/>
                      <a:headEnd type="none" w="sm" len="sm"/>
                      <a:tailEnd type="none" w="sm" len="sm"/>
                    </a:lnB>
                  </a:tcPr>
                </a:tc>
                <a:tc>
                  <a:txBody>
                    <a:bodyPr/>
                    <a:lstStyle/>
                    <a:p>
                      <a:pPr marL="0" marR="0" lvl="0" indent="0" algn="r" rtl="0">
                        <a:lnSpc>
                          <a:spcPct val="139946"/>
                        </a:lnSpc>
                        <a:spcBef>
                          <a:spcPts val="0"/>
                        </a:spcBef>
                        <a:spcAft>
                          <a:spcPts val="0"/>
                        </a:spcAft>
                        <a:buClr>
                          <a:srgbClr val="15171E"/>
                        </a:buClr>
                        <a:buSzPts val="1114"/>
                        <a:buFont typeface="Inter"/>
                        <a:buNone/>
                      </a:pPr>
                      <a:r>
                        <a:rPr lang="en-US" sz="1114" u="none" strike="noStrike" cap="none">
                          <a:solidFill>
                            <a:srgbClr val="15171E"/>
                          </a:solidFill>
                          <a:latin typeface="Inter"/>
                          <a:ea typeface="Inter"/>
                          <a:cs typeface="Inter"/>
                          <a:sym typeface="Inter"/>
                        </a:rPr>
                        <a:t>0.606</a:t>
                      </a:r>
                      <a:endParaRPr sz="1114" u="none" strike="noStrike" cap="none">
                        <a:latin typeface="Inter"/>
                        <a:ea typeface="Inter"/>
                        <a:cs typeface="Inter"/>
                        <a:sym typeface="Inter"/>
                      </a:endParaRPr>
                    </a:p>
                  </a:txBody>
                  <a:tcPr marL="49500" marR="49500" marT="49500" marB="49500">
                    <a:lnL w="12700" cap="flat" cmpd="sng">
                      <a:solidFill>
                        <a:srgbClr val="C4C2BE"/>
                      </a:solidFill>
                      <a:prstDash val="solid"/>
                      <a:round/>
                      <a:headEnd type="none" w="sm" len="sm"/>
                      <a:tailEnd type="none" w="sm" len="sm"/>
                    </a:lnL>
                    <a:lnR w="12700" cap="flat" cmpd="sng">
                      <a:solidFill>
                        <a:srgbClr val="C4C2BE"/>
                      </a:solidFill>
                      <a:prstDash val="solid"/>
                      <a:round/>
                      <a:headEnd type="none" w="sm" len="sm"/>
                      <a:tailEnd type="none" w="sm" len="sm"/>
                    </a:lnR>
                    <a:lnT w="12700" cap="flat" cmpd="sng">
                      <a:solidFill>
                        <a:srgbClr val="BAB6AD"/>
                      </a:solidFill>
                      <a:prstDash val="solid"/>
                      <a:round/>
                      <a:headEnd type="none" w="sm" len="sm"/>
                      <a:tailEnd type="none" w="sm" len="sm"/>
                    </a:lnT>
                    <a:lnB w="12700" cap="flat" cmpd="sng">
                      <a:solidFill>
                        <a:srgbClr val="C4C2BE"/>
                      </a:solidFill>
                      <a:prstDash val="solid"/>
                      <a:round/>
                      <a:headEnd type="none" w="sm" len="sm"/>
                      <a:tailEnd type="none" w="sm" len="sm"/>
                    </a:lnB>
                  </a:tcPr>
                </a:tc>
                <a:tc>
                  <a:txBody>
                    <a:bodyPr/>
                    <a:lstStyle/>
                    <a:p>
                      <a:pPr marL="0" marR="0" lvl="0" indent="0" algn="r" rtl="0">
                        <a:lnSpc>
                          <a:spcPct val="139946"/>
                        </a:lnSpc>
                        <a:spcBef>
                          <a:spcPts val="0"/>
                        </a:spcBef>
                        <a:spcAft>
                          <a:spcPts val="0"/>
                        </a:spcAft>
                        <a:buClr>
                          <a:srgbClr val="15171E"/>
                        </a:buClr>
                        <a:buSzPts val="1114"/>
                        <a:buFont typeface="Inter"/>
                        <a:buNone/>
                      </a:pPr>
                      <a:r>
                        <a:rPr lang="en-US" sz="1114" u="none" strike="noStrike" cap="none">
                          <a:solidFill>
                            <a:srgbClr val="15171E"/>
                          </a:solidFill>
                          <a:latin typeface="Inter"/>
                          <a:ea typeface="Inter"/>
                          <a:cs typeface="Inter"/>
                          <a:sym typeface="Inter"/>
                        </a:rPr>
                        <a:t>0.546</a:t>
                      </a:r>
                      <a:endParaRPr sz="1114" u="none" strike="noStrike" cap="none">
                        <a:latin typeface="Inter"/>
                        <a:ea typeface="Inter"/>
                        <a:cs typeface="Inter"/>
                        <a:sym typeface="Inter"/>
                      </a:endParaRPr>
                    </a:p>
                  </a:txBody>
                  <a:tcPr marL="49500" marR="49500" marT="49500" marB="49500">
                    <a:lnL w="12700" cap="flat" cmpd="sng">
                      <a:solidFill>
                        <a:srgbClr val="C4C2BE"/>
                      </a:solidFill>
                      <a:prstDash val="solid"/>
                      <a:round/>
                      <a:headEnd type="none" w="sm" len="sm"/>
                      <a:tailEnd type="none" w="sm" len="sm"/>
                    </a:lnL>
                    <a:lnR w="12700" cap="flat" cmpd="sng">
                      <a:solidFill>
                        <a:srgbClr val="C4C2BE"/>
                      </a:solidFill>
                      <a:prstDash val="solid"/>
                      <a:round/>
                      <a:headEnd type="none" w="sm" len="sm"/>
                      <a:tailEnd type="none" w="sm" len="sm"/>
                    </a:lnR>
                    <a:lnT w="12700" cap="flat" cmpd="sng">
                      <a:solidFill>
                        <a:srgbClr val="BAB6AD"/>
                      </a:solidFill>
                      <a:prstDash val="solid"/>
                      <a:round/>
                      <a:headEnd type="none" w="sm" len="sm"/>
                      <a:tailEnd type="none" w="sm" len="sm"/>
                    </a:lnT>
                    <a:lnB w="12700" cap="flat" cmpd="sng">
                      <a:solidFill>
                        <a:srgbClr val="C4C2BE"/>
                      </a:solidFill>
                      <a:prstDash val="solid"/>
                      <a:round/>
                      <a:headEnd type="none" w="sm" len="sm"/>
                      <a:tailEnd type="none" w="sm" len="sm"/>
                    </a:lnB>
                  </a:tcPr>
                </a:tc>
                <a:tc>
                  <a:txBody>
                    <a:bodyPr/>
                    <a:lstStyle/>
                    <a:p>
                      <a:pPr marL="0" marR="0" lvl="0" indent="0" algn="r" rtl="0">
                        <a:lnSpc>
                          <a:spcPct val="139946"/>
                        </a:lnSpc>
                        <a:spcBef>
                          <a:spcPts val="0"/>
                        </a:spcBef>
                        <a:spcAft>
                          <a:spcPts val="0"/>
                        </a:spcAft>
                        <a:buClr>
                          <a:srgbClr val="15171E"/>
                        </a:buClr>
                        <a:buSzPts val="1114"/>
                        <a:buFont typeface="Inter"/>
                        <a:buNone/>
                      </a:pPr>
                      <a:r>
                        <a:rPr lang="en-US" sz="1114" u="none" strike="noStrike" cap="none">
                          <a:solidFill>
                            <a:srgbClr val="15171E"/>
                          </a:solidFill>
                          <a:latin typeface="Inter"/>
                          <a:ea typeface="Inter"/>
                          <a:cs typeface="Inter"/>
                          <a:sym typeface="Inter"/>
                        </a:rPr>
                        <a:t>0.575</a:t>
                      </a:r>
                      <a:endParaRPr sz="1114" u="none" strike="noStrike" cap="none">
                        <a:latin typeface="Inter"/>
                        <a:ea typeface="Inter"/>
                        <a:cs typeface="Inter"/>
                        <a:sym typeface="Inter"/>
                      </a:endParaRPr>
                    </a:p>
                  </a:txBody>
                  <a:tcPr marL="49500" marR="49500" marT="49500" marB="49500">
                    <a:lnL w="12700" cap="flat" cmpd="sng">
                      <a:solidFill>
                        <a:srgbClr val="C4C2BE"/>
                      </a:solidFill>
                      <a:prstDash val="solid"/>
                      <a:round/>
                      <a:headEnd type="none" w="sm" len="sm"/>
                      <a:tailEnd type="none" w="sm" len="sm"/>
                    </a:lnL>
                    <a:lnR w="12700" cap="flat" cmpd="sng">
                      <a:solidFill>
                        <a:srgbClr val="C4C2BE"/>
                      </a:solidFill>
                      <a:prstDash val="solid"/>
                      <a:round/>
                      <a:headEnd type="none" w="sm" len="sm"/>
                      <a:tailEnd type="none" w="sm" len="sm"/>
                    </a:lnR>
                    <a:lnT w="12700" cap="flat" cmpd="sng">
                      <a:solidFill>
                        <a:srgbClr val="BAB6AD"/>
                      </a:solidFill>
                      <a:prstDash val="solid"/>
                      <a:round/>
                      <a:headEnd type="none" w="sm" len="sm"/>
                      <a:tailEnd type="none" w="sm" len="sm"/>
                    </a:lnT>
                    <a:lnB w="12700" cap="flat" cmpd="sng">
                      <a:solidFill>
                        <a:srgbClr val="C4C2BE"/>
                      </a:solidFill>
                      <a:prstDash val="solid"/>
                      <a:round/>
                      <a:headEnd type="none" w="sm" len="sm"/>
                      <a:tailEnd type="none" w="sm" len="sm"/>
                    </a:lnB>
                  </a:tcPr>
                </a:tc>
                <a:extLst>
                  <a:ext uri="{0D108BD9-81ED-4DB2-BD59-A6C34878D82A}">
                    <a16:rowId xmlns:a16="http://schemas.microsoft.com/office/drawing/2014/main" val="10002"/>
                  </a:ext>
                </a:extLst>
              </a:tr>
              <a:tr h="309750">
                <a:tc>
                  <a:txBody>
                    <a:bodyPr/>
                    <a:lstStyle/>
                    <a:p>
                      <a:pPr marL="0" marR="0" lvl="0" indent="0" algn="l" rtl="0">
                        <a:lnSpc>
                          <a:spcPct val="139946"/>
                        </a:lnSpc>
                        <a:spcBef>
                          <a:spcPts val="0"/>
                        </a:spcBef>
                        <a:spcAft>
                          <a:spcPts val="0"/>
                        </a:spcAft>
                        <a:buClr>
                          <a:srgbClr val="15171E"/>
                        </a:buClr>
                        <a:buSzPts val="1114"/>
                        <a:buFont typeface="Inter"/>
                        <a:buNone/>
                      </a:pPr>
                      <a:r>
                        <a:rPr lang="en-US" sz="1114" u="none" strike="noStrike" cap="none">
                          <a:solidFill>
                            <a:srgbClr val="15171E"/>
                          </a:solidFill>
                          <a:latin typeface="Inter"/>
                          <a:ea typeface="Inter"/>
                          <a:cs typeface="Inter"/>
                          <a:sym typeface="Inter"/>
                        </a:rPr>
                        <a:t>0.70</a:t>
                      </a:r>
                      <a:endParaRPr sz="1114" u="none" strike="noStrike" cap="none">
                        <a:latin typeface="Inter"/>
                        <a:ea typeface="Inter"/>
                        <a:cs typeface="Inter"/>
                        <a:sym typeface="Inter"/>
                      </a:endParaRPr>
                    </a:p>
                  </a:txBody>
                  <a:tcPr marL="49500" marR="49500" marT="49500" marB="49500">
                    <a:lnL w="12700" cap="flat" cmpd="sng">
                      <a:solidFill>
                        <a:srgbClr val="C4C2BE"/>
                      </a:solidFill>
                      <a:prstDash val="solid"/>
                      <a:round/>
                      <a:headEnd type="none" w="sm" len="sm"/>
                      <a:tailEnd type="none" w="sm" len="sm"/>
                    </a:lnL>
                    <a:lnR w="12700" cap="flat" cmpd="sng">
                      <a:solidFill>
                        <a:srgbClr val="C4C2BE"/>
                      </a:solidFill>
                      <a:prstDash val="solid"/>
                      <a:round/>
                      <a:headEnd type="none" w="sm" len="sm"/>
                      <a:tailEnd type="none" w="sm" len="sm"/>
                    </a:lnR>
                    <a:lnT w="12700" cap="flat" cmpd="sng">
                      <a:solidFill>
                        <a:srgbClr val="C4C2BE"/>
                      </a:solidFill>
                      <a:prstDash val="solid"/>
                      <a:round/>
                      <a:headEnd type="none" w="sm" len="sm"/>
                      <a:tailEnd type="none" w="sm" len="sm"/>
                    </a:lnT>
                    <a:lnB w="12700" cap="flat" cmpd="sng">
                      <a:solidFill>
                        <a:srgbClr val="C4C2BE"/>
                      </a:solidFill>
                      <a:prstDash val="solid"/>
                      <a:round/>
                      <a:headEnd type="none" w="sm" len="sm"/>
                      <a:tailEnd type="none" w="sm" len="sm"/>
                    </a:lnB>
                  </a:tcPr>
                </a:tc>
                <a:tc>
                  <a:txBody>
                    <a:bodyPr/>
                    <a:lstStyle/>
                    <a:p>
                      <a:pPr marL="0" marR="0" lvl="0" indent="0" algn="r" rtl="0">
                        <a:lnSpc>
                          <a:spcPct val="139946"/>
                        </a:lnSpc>
                        <a:spcBef>
                          <a:spcPts val="0"/>
                        </a:spcBef>
                        <a:spcAft>
                          <a:spcPts val="0"/>
                        </a:spcAft>
                        <a:buClr>
                          <a:srgbClr val="15171E"/>
                        </a:buClr>
                        <a:buSzPts val="1114"/>
                        <a:buFont typeface="Inter"/>
                        <a:buNone/>
                      </a:pPr>
                      <a:r>
                        <a:rPr lang="en-US" sz="1114" u="none" strike="noStrike" cap="none">
                          <a:solidFill>
                            <a:srgbClr val="15171E"/>
                          </a:solidFill>
                          <a:latin typeface="Inter"/>
                          <a:ea typeface="Inter"/>
                          <a:cs typeface="Inter"/>
                          <a:sym typeface="Inter"/>
                        </a:rPr>
                        <a:t>0.677</a:t>
                      </a:r>
                      <a:endParaRPr sz="1114" u="none" strike="noStrike" cap="none">
                        <a:latin typeface="Inter"/>
                        <a:ea typeface="Inter"/>
                        <a:cs typeface="Inter"/>
                        <a:sym typeface="Inter"/>
                      </a:endParaRPr>
                    </a:p>
                  </a:txBody>
                  <a:tcPr marL="49500" marR="49500" marT="49500" marB="49500">
                    <a:lnL w="12700" cap="flat" cmpd="sng">
                      <a:solidFill>
                        <a:srgbClr val="C4C2BE"/>
                      </a:solidFill>
                      <a:prstDash val="solid"/>
                      <a:round/>
                      <a:headEnd type="none" w="sm" len="sm"/>
                      <a:tailEnd type="none" w="sm" len="sm"/>
                    </a:lnL>
                    <a:lnR w="12700" cap="flat" cmpd="sng">
                      <a:solidFill>
                        <a:srgbClr val="C4C2BE"/>
                      </a:solidFill>
                      <a:prstDash val="solid"/>
                      <a:round/>
                      <a:headEnd type="none" w="sm" len="sm"/>
                      <a:tailEnd type="none" w="sm" len="sm"/>
                    </a:lnR>
                    <a:lnT w="12700" cap="flat" cmpd="sng">
                      <a:solidFill>
                        <a:srgbClr val="C4C2BE"/>
                      </a:solidFill>
                      <a:prstDash val="solid"/>
                      <a:round/>
                      <a:headEnd type="none" w="sm" len="sm"/>
                      <a:tailEnd type="none" w="sm" len="sm"/>
                    </a:lnT>
                    <a:lnB w="12700" cap="flat" cmpd="sng">
                      <a:solidFill>
                        <a:srgbClr val="C4C2BE"/>
                      </a:solidFill>
                      <a:prstDash val="solid"/>
                      <a:round/>
                      <a:headEnd type="none" w="sm" len="sm"/>
                      <a:tailEnd type="none" w="sm" len="sm"/>
                    </a:lnB>
                  </a:tcPr>
                </a:tc>
                <a:tc>
                  <a:txBody>
                    <a:bodyPr/>
                    <a:lstStyle/>
                    <a:p>
                      <a:pPr marL="0" marR="0" lvl="0" indent="0" algn="r" rtl="0">
                        <a:lnSpc>
                          <a:spcPct val="139946"/>
                        </a:lnSpc>
                        <a:spcBef>
                          <a:spcPts val="0"/>
                        </a:spcBef>
                        <a:spcAft>
                          <a:spcPts val="0"/>
                        </a:spcAft>
                        <a:buClr>
                          <a:srgbClr val="15171E"/>
                        </a:buClr>
                        <a:buSzPts val="1114"/>
                        <a:buFont typeface="Inter"/>
                        <a:buNone/>
                      </a:pPr>
                      <a:r>
                        <a:rPr lang="en-US" sz="1114" u="none" strike="noStrike" cap="none">
                          <a:solidFill>
                            <a:srgbClr val="15171E"/>
                          </a:solidFill>
                          <a:latin typeface="Inter"/>
                          <a:ea typeface="Inter"/>
                          <a:cs typeface="Inter"/>
                          <a:sym typeface="Inter"/>
                        </a:rPr>
                        <a:t>0.334</a:t>
                      </a:r>
                      <a:endParaRPr sz="1114" u="none" strike="noStrike" cap="none">
                        <a:latin typeface="Inter"/>
                        <a:ea typeface="Inter"/>
                        <a:cs typeface="Inter"/>
                        <a:sym typeface="Inter"/>
                      </a:endParaRPr>
                    </a:p>
                  </a:txBody>
                  <a:tcPr marL="49500" marR="49500" marT="49500" marB="49500">
                    <a:lnL w="12700" cap="flat" cmpd="sng">
                      <a:solidFill>
                        <a:srgbClr val="C4C2BE"/>
                      </a:solidFill>
                      <a:prstDash val="solid"/>
                      <a:round/>
                      <a:headEnd type="none" w="sm" len="sm"/>
                      <a:tailEnd type="none" w="sm" len="sm"/>
                    </a:lnL>
                    <a:lnR w="12700" cap="flat" cmpd="sng">
                      <a:solidFill>
                        <a:srgbClr val="C4C2BE"/>
                      </a:solidFill>
                      <a:prstDash val="solid"/>
                      <a:round/>
                      <a:headEnd type="none" w="sm" len="sm"/>
                      <a:tailEnd type="none" w="sm" len="sm"/>
                    </a:lnR>
                    <a:lnT w="12700" cap="flat" cmpd="sng">
                      <a:solidFill>
                        <a:srgbClr val="C4C2BE"/>
                      </a:solidFill>
                      <a:prstDash val="solid"/>
                      <a:round/>
                      <a:headEnd type="none" w="sm" len="sm"/>
                      <a:tailEnd type="none" w="sm" len="sm"/>
                    </a:lnT>
                    <a:lnB w="12700" cap="flat" cmpd="sng">
                      <a:solidFill>
                        <a:srgbClr val="C4C2BE"/>
                      </a:solidFill>
                      <a:prstDash val="solid"/>
                      <a:round/>
                      <a:headEnd type="none" w="sm" len="sm"/>
                      <a:tailEnd type="none" w="sm" len="sm"/>
                    </a:lnB>
                  </a:tcPr>
                </a:tc>
                <a:tc>
                  <a:txBody>
                    <a:bodyPr/>
                    <a:lstStyle/>
                    <a:p>
                      <a:pPr marL="0" marR="0" lvl="0" indent="0" algn="r" rtl="0">
                        <a:lnSpc>
                          <a:spcPct val="139946"/>
                        </a:lnSpc>
                        <a:spcBef>
                          <a:spcPts val="0"/>
                        </a:spcBef>
                        <a:spcAft>
                          <a:spcPts val="0"/>
                        </a:spcAft>
                        <a:buClr>
                          <a:srgbClr val="15171E"/>
                        </a:buClr>
                        <a:buSzPts val="1114"/>
                        <a:buFont typeface="Inter"/>
                        <a:buNone/>
                      </a:pPr>
                      <a:r>
                        <a:rPr lang="en-US" sz="1114" u="none" strike="noStrike" cap="none">
                          <a:solidFill>
                            <a:srgbClr val="15171E"/>
                          </a:solidFill>
                          <a:latin typeface="Inter"/>
                          <a:ea typeface="Inter"/>
                          <a:cs typeface="Inter"/>
                          <a:sym typeface="Inter"/>
                        </a:rPr>
                        <a:t>0.447</a:t>
                      </a:r>
                      <a:endParaRPr sz="1114" u="none" strike="noStrike" cap="none">
                        <a:latin typeface="Inter"/>
                        <a:ea typeface="Inter"/>
                        <a:cs typeface="Inter"/>
                        <a:sym typeface="Inter"/>
                      </a:endParaRPr>
                    </a:p>
                  </a:txBody>
                  <a:tcPr marL="49500" marR="49500" marT="49500" marB="49500">
                    <a:lnL w="12700" cap="flat" cmpd="sng">
                      <a:solidFill>
                        <a:srgbClr val="C4C2BE"/>
                      </a:solidFill>
                      <a:prstDash val="solid"/>
                      <a:round/>
                      <a:headEnd type="none" w="sm" len="sm"/>
                      <a:tailEnd type="none" w="sm" len="sm"/>
                    </a:lnL>
                    <a:lnR w="12700" cap="flat" cmpd="sng">
                      <a:solidFill>
                        <a:srgbClr val="C4C2BE"/>
                      </a:solidFill>
                      <a:prstDash val="solid"/>
                      <a:round/>
                      <a:headEnd type="none" w="sm" len="sm"/>
                      <a:tailEnd type="none" w="sm" len="sm"/>
                    </a:lnR>
                    <a:lnT w="12700" cap="flat" cmpd="sng">
                      <a:solidFill>
                        <a:srgbClr val="C4C2BE"/>
                      </a:solidFill>
                      <a:prstDash val="solid"/>
                      <a:round/>
                      <a:headEnd type="none" w="sm" len="sm"/>
                      <a:tailEnd type="none" w="sm" len="sm"/>
                    </a:lnT>
                    <a:lnB w="12700" cap="flat" cmpd="sng">
                      <a:solidFill>
                        <a:srgbClr val="C4C2B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186" name="Google Shape;186;p9"/>
          <p:cNvSpPr/>
          <p:nvPr/>
        </p:nvSpPr>
        <p:spPr>
          <a:xfrm>
            <a:off x="6807200" y="5444827"/>
            <a:ext cx="4709160" cy="422573"/>
          </a:xfrm>
          <a:prstGeom prst="rect">
            <a:avLst/>
          </a:prstGeom>
          <a:noFill/>
          <a:ln>
            <a:noFill/>
          </a:ln>
        </p:spPr>
        <p:txBody>
          <a:bodyPr spcFirstLastPara="1" wrap="square" lIns="0" tIns="0" rIns="0" bIns="0" anchor="t" anchorCtr="0">
            <a:noAutofit/>
          </a:bodyPr>
          <a:lstStyle/>
          <a:p>
            <a:pPr marL="0" marR="0" lvl="0" indent="0" algn="l" rtl="0">
              <a:lnSpc>
                <a:spcPct val="139894"/>
              </a:lnSpc>
              <a:spcBef>
                <a:spcPts val="0"/>
              </a:spcBef>
              <a:spcAft>
                <a:spcPts val="0"/>
              </a:spcAft>
              <a:buClr>
                <a:srgbClr val="5B5E66"/>
              </a:buClr>
              <a:buSzPts val="1133"/>
              <a:buFont typeface="Inter"/>
              <a:buNone/>
            </a:pPr>
            <a:r>
              <a:rPr lang="en-US" sz="1133">
                <a:solidFill>
                  <a:srgbClr val="5B5E66"/>
                </a:solidFill>
                <a:latin typeface="Inter"/>
                <a:ea typeface="Inter"/>
                <a:cs typeface="Inter"/>
                <a:sym typeface="Inter"/>
              </a:rPr>
              <a:t>Illustrative only: computed on the test set, so not used for the reported result.</a:t>
            </a:r>
            <a:endParaRPr sz="1133">
              <a:solidFill>
                <a:schemeClr val="dk1"/>
              </a:solidFill>
              <a:latin typeface="Inter"/>
              <a:ea typeface="Inter"/>
              <a:cs typeface="Inter"/>
              <a:sym typeface="Inter"/>
            </a:endParaRPr>
          </a:p>
        </p:txBody>
      </p:sp>
      <p:sp>
        <p:nvSpPr>
          <p:cNvPr id="187" name="Google Shape;187;p9"/>
          <p:cNvSpPr/>
          <p:nvPr/>
        </p:nvSpPr>
        <p:spPr>
          <a:xfrm>
            <a:off x="812800" y="6238280"/>
            <a:ext cx="7848600" cy="23872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6B6E76"/>
              </a:buClr>
              <a:buSzPts val="1200"/>
              <a:buFont typeface="Inter"/>
              <a:buNone/>
            </a:pPr>
            <a:r>
              <a:rPr lang="en-US" sz="1200">
                <a:solidFill>
                  <a:srgbClr val="6B6E76"/>
                </a:solidFill>
                <a:latin typeface="Inter"/>
                <a:ea typeface="Inter"/>
                <a:cs typeface="Inter"/>
                <a:sym typeface="Inter"/>
              </a:rPr>
              <a:t>Outliers · Will your Kickstarter get funded?</a:t>
            </a:r>
            <a:endParaRPr sz="1200">
              <a:solidFill>
                <a:schemeClr val="dk1"/>
              </a:solidFill>
              <a:latin typeface="Inter"/>
              <a:ea typeface="Inter"/>
              <a:cs typeface="Inter"/>
              <a:sym typeface="Inter"/>
            </a:endParaRPr>
          </a:p>
        </p:txBody>
      </p:sp>
      <p:sp>
        <p:nvSpPr>
          <p:cNvPr id="188" name="Google Shape;188;p9"/>
          <p:cNvSpPr/>
          <p:nvPr/>
        </p:nvSpPr>
        <p:spPr>
          <a:xfrm>
            <a:off x="10058400" y="6238280"/>
            <a:ext cx="1320800" cy="238720"/>
          </a:xfrm>
          <a:prstGeom prst="rect">
            <a:avLst/>
          </a:prstGeom>
          <a:noFill/>
          <a:ln>
            <a:noFill/>
          </a:ln>
        </p:spPr>
        <p:txBody>
          <a:bodyPr spcFirstLastPara="1" wrap="square" lIns="0" tIns="0" rIns="0" bIns="0" anchor="t" anchorCtr="0">
            <a:noAutofit/>
          </a:bodyPr>
          <a:lstStyle/>
          <a:p>
            <a:pPr marL="0" marR="0" lvl="0" indent="0" algn="r" rtl="0">
              <a:lnSpc>
                <a:spcPct val="140000"/>
              </a:lnSpc>
              <a:spcBef>
                <a:spcPts val="0"/>
              </a:spcBef>
              <a:spcAft>
                <a:spcPts val="0"/>
              </a:spcAft>
              <a:buClr>
                <a:srgbClr val="6B6E76"/>
              </a:buClr>
              <a:buSzPts val="1200"/>
              <a:buFont typeface="Inter"/>
              <a:buNone/>
            </a:pPr>
            <a:r>
              <a:rPr lang="en-US" sz="1200">
                <a:solidFill>
                  <a:srgbClr val="6B6E76"/>
                </a:solidFill>
                <a:latin typeface="Inter"/>
                <a:ea typeface="Inter"/>
                <a:cs typeface="Inter"/>
                <a:sym typeface="Inter"/>
              </a:rPr>
              <a:t>6 / 12</a:t>
            </a:r>
            <a:endParaRPr sz="1200">
              <a:solidFill>
                <a:schemeClr val="dk1"/>
              </a:solidFill>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Shape 193"/>
        <p:cNvGrpSpPr/>
        <p:nvPr/>
      </p:nvGrpSpPr>
      <p:grpSpPr>
        <a:xfrm>
          <a:off x="0" y="0"/>
          <a:ext cx="0" cy="0"/>
          <a:chOff x="0" y="0"/>
          <a:chExt cx="0" cy="0"/>
        </a:xfrm>
      </p:grpSpPr>
      <p:sp>
        <p:nvSpPr>
          <p:cNvPr id="194" name="Google Shape;194;p10"/>
          <p:cNvSpPr/>
          <p:nvPr/>
        </p:nvSpPr>
        <p:spPr>
          <a:xfrm>
            <a:off x="812800" y="812800"/>
            <a:ext cx="108837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8401A"/>
              </a:buClr>
              <a:buSzPts val="1200"/>
              <a:buFont typeface="Inter"/>
              <a:buNone/>
            </a:pPr>
            <a:r>
              <a:rPr lang="en-US" sz="1200" b="1" i="0" u="none" strike="noStrike" cap="none">
                <a:solidFill>
                  <a:srgbClr val="B8401A"/>
                </a:solidFill>
                <a:latin typeface="Inter"/>
                <a:ea typeface="Inter"/>
                <a:cs typeface="Inter"/>
                <a:sym typeface="Inter"/>
              </a:rPr>
              <a:t>06 · WHAT DRIVES SUCCESS</a:t>
            </a:r>
            <a:endParaRPr sz="1200" b="0" i="0" u="none" strike="noStrike" cap="none">
              <a:solidFill>
                <a:schemeClr val="dk1"/>
              </a:solidFill>
              <a:latin typeface="Inter"/>
              <a:ea typeface="Inter"/>
              <a:cs typeface="Inter"/>
              <a:sym typeface="Inter"/>
            </a:endParaRPr>
          </a:p>
        </p:txBody>
      </p:sp>
      <p:sp>
        <p:nvSpPr>
          <p:cNvPr id="195" name="Google Shape;195;p10"/>
          <p:cNvSpPr txBox="1">
            <a:spLocks noGrp="1"/>
          </p:cNvSpPr>
          <p:nvPr>
            <p:ph type="title"/>
          </p:nvPr>
        </p:nvSpPr>
        <p:spPr>
          <a:xfrm>
            <a:off x="812800" y="1102320"/>
            <a:ext cx="10883700" cy="472500"/>
          </a:xfrm>
          <a:prstGeom prst="rect">
            <a:avLst/>
          </a:prstGeom>
          <a:noFill/>
          <a:ln>
            <a:noFill/>
          </a:ln>
        </p:spPr>
        <p:txBody>
          <a:bodyPr spcFirstLastPara="1" wrap="square" lIns="0" tIns="0" rIns="0" bIns="0" anchor="t" anchorCtr="0">
            <a:normAutofit fontScale="90000"/>
          </a:bodyPr>
          <a:lstStyle/>
          <a:p>
            <a:pPr marL="0" lvl="0" indent="0" algn="l" rtl="0">
              <a:lnSpc>
                <a:spcPct val="110000"/>
              </a:lnSpc>
              <a:spcBef>
                <a:spcPts val="0"/>
              </a:spcBef>
              <a:spcAft>
                <a:spcPts val="0"/>
              </a:spcAft>
              <a:buClr>
                <a:srgbClr val="15171E"/>
              </a:buClr>
              <a:buSzPct val="100000"/>
              <a:buFont typeface="Space Grotesk"/>
              <a:buNone/>
            </a:pPr>
            <a:r>
              <a:rPr lang="en-US" sz="3200" b="1" i="0">
                <a:solidFill>
                  <a:srgbClr val="15171E"/>
                </a:solidFill>
                <a:latin typeface="Space Grotesk"/>
                <a:ea typeface="Space Grotesk"/>
                <a:cs typeface="Space Grotesk"/>
                <a:sym typeface="Space Grotesk"/>
              </a:rPr>
              <a:t>Goal and category matter most</a:t>
            </a:r>
            <a:endParaRPr sz="3200"/>
          </a:p>
        </p:txBody>
      </p:sp>
      <p:sp>
        <p:nvSpPr>
          <p:cNvPr id="196" name="Google Shape;196;p10"/>
          <p:cNvSpPr/>
          <p:nvPr/>
        </p:nvSpPr>
        <p:spPr>
          <a:xfrm>
            <a:off x="812800" y="2265463"/>
            <a:ext cx="17661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200"/>
              <a:buFont typeface="Inter"/>
              <a:buNone/>
            </a:pPr>
            <a:r>
              <a:rPr lang="en-US" sz="1200" b="1" i="0" u="none" strike="noStrike" cap="none">
                <a:solidFill>
                  <a:srgbClr val="15171E"/>
                </a:solidFill>
                <a:latin typeface="Inter"/>
                <a:ea typeface="Inter"/>
                <a:cs typeface="Inter"/>
                <a:sym typeface="Inter"/>
              </a:rPr>
              <a:t>Funding goal</a:t>
            </a:r>
            <a:endParaRPr sz="1200" b="0" i="0" u="none" strike="noStrike" cap="none">
              <a:solidFill>
                <a:schemeClr val="dk1"/>
              </a:solidFill>
              <a:latin typeface="Inter"/>
              <a:ea typeface="Inter"/>
              <a:cs typeface="Inter"/>
              <a:sym typeface="Inter"/>
            </a:endParaRPr>
          </a:p>
        </p:txBody>
      </p:sp>
      <p:sp>
        <p:nvSpPr>
          <p:cNvPr id="197" name="Google Shape;197;p10"/>
          <p:cNvSpPr/>
          <p:nvPr/>
        </p:nvSpPr>
        <p:spPr>
          <a:xfrm>
            <a:off x="2628900" y="2276872"/>
            <a:ext cx="5533200" cy="190500"/>
          </a:xfrm>
          <a:prstGeom prst="roundRect">
            <a:avLst>
              <a:gd name="adj" fmla="val 13333"/>
            </a:avLst>
          </a:prstGeom>
          <a:solidFill>
            <a:srgbClr val="E8572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198" name="Google Shape;198;p10"/>
          <p:cNvSpPr/>
          <p:nvPr/>
        </p:nvSpPr>
        <p:spPr>
          <a:xfrm>
            <a:off x="8263633" y="2265463"/>
            <a:ext cx="4800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200"/>
              <a:buFont typeface="Inter"/>
              <a:buNone/>
            </a:pPr>
            <a:r>
              <a:rPr lang="en-US" sz="1200" b="1" i="0" u="none" strike="noStrike" cap="none">
                <a:solidFill>
                  <a:srgbClr val="15171E"/>
                </a:solidFill>
                <a:latin typeface="Inter"/>
                <a:ea typeface="Inter"/>
                <a:cs typeface="Inter"/>
                <a:sym typeface="Inter"/>
              </a:rPr>
              <a:t>0.090</a:t>
            </a:r>
            <a:endParaRPr sz="1200" b="0" i="0" u="none" strike="noStrike" cap="none">
              <a:solidFill>
                <a:schemeClr val="dk1"/>
              </a:solidFill>
              <a:latin typeface="Inter"/>
              <a:ea typeface="Inter"/>
              <a:cs typeface="Inter"/>
              <a:sym typeface="Inter"/>
            </a:endParaRPr>
          </a:p>
        </p:txBody>
      </p:sp>
      <p:sp>
        <p:nvSpPr>
          <p:cNvPr id="199" name="Google Shape;199;p10"/>
          <p:cNvSpPr/>
          <p:nvPr/>
        </p:nvSpPr>
        <p:spPr>
          <a:xfrm>
            <a:off x="812800" y="2554983"/>
            <a:ext cx="17661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200"/>
              <a:buFont typeface="Inter"/>
              <a:buNone/>
            </a:pPr>
            <a:r>
              <a:rPr lang="en-US" sz="1200" b="1" i="0" u="none" strike="noStrike" cap="none">
                <a:solidFill>
                  <a:srgbClr val="15171E"/>
                </a:solidFill>
                <a:latin typeface="Inter"/>
                <a:ea typeface="Inter"/>
                <a:cs typeface="Inter"/>
                <a:sym typeface="Inter"/>
              </a:rPr>
              <a:t>Category</a:t>
            </a:r>
            <a:endParaRPr sz="1200" b="0" i="0" u="none" strike="noStrike" cap="none">
              <a:solidFill>
                <a:schemeClr val="dk1"/>
              </a:solidFill>
              <a:latin typeface="Inter"/>
              <a:ea typeface="Inter"/>
              <a:cs typeface="Inter"/>
              <a:sym typeface="Inter"/>
            </a:endParaRPr>
          </a:p>
        </p:txBody>
      </p:sp>
      <p:sp>
        <p:nvSpPr>
          <p:cNvPr id="200" name="Google Shape;200;p10"/>
          <p:cNvSpPr/>
          <p:nvPr/>
        </p:nvSpPr>
        <p:spPr>
          <a:xfrm>
            <a:off x="2628900" y="2566392"/>
            <a:ext cx="4435200" cy="190500"/>
          </a:xfrm>
          <a:prstGeom prst="roundRect">
            <a:avLst>
              <a:gd name="adj" fmla="val 13333"/>
            </a:avLst>
          </a:prstGeom>
          <a:solidFill>
            <a:srgbClr val="E8572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201" name="Google Shape;201;p10"/>
          <p:cNvSpPr/>
          <p:nvPr/>
        </p:nvSpPr>
        <p:spPr>
          <a:xfrm>
            <a:off x="7165553" y="2554983"/>
            <a:ext cx="4788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200"/>
              <a:buFont typeface="Inter"/>
              <a:buNone/>
            </a:pPr>
            <a:r>
              <a:rPr lang="en-US" sz="1200" b="1" i="0" u="none" strike="noStrike" cap="none">
                <a:solidFill>
                  <a:srgbClr val="15171E"/>
                </a:solidFill>
                <a:latin typeface="Inter"/>
                <a:ea typeface="Inter"/>
                <a:cs typeface="Inter"/>
                <a:sym typeface="Inter"/>
              </a:rPr>
              <a:t>0.072</a:t>
            </a:r>
            <a:endParaRPr sz="1200" b="0" i="0" u="none" strike="noStrike" cap="none">
              <a:solidFill>
                <a:schemeClr val="dk1"/>
              </a:solidFill>
              <a:latin typeface="Inter"/>
              <a:ea typeface="Inter"/>
              <a:cs typeface="Inter"/>
              <a:sym typeface="Inter"/>
            </a:endParaRPr>
          </a:p>
        </p:txBody>
      </p:sp>
      <p:sp>
        <p:nvSpPr>
          <p:cNvPr id="202" name="Google Shape;202;p10"/>
          <p:cNvSpPr/>
          <p:nvPr/>
        </p:nvSpPr>
        <p:spPr>
          <a:xfrm>
            <a:off x="812800" y="2844503"/>
            <a:ext cx="17661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200"/>
              <a:buFont typeface="Inter"/>
              <a:buNone/>
            </a:pPr>
            <a:r>
              <a:rPr lang="en-US" sz="1200" b="0" i="0" u="none" strike="noStrike" cap="none">
                <a:solidFill>
                  <a:srgbClr val="15171E"/>
                </a:solidFill>
                <a:latin typeface="Inter"/>
                <a:ea typeface="Inter"/>
                <a:cs typeface="Inter"/>
                <a:sym typeface="Inter"/>
              </a:rPr>
              <a:t>Campaign length</a:t>
            </a:r>
            <a:endParaRPr sz="1200" b="0" i="0" u="none" strike="noStrike" cap="none">
              <a:solidFill>
                <a:schemeClr val="dk1"/>
              </a:solidFill>
              <a:latin typeface="Inter"/>
              <a:ea typeface="Inter"/>
              <a:cs typeface="Inter"/>
              <a:sym typeface="Inter"/>
            </a:endParaRPr>
          </a:p>
        </p:txBody>
      </p:sp>
      <p:sp>
        <p:nvSpPr>
          <p:cNvPr id="203" name="Google Shape;203;p10"/>
          <p:cNvSpPr/>
          <p:nvPr/>
        </p:nvSpPr>
        <p:spPr>
          <a:xfrm>
            <a:off x="2628900" y="2855913"/>
            <a:ext cx="1889700" cy="190500"/>
          </a:xfrm>
          <a:prstGeom prst="roundRect">
            <a:avLst>
              <a:gd name="adj" fmla="val 13333"/>
            </a:avLst>
          </a:prstGeom>
          <a:solidFill>
            <a:srgbClr val="2563C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204" name="Google Shape;204;p10"/>
          <p:cNvSpPr/>
          <p:nvPr/>
        </p:nvSpPr>
        <p:spPr>
          <a:xfrm>
            <a:off x="4619729" y="2844503"/>
            <a:ext cx="4617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200"/>
              <a:buFont typeface="Inter"/>
              <a:buNone/>
            </a:pPr>
            <a:r>
              <a:rPr lang="en-US" sz="1200" b="0" i="0" u="none" strike="noStrike" cap="none">
                <a:solidFill>
                  <a:srgbClr val="15171E"/>
                </a:solidFill>
                <a:latin typeface="Inter"/>
                <a:ea typeface="Inter"/>
                <a:cs typeface="Inter"/>
                <a:sym typeface="Inter"/>
              </a:rPr>
              <a:t>0.031</a:t>
            </a:r>
            <a:endParaRPr sz="1200" b="0" i="0" u="none" strike="noStrike" cap="none">
              <a:solidFill>
                <a:schemeClr val="dk1"/>
              </a:solidFill>
              <a:latin typeface="Inter"/>
              <a:ea typeface="Inter"/>
              <a:cs typeface="Inter"/>
              <a:sym typeface="Inter"/>
            </a:endParaRPr>
          </a:p>
        </p:txBody>
      </p:sp>
      <p:sp>
        <p:nvSpPr>
          <p:cNvPr id="205" name="Google Shape;205;p10"/>
          <p:cNvSpPr/>
          <p:nvPr/>
        </p:nvSpPr>
        <p:spPr>
          <a:xfrm>
            <a:off x="812800" y="3134023"/>
            <a:ext cx="17661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200"/>
              <a:buFont typeface="Inter"/>
              <a:buNone/>
            </a:pPr>
            <a:r>
              <a:rPr lang="en-US" sz="1200" b="0" i="0" u="none" strike="noStrike" cap="none">
                <a:solidFill>
                  <a:srgbClr val="15171E"/>
                </a:solidFill>
                <a:latin typeface="Inter"/>
                <a:ea typeface="Inter"/>
                <a:cs typeface="Inter"/>
                <a:sym typeface="Inter"/>
              </a:rPr>
              <a:t>Launch year</a:t>
            </a:r>
            <a:endParaRPr sz="1200" b="0" i="0" u="none" strike="noStrike" cap="none">
              <a:solidFill>
                <a:schemeClr val="dk1"/>
              </a:solidFill>
              <a:latin typeface="Inter"/>
              <a:ea typeface="Inter"/>
              <a:cs typeface="Inter"/>
              <a:sym typeface="Inter"/>
            </a:endParaRPr>
          </a:p>
        </p:txBody>
      </p:sp>
      <p:sp>
        <p:nvSpPr>
          <p:cNvPr id="206" name="Google Shape;206;p10"/>
          <p:cNvSpPr/>
          <p:nvPr/>
        </p:nvSpPr>
        <p:spPr>
          <a:xfrm>
            <a:off x="2628900" y="3145433"/>
            <a:ext cx="1466100" cy="190500"/>
          </a:xfrm>
          <a:prstGeom prst="roundRect">
            <a:avLst>
              <a:gd name="adj" fmla="val 13333"/>
            </a:avLst>
          </a:prstGeom>
          <a:solidFill>
            <a:srgbClr val="2563C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207" name="Google Shape;207;p10"/>
          <p:cNvSpPr/>
          <p:nvPr/>
        </p:nvSpPr>
        <p:spPr>
          <a:xfrm>
            <a:off x="4196448" y="3134023"/>
            <a:ext cx="4941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200"/>
              <a:buFont typeface="Inter"/>
              <a:buNone/>
            </a:pPr>
            <a:r>
              <a:rPr lang="en-US" sz="1200" b="0" i="0" u="none" strike="noStrike" cap="none">
                <a:solidFill>
                  <a:srgbClr val="15171E"/>
                </a:solidFill>
                <a:latin typeface="Inter"/>
                <a:ea typeface="Inter"/>
                <a:cs typeface="Inter"/>
                <a:sym typeface="Inter"/>
              </a:rPr>
              <a:t>0.024</a:t>
            </a:r>
            <a:endParaRPr sz="1200" b="0" i="0" u="none" strike="noStrike" cap="none">
              <a:solidFill>
                <a:schemeClr val="dk1"/>
              </a:solidFill>
              <a:latin typeface="Inter"/>
              <a:ea typeface="Inter"/>
              <a:cs typeface="Inter"/>
              <a:sym typeface="Inter"/>
            </a:endParaRPr>
          </a:p>
        </p:txBody>
      </p:sp>
      <p:sp>
        <p:nvSpPr>
          <p:cNvPr id="208" name="Google Shape;208;p10"/>
          <p:cNvSpPr/>
          <p:nvPr/>
        </p:nvSpPr>
        <p:spPr>
          <a:xfrm>
            <a:off x="812800" y="3423543"/>
            <a:ext cx="17661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200"/>
              <a:buFont typeface="Inter"/>
              <a:buNone/>
            </a:pPr>
            <a:r>
              <a:rPr lang="en-US" sz="1200" b="0" i="0" u="none" strike="noStrike" cap="none">
                <a:solidFill>
                  <a:srgbClr val="15171E"/>
                </a:solidFill>
                <a:latin typeface="Inter"/>
                <a:ea typeface="Inter"/>
                <a:cs typeface="Inter"/>
                <a:sym typeface="Inter"/>
              </a:rPr>
              <a:t>Name length</a:t>
            </a:r>
            <a:endParaRPr sz="1200" b="0" i="0" u="none" strike="noStrike" cap="none">
              <a:solidFill>
                <a:schemeClr val="dk1"/>
              </a:solidFill>
              <a:latin typeface="Inter"/>
              <a:ea typeface="Inter"/>
              <a:cs typeface="Inter"/>
              <a:sym typeface="Inter"/>
            </a:endParaRPr>
          </a:p>
        </p:txBody>
      </p:sp>
      <p:sp>
        <p:nvSpPr>
          <p:cNvPr id="209" name="Google Shape;209;p10"/>
          <p:cNvSpPr/>
          <p:nvPr/>
        </p:nvSpPr>
        <p:spPr>
          <a:xfrm>
            <a:off x="2628900" y="3434953"/>
            <a:ext cx="932400" cy="190500"/>
          </a:xfrm>
          <a:prstGeom prst="roundRect">
            <a:avLst>
              <a:gd name="adj" fmla="val 13333"/>
            </a:avLst>
          </a:prstGeom>
          <a:solidFill>
            <a:srgbClr val="2563C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210" name="Google Shape;210;p10"/>
          <p:cNvSpPr/>
          <p:nvPr/>
        </p:nvSpPr>
        <p:spPr>
          <a:xfrm>
            <a:off x="3662745" y="3423543"/>
            <a:ext cx="4572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200"/>
              <a:buFont typeface="Inter"/>
              <a:buNone/>
            </a:pPr>
            <a:r>
              <a:rPr lang="en-US" sz="1200" b="0" i="0" u="none" strike="noStrike" cap="none">
                <a:solidFill>
                  <a:srgbClr val="15171E"/>
                </a:solidFill>
                <a:latin typeface="Inter"/>
                <a:ea typeface="Inter"/>
                <a:cs typeface="Inter"/>
                <a:sym typeface="Inter"/>
              </a:rPr>
              <a:t>0.015</a:t>
            </a:r>
            <a:endParaRPr sz="1200" b="0" i="0" u="none" strike="noStrike" cap="none">
              <a:solidFill>
                <a:schemeClr val="dk1"/>
              </a:solidFill>
              <a:latin typeface="Inter"/>
              <a:ea typeface="Inter"/>
              <a:cs typeface="Inter"/>
              <a:sym typeface="Inter"/>
            </a:endParaRPr>
          </a:p>
        </p:txBody>
      </p:sp>
      <p:sp>
        <p:nvSpPr>
          <p:cNvPr id="211" name="Google Shape;211;p10"/>
          <p:cNvSpPr/>
          <p:nvPr/>
        </p:nvSpPr>
        <p:spPr>
          <a:xfrm>
            <a:off x="812800" y="3713063"/>
            <a:ext cx="17661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200"/>
              <a:buFont typeface="Inter"/>
              <a:buNone/>
            </a:pPr>
            <a:r>
              <a:rPr lang="en-US" sz="1200" b="0" i="0" u="none" strike="noStrike" cap="none">
                <a:solidFill>
                  <a:srgbClr val="15171E"/>
                </a:solidFill>
                <a:latin typeface="Inter"/>
                <a:ea typeface="Inter"/>
                <a:cs typeface="Inter"/>
                <a:sym typeface="Inter"/>
              </a:rPr>
              <a:t>Launch hour</a:t>
            </a:r>
            <a:endParaRPr sz="1200" b="0" i="0" u="none" strike="noStrike" cap="none">
              <a:solidFill>
                <a:schemeClr val="dk1"/>
              </a:solidFill>
              <a:latin typeface="Inter"/>
              <a:ea typeface="Inter"/>
              <a:cs typeface="Inter"/>
              <a:sym typeface="Inter"/>
            </a:endParaRPr>
          </a:p>
        </p:txBody>
      </p:sp>
      <p:sp>
        <p:nvSpPr>
          <p:cNvPr id="212" name="Google Shape;212;p10"/>
          <p:cNvSpPr/>
          <p:nvPr/>
        </p:nvSpPr>
        <p:spPr>
          <a:xfrm>
            <a:off x="2628900" y="3724473"/>
            <a:ext cx="619500" cy="190500"/>
          </a:xfrm>
          <a:prstGeom prst="roundRect">
            <a:avLst>
              <a:gd name="adj" fmla="val 13333"/>
            </a:avLst>
          </a:prstGeom>
          <a:solidFill>
            <a:srgbClr val="9AA0A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213" name="Google Shape;213;p10"/>
          <p:cNvSpPr/>
          <p:nvPr/>
        </p:nvSpPr>
        <p:spPr>
          <a:xfrm>
            <a:off x="3349885" y="3713063"/>
            <a:ext cx="4227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200"/>
              <a:buFont typeface="Inter"/>
              <a:buNone/>
            </a:pPr>
            <a:r>
              <a:rPr lang="en-US" sz="1200" b="0" i="0" u="none" strike="noStrike" cap="none">
                <a:solidFill>
                  <a:srgbClr val="15171E"/>
                </a:solidFill>
                <a:latin typeface="Inter"/>
                <a:ea typeface="Inter"/>
                <a:cs typeface="Inter"/>
                <a:sym typeface="Inter"/>
              </a:rPr>
              <a:t>0.010</a:t>
            </a:r>
            <a:endParaRPr sz="1200" b="0" i="0" u="none" strike="noStrike" cap="none">
              <a:solidFill>
                <a:schemeClr val="dk1"/>
              </a:solidFill>
              <a:latin typeface="Inter"/>
              <a:ea typeface="Inter"/>
              <a:cs typeface="Inter"/>
              <a:sym typeface="Inter"/>
            </a:endParaRPr>
          </a:p>
        </p:txBody>
      </p:sp>
      <p:sp>
        <p:nvSpPr>
          <p:cNvPr id="214" name="Google Shape;214;p10"/>
          <p:cNvSpPr/>
          <p:nvPr/>
        </p:nvSpPr>
        <p:spPr>
          <a:xfrm>
            <a:off x="812800" y="4002584"/>
            <a:ext cx="17661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200"/>
              <a:buFont typeface="Inter"/>
              <a:buNone/>
            </a:pPr>
            <a:r>
              <a:rPr lang="en-US" sz="1200" b="0" i="0" u="none" strike="noStrike" cap="none">
                <a:solidFill>
                  <a:srgbClr val="15171E"/>
                </a:solidFill>
                <a:latin typeface="Inter"/>
                <a:ea typeface="Inter"/>
                <a:cs typeface="Inter"/>
                <a:sym typeface="Inter"/>
              </a:rPr>
              <a:t>Country</a:t>
            </a:r>
            <a:endParaRPr sz="1200" b="0" i="0" u="none" strike="noStrike" cap="none">
              <a:solidFill>
                <a:schemeClr val="dk1"/>
              </a:solidFill>
              <a:latin typeface="Inter"/>
              <a:ea typeface="Inter"/>
              <a:cs typeface="Inter"/>
              <a:sym typeface="Inter"/>
            </a:endParaRPr>
          </a:p>
        </p:txBody>
      </p:sp>
      <p:sp>
        <p:nvSpPr>
          <p:cNvPr id="215" name="Google Shape;215;p10"/>
          <p:cNvSpPr/>
          <p:nvPr/>
        </p:nvSpPr>
        <p:spPr>
          <a:xfrm>
            <a:off x="2628900" y="4013995"/>
            <a:ext cx="337200" cy="190500"/>
          </a:xfrm>
          <a:prstGeom prst="roundRect">
            <a:avLst>
              <a:gd name="adj" fmla="val 13333"/>
            </a:avLst>
          </a:prstGeom>
          <a:solidFill>
            <a:srgbClr val="9AA0A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216" name="Google Shape;216;p10"/>
          <p:cNvSpPr/>
          <p:nvPr/>
        </p:nvSpPr>
        <p:spPr>
          <a:xfrm>
            <a:off x="3067697" y="4002584"/>
            <a:ext cx="4896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200"/>
              <a:buFont typeface="Inter"/>
              <a:buNone/>
            </a:pPr>
            <a:r>
              <a:rPr lang="en-US" sz="1200" b="0" i="0" u="none" strike="noStrike" cap="none">
                <a:solidFill>
                  <a:srgbClr val="15171E"/>
                </a:solidFill>
                <a:latin typeface="Inter"/>
                <a:ea typeface="Inter"/>
                <a:cs typeface="Inter"/>
                <a:sym typeface="Inter"/>
              </a:rPr>
              <a:t>0.006</a:t>
            </a:r>
            <a:endParaRPr sz="1200" b="0" i="0" u="none" strike="noStrike" cap="none">
              <a:solidFill>
                <a:schemeClr val="dk1"/>
              </a:solidFill>
              <a:latin typeface="Inter"/>
              <a:ea typeface="Inter"/>
              <a:cs typeface="Inter"/>
              <a:sym typeface="Inter"/>
            </a:endParaRPr>
          </a:p>
        </p:txBody>
      </p:sp>
      <p:sp>
        <p:nvSpPr>
          <p:cNvPr id="217" name="Google Shape;217;p10"/>
          <p:cNvSpPr/>
          <p:nvPr/>
        </p:nvSpPr>
        <p:spPr>
          <a:xfrm>
            <a:off x="812800" y="4292104"/>
            <a:ext cx="17661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200"/>
              <a:buFont typeface="Inter"/>
              <a:buNone/>
            </a:pPr>
            <a:r>
              <a:rPr lang="en-US" sz="1200" b="0" i="0" u="none" strike="noStrike" cap="none">
                <a:solidFill>
                  <a:srgbClr val="15171E"/>
                </a:solidFill>
                <a:latin typeface="Inter"/>
                <a:ea typeface="Inter"/>
                <a:cs typeface="Inter"/>
                <a:sym typeface="Inter"/>
              </a:rPr>
              <a:t>Launch month</a:t>
            </a:r>
            <a:endParaRPr sz="1200" b="0" i="0" u="none" strike="noStrike" cap="none">
              <a:solidFill>
                <a:schemeClr val="dk1"/>
              </a:solidFill>
              <a:latin typeface="Inter"/>
              <a:ea typeface="Inter"/>
              <a:cs typeface="Inter"/>
              <a:sym typeface="Inter"/>
            </a:endParaRPr>
          </a:p>
        </p:txBody>
      </p:sp>
      <p:sp>
        <p:nvSpPr>
          <p:cNvPr id="218" name="Google Shape;218;p10"/>
          <p:cNvSpPr/>
          <p:nvPr/>
        </p:nvSpPr>
        <p:spPr>
          <a:xfrm>
            <a:off x="2628900" y="4303513"/>
            <a:ext cx="294300" cy="190500"/>
          </a:xfrm>
          <a:prstGeom prst="roundRect">
            <a:avLst>
              <a:gd name="adj" fmla="val 13333"/>
            </a:avLst>
          </a:prstGeom>
          <a:solidFill>
            <a:srgbClr val="9AA0A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219" name="Google Shape;219;p10"/>
          <p:cNvSpPr/>
          <p:nvPr/>
        </p:nvSpPr>
        <p:spPr>
          <a:xfrm>
            <a:off x="3024755" y="4292104"/>
            <a:ext cx="5028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200"/>
              <a:buFont typeface="Inter"/>
              <a:buNone/>
            </a:pPr>
            <a:r>
              <a:rPr lang="en-US" sz="1200" b="0" i="0" u="none" strike="noStrike" cap="none">
                <a:solidFill>
                  <a:srgbClr val="15171E"/>
                </a:solidFill>
                <a:latin typeface="Inter"/>
                <a:ea typeface="Inter"/>
                <a:cs typeface="Inter"/>
                <a:sym typeface="Inter"/>
              </a:rPr>
              <a:t>0.005</a:t>
            </a:r>
            <a:endParaRPr sz="1200" b="0" i="0" u="none" strike="noStrike" cap="none">
              <a:solidFill>
                <a:schemeClr val="dk1"/>
              </a:solidFill>
              <a:latin typeface="Inter"/>
              <a:ea typeface="Inter"/>
              <a:cs typeface="Inter"/>
              <a:sym typeface="Inter"/>
            </a:endParaRPr>
          </a:p>
        </p:txBody>
      </p:sp>
      <p:sp>
        <p:nvSpPr>
          <p:cNvPr id="220" name="Google Shape;220;p10"/>
          <p:cNvSpPr/>
          <p:nvPr/>
        </p:nvSpPr>
        <p:spPr>
          <a:xfrm>
            <a:off x="812800" y="4581624"/>
            <a:ext cx="17661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200"/>
              <a:buFont typeface="Inter"/>
              <a:buNone/>
            </a:pPr>
            <a:r>
              <a:rPr lang="en-US" sz="1200" b="0" i="0" u="none" strike="noStrike" cap="none">
                <a:solidFill>
                  <a:srgbClr val="15171E"/>
                </a:solidFill>
                <a:latin typeface="Inter"/>
                <a:ea typeface="Inter"/>
                <a:cs typeface="Inter"/>
                <a:sym typeface="Inter"/>
              </a:rPr>
              <a:t>Launch weekday</a:t>
            </a:r>
            <a:endParaRPr sz="1200" b="0" i="0" u="none" strike="noStrike" cap="none">
              <a:solidFill>
                <a:schemeClr val="dk1"/>
              </a:solidFill>
              <a:latin typeface="Inter"/>
              <a:ea typeface="Inter"/>
              <a:cs typeface="Inter"/>
              <a:sym typeface="Inter"/>
            </a:endParaRPr>
          </a:p>
        </p:txBody>
      </p:sp>
      <p:sp>
        <p:nvSpPr>
          <p:cNvPr id="221" name="Google Shape;221;p10"/>
          <p:cNvSpPr/>
          <p:nvPr/>
        </p:nvSpPr>
        <p:spPr>
          <a:xfrm>
            <a:off x="2628900" y="4593033"/>
            <a:ext cx="171600" cy="190500"/>
          </a:xfrm>
          <a:prstGeom prst="roundRect">
            <a:avLst>
              <a:gd name="adj" fmla="val 19048"/>
            </a:avLst>
          </a:prstGeom>
          <a:solidFill>
            <a:srgbClr val="9AA0A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222" name="Google Shape;222;p10"/>
          <p:cNvSpPr/>
          <p:nvPr/>
        </p:nvSpPr>
        <p:spPr>
          <a:xfrm>
            <a:off x="2902065" y="4581624"/>
            <a:ext cx="5025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200"/>
              <a:buFont typeface="Inter"/>
              <a:buNone/>
            </a:pPr>
            <a:r>
              <a:rPr lang="en-US" sz="1200" b="0" i="0" u="none" strike="noStrike" cap="none">
                <a:solidFill>
                  <a:srgbClr val="15171E"/>
                </a:solidFill>
                <a:latin typeface="Inter"/>
                <a:ea typeface="Inter"/>
                <a:cs typeface="Inter"/>
                <a:sym typeface="Inter"/>
              </a:rPr>
              <a:t>0.003</a:t>
            </a:r>
            <a:endParaRPr sz="1200" b="0" i="0" u="none" strike="noStrike" cap="none">
              <a:solidFill>
                <a:schemeClr val="dk1"/>
              </a:solidFill>
              <a:latin typeface="Inter"/>
              <a:ea typeface="Inter"/>
              <a:cs typeface="Inter"/>
              <a:sym typeface="Inter"/>
            </a:endParaRPr>
          </a:p>
        </p:txBody>
      </p:sp>
      <p:sp>
        <p:nvSpPr>
          <p:cNvPr id="223" name="Google Shape;223;p10"/>
          <p:cNvSpPr/>
          <p:nvPr/>
        </p:nvSpPr>
        <p:spPr>
          <a:xfrm>
            <a:off x="812800" y="4871144"/>
            <a:ext cx="17661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200"/>
              <a:buFont typeface="Inter"/>
              <a:buNone/>
            </a:pPr>
            <a:r>
              <a:rPr lang="en-US" sz="1200" b="0" i="0" u="none" strike="noStrike" cap="none">
                <a:solidFill>
                  <a:srgbClr val="15171E"/>
                </a:solidFill>
                <a:latin typeface="Inter"/>
                <a:ea typeface="Inter"/>
                <a:cs typeface="Inter"/>
                <a:sym typeface="Inter"/>
              </a:rPr>
              <a:t>Goal vs. category</a:t>
            </a:r>
            <a:endParaRPr sz="1200" b="0" i="0" u="none" strike="noStrike" cap="none">
              <a:solidFill>
                <a:schemeClr val="dk1"/>
              </a:solidFill>
              <a:latin typeface="Inter"/>
              <a:ea typeface="Inter"/>
              <a:cs typeface="Inter"/>
              <a:sym typeface="Inter"/>
            </a:endParaRPr>
          </a:p>
        </p:txBody>
      </p:sp>
      <p:sp>
        <p:nvSpPr>
          <p:cNvPr id="224" name="Google Shape;224;p10"/>
          <p:cNvSpPr/>
          <p:nvPr/>
        </p:nvSpPr>
        <p:spPr>
          <a:xfrm>
            <a:off x="2628900" y="4882553"/>
            <a:ext cx="116400" cy="190500"/>
          </a:xfrm>
          <a:prstGeom prst="roundRect">
            <a:avLst>
              <a:gd name="adj" fmla="val 19048"/>
            </a:avLst>
          </a:prstGeom>
          <a:solidFill>
            <a:srgbClr val="9AA0A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225" name="Google Shape;225;p10"/>
          <p:cNvSpPr/>
          <p:nvPr/>
        </p:nvSpPr>
        <p:spPr>
          <a:xfrm>
            <a:off x="2846855" y="4871144"/>
            <a:ext cx="5025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200"/>
              <a:buFont typeface="Inter"/>
              <a:buNone/>
            </a:pPr>
            <a:r>
              <a:rPr lang="en-US" sz="1200" b="0" i="0" u="none" strike="noStrike" cap="none">
                <a:solidFill>
                  <a:srgbClr val="15171E"/>
                </a:solidFill>
                <a:latin typeface="Inter"/>
                <a:ea typeface="Inter"/>
                <a:cs typeface="Inter"/>
                <a:sym typeface="Inter"/>
              </a:rPr>
              <a:t>0.002</a:t>
            </a:r>
            <a:endParaRPr sz="1200" b="0" i="0" u="none" strike="noStrike" cap="none">
              <a:solidFill>
                <a:schemeClr val="dk1"/>
              </a:solidFill>
              <a:latin typeface="Inter"/>
              <a:ea typeface="Inter"/>
              <a:cs typeface="Inter"/>
              <a:sym typeface="Inter"/>
            </a:endParaRPr>
          </a:p>
        </p:txBody>
      </p:sp>
      <p:sp>
        <p:nvSpPr>
          <p:cNvPr id="226" name="Google Shape;226;p10"/>
          <p:cNvSpPr/>
          <p:nvPr/>
        </p:nvSpPr>
        <p:spPr>
          <a:xfrm>
            <a:off x="812800" y="5160665"/>
            <a:ext cx="17661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200"/>
              <a:buFont typeface="Inter"/>
              <a:buNone/>
            </a:pPr>
            <a:r>
              <a:rPr lang="en-US" sz="1200" b="0" i="0" u="none" strike="noStrike" cap="none">
                <a:solidFill>
                  <a:srgbClr val="15171E"/>
                </a:solidFill>
                <a:latin typeface="Inter"/>
                <a:ea typeface="Inter"/>
                <a:cs typeface="Inter"/>
                <a:sym typeface="Inter"/>
              </a:rPr>
              <a:t>Day of month</a:t>
            </a:r>
            <a:endParaRPr sz="1200" b="0" i="0" u="none" strike="noStrike" cap="none">
              <a:solidFill>
                <a:schemeClr val="dk1"/>
              </a:solidFill>
              <a:latin typeface="Inter"/>
              <a:ea typeface="Inter"/>
              <a:cs typeface="Inter"/>
              <a:sym typeface="Inter"/>
            </a:endParaRPr>
          </a:p>
        </p:txBody>
      </p:sp>
      <p:sp>
        <p:nvSpPr>
          <p:cNvPr id="227" name="Google Shape;227;p10"/>
          <p:cNvSpPr/>
          <p:nvPr/>
        </p:nvSpPr>
        <p:spPr>
          <a:xfrm>
            <a:off x="2628900" y="5172075"/>
            <a:ext cx="92100" cy="190500"/>
          </a:xfrm>
          <a:prstGeom prst="roundRect">
            <a:avLst>
              <a:gd name="adj" fmla="val 44444"/>
            </a:avLst>
          </a:prstGeom>
          <a:solidFill>
            <a:srgbClr val="9AA0A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228" name="Google Shape;228;p10"/>
          <p:cNvSpPr/>
          <p:nvPr/>
        </p:nvSpPr>
        <p:spPr>
          <a:xfrm>
            <a:off x="2822316" y="5160665"/>
            <a:ext cx="4641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200"/>
              <a:buFont typeface="Inter"/>
              <a:buNone/>
            </a:pPr>
            <a:r>
              <a:rPr lang="en-US" sz="1200" b="0" i="0" u="none" strike="noStrike" cap="none">
                <a:solidFill>
                  <a:srgbClr val="15171E"/>
                </a:solidFill>
                <a:latin typeface="Inter"/>
                <a:ea typeface="Inter"/>
                <a:cs typeface="Inter"/>
                <a:sym typeface="Inter"/>
              </a:rPr>
              <a:t>0.002</a:t>
            </a:r>
            <a:endParaRPr sz="1200" b="0" i="0" u="none" strike="noStrike" cap="none">
              <a:solidFill>
                <a:schemeClr val="dk1"/>
              </a:solidFill>
              <a:latin typeface="Inter"/>
              <a:ea typeface="Inter"/>
              <a:cs typeface="Inter"/>
              <a:sym typeface="Inter"/>
            </a:endParaRPr>
          </a:p>
        </p:txBody>
      </p:sp>
      <p:sp>
        <p:nvSpPr>
          <p:cNvPr id="229" name="Google Shape;229;p10"/>
          <p:cNvSpPr/>
          <p:nvPr/>
        </p:nvSpPr>
        <p:spPr>
          <a:xfrm>
            <a:off x="9000000" y="2265463"/>
            <a:ext cx="2379300" cy="4875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300"/>
              <a:buFont typeface="Inter"/>
              <a:buNone/>
            </a:pPr>
            <a:r>
              <a:rPr lang="en-US" sz="1300" b="1" i="0" u="none" strike="noStrike" cap="none">
                <a:solidFill>
                  <a:srgbClr val="15171E"/>
                </a:solidFill>
                <a:latin typeface="Inter"/>
                <a:ea typeface="Inter"/>
                <a:cs typeface="Inter"/>
                <a:sym typeface="Inter"/>
              </a:rPr>
              <a:t>Goal is #1:</a:t>
            </a:r>
            <a:r>
              <a:rPr lang="en-US" sz="1300" b="0" i="0" u="none" strike="noStrike" cap="none">
                <a:solidFill>
                  <a:srgbClr val="15171E"/>
                </a:solidFill>
                <a:latin typeface="Inter"/>
                <a:ea typeface="Inter"/>
                <a:cs typeface="Inter"/>
                <a:sym typeface="Inter"/>
              </a:rPr>
              <a:t> lower goals win (slide 8).</a:t>
            </a:r>
            <a:endParaRPr sz="1300" b="0" i="0" u="none" strike="noStrike" cap="none">
              <a:solidFill>
                <a:schemeClr val="dk1"/>
              </a:solidFill>
              <a:latin typeface="Inter"/>
              <a:ea typeface="Inter"/>
              <a:cs typeface="Inter"/>
              <a:sym typeface="Inter"/>
            </a:endParaRPr>
          </a:p>
        </p:txBody>
      </p:sp>
      <p:sp>
        <p:nvSpPr>
          <p:cNvPr id="230" name="Google Shape;230;p10"/>
          <p:cNvSpPr/>
          <p:nvPr/>
        </p:nvSpPr>
        <p:spPr>
          <a:xfrm>
            <a:off x="9000000" y="2913069"/>
            <a:ext cx="2379300" cy="800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300"/>
              <a:buFont typeface="Inter"/>
              <a:buNone/>
            </a:pPr>
            <a:r>
              <a:rPr lang="en-US" sz="1300" b="1" i="0" u="none" strike="noStrike" cap="none">
                <a:solidFill>
                  <a:srgbClr val="15171E"/>
                </a:solidFill>
                <a:latin typeface="Inter"/>
                <a:ea typeface="Inter"/>
                <a:cs typeface="Inter"/>
                <a:sym typeface="Inter"/>
              </a:rPr>
              <a:t>Category is #2:</a:t>
            </a:r>
            <a:r>
              <a:rPr lang="en-US" sz="1300" b="0" i="0" u="none" strike="noStrike" cap="none">
                <a:solidFill>
                  <a:srgbClr val="15171E"/>
                </a:solidFill>
                <a:latin typeface="Inter"/>
                <a:ea typeface="Inter"/>
                <a:cs typeface="Inter"/>
                <a:sym typeface="Inter"/>
              </a:rPr>
              <a:t> </a:t>
            </a:r>
            <a:r>
              <a:rPr lang="en-US" sz="1300">
                <a:solidFill>
                  <a:srgbClr val="15171E"/>
                </a:solidFill>
                <a:latin typeface="Inter"/>
                <a:ea typeface="Inter"/>
                <a:cs typeface="Inter"/>
                <a:sym typeface="Inter"/>
              </a:rPr>
              <a:t>some categories fail much more often than others. </a:t>
            </a:r>
            <a:endParaRPr sz="1300" b="0" i="0" u="none" strike="noStrike" cap="none">
              <a:solidFill>
                <a:schemeClr val="dk1"/>
              </a:solidFill>
              <a:latin typeface="Inter"/>
              <a:ea typeface="Inter"/>
              <a:cs typeface="Inter"/>
              <a:sym typeface="Inter"/>
            </a:endParaRPr>
          </a:p>
        </p:txBody>
      </p:sp>
      <p:sp>
        <p:nvSpPr>
          <p:cNvPr id="231" name="Google Shape;231;p10"/>
          <p:cNvSpPr/>
          <p:nvPr/>
        </p:nvSpPr>
        <p:spPr>
          <a:xfrm>
            <a:off x="9000000" y="3752329"/>
            <a:ext cx="2379300" cy="2400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300"/>
              <a:buFont typeface="Inter"/>
              <a:buNone/>
            </a:pPr>
            <a:r>
              <a:rPr lang="en-US" sz="1300" b="1" i="0" u="none" strike="noStrike" cap="none">
                <a:solidFill>
                  <a:srgbClr val="15171E"/>
                </a:solidFill>
                <a:latin typeface="Inter"/>
                <a:ea typeface="Inter"/>
                <a:cs typeface="Inter"/>
                <a:sym typeface="Inter"/>
              </a:rPr>
              <a:t>Timing barely matters.</a:t>
            </a:r>
            <a:endParaRPr sz="1300" b="0" i="0" u="none" strike="noStrike" cap="none">
              <a:solidFill>
                <a:schemeClr val="dk1"/>
              </a:solidFill>
              <a:latin typeface="Inter"/>
              <a:ea typeface="Inter"/>
              <a:cs typeface="Inter"/>
              <a:sym typeface="Inter"/>
            </a:endParaRPr>
          </a:p>
        </p:txBody>
      </p:sp>
      <p:sp>
        <p:nvSpPr>
          <p:cNvPr id="232" name="Google Shape;232;p10"/>
          <p:cNvSpPr/>
          <p:nvPr/>
        </p:nvSpPr>
        <p:spPr>
          <a:xfrm>
            <a:off x="9000000" y="4125000"/>
            <a:ext cx="2379300" cy="800100"/>
          </a:xfrm>
          <a:prstGeom prst="roundRect">
            <a:avLst>
              <a:gd name="adj" fmla="val 7635"/>
            </a:avLst>
          </a:prstGeom>
          <a:solidFill>
            <a:srgbClr val="15171E"/>
          </a:solidFill>
          <a:ln>
            <a:noFill/>
          </a:ln>
        </p:spPr>
        <p:txBody>
          <a:bodyPr spcFirstLastPara="1" wrap="square" lIns="130075" tIns="130075" rIns="38625" bIns="104675" anchor="t" anchorCtr="0">
            <a:noAutofit/>
          </a:bodyPr>
          <a:lstStyle/>
          <a:p>
            <a:pPr marL="0" marR="0" lvl="0" indent="0" algn="l" rtl="0">
              <a:lnSpc>
                <a:spcPct val="140000"/>
              </a:lnSpc>
              <a:spcBef>
                <a:spcPts val="0"/>
              </a:spcBef>
              <a:spcAft>
                <a:spcPts val="0"/>
              </a:spcAft>
              <a:buClr>
                <a:srgbClr val="F5F3EE"/>
              </a:buClr>
              <a:buSzPts val="1300"/>
              <a:buFont typeface="Inter"/>
              <a:buNone/>
            </a:pPr>
            <a:r>
              <a:rPr lang="en-US" sz="1300" b="0" i="0" u="none" strike="noStrike" cap="none">
                <a:solidFill>
                  <a:srgbClr val="F5F3EE"/>
                </a:solidFill>
                <a:latin typeface="Inter"/>
                <a:ea typeface="Inter"/>
                <a:cs typeface="Inter"/>
                <a:sym typeface="Inter"/>
              </a:rPr>
              <a:t>What you build and ask for beats when you launch.</a:t>
            </a:r>
            <a:endParaRPr sz="1300" b="0" i="0" u="none" strike="noStrike" cap="none">
              <a:solidFill>
                <a:schemeClr val="dk1"/>
              </a:solidFill>
              <a:latin typeface="Inter"/>
              <a:ea typeface="Inter"/>
              <a:cs typeface="Inter"/>
              <a:sym typeface="Inter"/>
            </a:endParaRPr>
          </a:p>
        </p:txBody>
      </p:sp>
      <p:sp>
        <p:nvSpPr>
          <p:cNvPr id="233" name="Google Shape;233;p10"/>
          <p:cNvSpPr/>
          <p:nvPr/>
        </p:nvSpPr>
        <p:spPr>
          <a:xfrm>
            <a:off x="812800" y="6238280"/>
            <a:ext cx="78489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6B6E76"/>
              </a:buClr>
              <a:buSzPts val="1200"/>
              <a:buFont typeface="Inter"/>
              <a:buNone/>
            </a:pPr>
            <a:r>
              <a:rPr lang="en-US" sz="1200" b="0" i="0" u="none" strike="noStrike" cap="none">
                <a:solidFill>
                  <a:srgbClr val="6B6E76"/>
                </a:solidFill>
                <a:latin typeface="Inter"/>
                <a:ea typeface="Inter"/>
                <a:cs typeface="Inter"/>
                <a:sym typeface="Inter"/>
              </a:rPr>
              <a:t>Outliers · Will your Kickstarter get funded?</a:t>
            </a:r>
            <a:endParaRPr sz="1200" b="0" i="0" u="none" strike="noStrike" cap="none">
              <a:solidFill>
                <a:schemeClr val="dk1"/>
              </a:solidFill>
              <a:latin typeface="Inter"/>
              <a:ea typeface="Inter"/>
              <a:cs typeface="Inter"/>
              <a:sym typeface="Inter"/>
            </a:endParaRPr>
          </a:p>
        </p:txBody>
      </p:sp>
      <p:sp>
        <p:nvSpPr>
          <p:cNvPr id="234" name="Google Shape;234;p10"/>
          <p:cNvSpPr/>
          <p:nvPr/>
        </p:nvSpPr>
        <p:spPr>
          <a:xfrm>
            <a:off x="10058400" y="6238280"/>
            <a:ext cx="1320900" cy="238800"/>
          </a:xfrm>
          <a:prstGeom prst="rect">
            <a:avLst/>
          </a:prstGeom>
          <a:noFill/>
          <a:ln>
            <a:noFill/>
          </a:ln>
        </p:spPr>
        <p:txBody>
          <a:bodyPr spcFirstLastPara="1" wrap="square" lIns="0" tIns="0" rIns="0" bIns="0" anchor="t" anchorCtr="0">
            <a:noAutofit/>
          </a:bodyPr>
          <a:lstStyle/>
          <a:p>
            <a:pPr marL="0" marR="0" lvl="0" indent="0" algn="r" rtl="0">
              <a:lnSpc>
                <a:spcPct val="140000"/>
              </a:lnSpc>
              <a:spcBef>
                <a:spcPts val="0"/>
              </a:spcBef>
              <a:spcAft>
                <a:spcPts val="0"/>
              </a:spcAft>
              <a:buClr>
                <a:srgbClr val="6B6E76"/>
              </a:buClr>
              <a:buSzPts val="1200"/>
              <a:buFont typeface="Inter"/>
              <a:buNone/>
            </a:pPr>
            <a:r>
              <a:rPr lang="en-US" sz="1200" b="0" i="0" u="none" strike="noStrike" cap="none">
                <a:solidFill>
                  <a:srgbClr val="6B6E76"/>
                </a:solidFill>
                <a:latin typeface="Inter"/>
                <a:ea typeface="Inter"/>
                <a:cs typeface="Inter"/>
                <a:sym typeface="Inter"/>
              </a:rPr>
              <a:t>7 / 12</a:t>
            </a:r>
            <a:endParaRPr sz="1200" b="0" i="0" u="none" strike="noStrike" cap="none">
              <a:solidFill>
                <a:schemeClr val="dk1"/>
              </a:solidFill>
              <a:latin typeface="Inter"/>
              <a:ea typeface="Inter"/>
              <a:cs typeface="Inter"/>
              <a:sym typeface="Inter"/>
            </a:endParaRPr>
          </a:p>
        </p:txBody>
      </p:sp>
      <p:sp>
        <p:nvSpPr>
          <p:cNvPr id="235" name="Google Shape;235;p10"/>
          <p:cNvSpPr/>
          <p:nvPr/>
        </p:nvSpPr>
        <p:spPr>
          <a:xfrm>
            <a:off x="810700" y="1744700"/>
            <a:ext cx="5003700" cy="35070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5B5E66"/>
              </a:buClr>
              <a:buSzPts val="1600"/>
              <a:buFont typeface="Inter"/>
              <a:buNone/>
            </a:pPr>
            <a:r>
              <a:rPr lang="en-US" sz="1200">
                <a:solidFill>
                  <a:srgbClr val="5B5E66"/>
                </a:solidFill>
                <a:latin typeface="Inter"/>
                <a:ea typeface="Inter"/>
                <a:cs typeface="Inter"/>
                <a:sym typeface="Inter"/>
              </a:rPr>
              <a:t>What it shows: importance of individual features to our model. </a:t>
            </a:r>
            <a:endParaRPr sz="1200">
              <a:solidFill>
                <a:srgbClr val="15171E"/>
              </a:solidFill>
              <a:latin typeface="Inter"/>
              <a:ea typeface="Inter"/>
              <a:cs typeface="Inter"/>
              <a:sym typeface="Inte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Shape 240"/>
        <p:cNvGrpSpPr/>
        <p:nvPr/>
      </p:nvGrpSpPr>
      <p:grpSpPr>
        <a:xfrm>
          <a:off x="0" y="0"/>
          <a:ext cx="0" cy="0"/>
          <a:chOff x="0" y="0"/>
          <a:chExt cx="0" cy="0"/>
        </a:xfrm>
      </p:grpSpPr>
      <p:sp>
        <p:nvSpPr>
          <p:cNvPr id="241" name="Google Shape;241;p11"/>
          <p:cNvSpPr/>
          <p:nvPr/>
        </p:nvSpPr>
        <p:spPr>
          <a:xfrm>
            <a:off x="812800" y="812800"/>
            <a:ext cx="108837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8401A"/>
              </a:buClr>
              <a:buSzPts val="1200"/>
              <a:buFont typeface="Inter"/>
              <a:buNone/>
            </a:pPr>
            <a:r>
              <a:rPr lang="en-US" sz="1200" b="1" i="0" u="none" strike="noStrike" cap="none">
                <a:solidFill>
                  <a:srgbClr val="B8401A"/>
                </a:solidFill>
                <a:latin typeface="Inter"/>
                <a:ea typeface="Inter"/>
                <a:cs typeface="Inter"/>
                <a:sym typeface="Inter"/>
              </a:rPr>
              <a:t>07 · KEY FINDING: THE GOAL</a:t>
            </a:r>
            <a:endParaRPr sz="1200" b="0" i="0" u="none" strike="noStrike" cap="none">
              <a:solidFill>
                <a:schemeClr val="dk1"/>
              </a:solidFill>
              <a:latin typeface="Inter"/>
              <a:ea typeface="Inter"/>
              <a:cs typeface="Inter"/>
              <a:sym typeface="Inter"/>
            </a:endParaRPr>
          </a:p>
        </p:txBody>
      </p:sp>
      <p:sp>
        <p:nvSpPr>
          <p:cNvPr id="242" name="Google Shape;242;p11"/>
          <p:cNvSpPr txBox="1">
            <a:spLocks noGrp="1"/>
          </p:cNvSpPr>
          <p:nvPr>
            <p:ph type="title"/>
          </p:nvPr>
        </p:nvSpPr>
        <p:spPr>
          <a:xfrm>
            <a:off x="812800" y="1102320"/>
            <a:ext cx="10883700" cy="472500"/>
          </a:xfrm>
          <a:prstGeom prst="rect">
            <a:avLst/>
          </a:prstGeom>
          <a:noFill/>
          <a:ln>
            <a:noFill/>
          </a:ln>
        </p:spPr>
        <p:txBody>
          <a:bodyPr spcFirstLastPara="1" wrap="square" lIns="0" tIns="0" rIns="0" bIns="0" anchor="t" anchorCtr="0">
            <a:normAutofit fontScale="90000"/>
          </a:bodyPr>
          <a:lstStyle/>
          <a:p>
            <a:pPr marL="0" lvl="0" indent="0" algn="l" rtl="0">
              <a:lnSpc>
                <a:spcPct val="110000"/>
              </a:lnSpc>
              <a:spcBef>
                <a:spcPts val="0"/>
              </a:spcBef>
              <a:spcAft>
                <a:spcPts val="0"/>
              </a:spcAft>
              <a:buClr>
                <a:srgbClr val="15171E"/>
              </a:buClr>
              <a:buSzPct val="100000"/>
              <a:buFont typeface="Space Grotesk"/>
              <a:buNone/>
            </a:pPr>
            <a:r>
              <a:rPr lang="en-US" sz="3200" b="1" i="0">
                <a:solidFill>
                  <a:srgbClr val="15171E"/>
                </a:solidFill>
                <a:latin typeface="Space Grotesk"/>
                <a:ea typeface="Space Grotesk"/>
                <a:cs typeface="Space Grotesk"/>
                <a:sym typeface="Space Grotesk"/>
              </a:rPr>
              <a:t>Smaller goals get funded far more often</a:t>
            </a:r>
            <a:endParaRPr sz="3200"/>
          </a:p>
        </p:txBody>
      </p:sp>
      <p:sp>
        <p:nvSpPr>
          <p:cNvPr id="243" name="Google Shape;243;p11"/>
          <p:cNvSpPr/>
          <p:nvPr/>
        </p:nvSpPr>
        <p:spPr>
          <a:xfrm>
            <a:off x="812800" y="1752501"/>
            <a:ext cx="10883700" cy="43680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5B5E66"/>
              </a:buClr>
              <a:buSzPts val="1200"/>
              <a:buFont typeface="Inter"/>
              <a:buNone/>
            </a:pPr>
            <a:r>
              <a:rPr lang="en-US" sz="1200" b="0" i="0" u="none" strike="noStrike" cap="none">
                <a:solidFill>
                  <a:srgbClr val="5B5E66"/>
                </a:solidFill>
                <a:latin typeface="Inter"/>
                <a:ea typeface="Inter"/>
                <a:cs typeface="Inter"/>
                <a:sym typeface="Inter"/>
              </a:rPr>
              <a:t>What it shows: share of projects funded, by funding goal in USD. </a:t>
            </a:r>
            <a:r>
              <a:rPr lang="en-US" sz="1200" b="1" i="0" u="none" strike="noStrike" cap="none">
                <a:solidFill>
                  <a:srgbClr val="2563C9"/>
                </a:solidFill>
                <a:latin typeface="Inter"/>
                <a:ea typeface="Inter"/>
                <a:cs typeface="Inter"/>
                <a:sym typeface="Inter"/>
              </a:rPr>
              <a:t>Blue</a:t>
            </a:r>
            <a:r>
              <a:rPr lang="en-US" sz="1200" b="0" i="0" u="none" strike="noStrike" cap="none">
                <a:solidFill>
                  <a:srgbClr val="5B5E66"/>
                </a:solidFill>
                <a:latin typeface="Inter"/>
                <a:ea typeface="Inter"/>
                <a:cs typeface="Inter"/>
                <a:sym typeface="Inter"/>
              </a:rPr>
              <a:t> = above the overall 36% success rate, </a:t>
            </a:r>
            <a:r>
              <a:rPr lang="en-US" sz="1200" b="1" i="0" u="none" strike="noStrike" cap="none">
                <a:solidFill>
                  <a:srgbClr val="B8401A"/>
                </a:solidFill>
                <a:latin typeface="Inter"/>
                <a:ea typeface="Inter"/>
                <a:cs typeface="Inter"/>
                <a:sym typeface="Inter"/>
              </a:rPr>
              <a:t>orange</a:t>
            </a:r>
            <a:r>
              <a:rPr lang="en-US" sz="1200" b="0" i="0" u="none" strike="noStrike" cap="none">
                <a:solidFill>
                  <a:srgbClr val="5B5E66"/>
                </a:solidFill>
                <a:latin typeface="Inter"/>
                <a:ea typeface="Inter"/>
                <a:cs typeface="Inter"/>
                <a:sym typeface="Inter"/>
              </a:rPr>
              <a:t> = below.</a:t>
            </a:r>
            <a:endParaRPr sz="1200" b="0" i="0" u="none" strike="noStrike" cap="none">
              <a:solidFill>
                <a:schemeClr val="dk1"/>
              </a:solidFill>
              <a:latin typeface="Inter"/>
              <a:ea typeface="Inter"/>
              <a:cs typeface="Inter"/>
              <a:sym typeface="Inter"/>
            </a:endParaRPr>
          </a:p>
        </p:txBody>
      </p:sp>
      <p:sp>
        <p:nvSpPr>
          <p:cNvPr id="244" name="Google Shape;244;p11"/>
          <p:cNvSpPr/>
          <p:nvPr/>
        </p:nvSpPr>
        <p:spPr>
          <a:xfrm>
            <a:off x="1173015" y="2581771"/>
            <a:ext cx="511500" cy="292500"/>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Clr>
                <a:srgbClr val="15171E"/>
              </a:buClr>
              <a:buSzPts val="1500"/>
              <a:buFont typeface="Inter"/>
              <a:buNone/>
            </a:pPr>
            <a:r>
              <a:rPr lang="en-US" sz="1500" b="1" i="0" u="none" strike="noStrike" cap="none">
                <a:solidFill>
                  <a:srgbClr val="15171E"/>
                </a:solidFill>
                <a:latin typeface="Inter"/>
                <a:ea typeface="Inter"/>
                <a:cs typeface="Inter"/>
                <a:sym typeface="Inter"/>
              </a:rPr>
              <a:t>79%</a:t>
            </a:r>
            <a:endParaRPr sz="1500" b="0" i="0" u="none" strike="noStrike" cap="none">
              <a:solidFill>
                <a:schemeClr val="dk1"/>
              </a:solidFill>
              <a:latin typeface="Inter"/>
              <a:ea typeface="Inter"/>
              <a:cs typeface="Inter"/>
              <a:sym typeface="Inter"/>
            </a:endParaRPr>
          </a:p>
        </p:txBody>
      </p:sp>
      <p:sp>
        <p:nvSpPr>
          <p:cNvPr id="245" name="Google Shape;245;p11"/>
          <p:cNvSpPr/>
          <p:nvPr/>
        </p:nvSpPr>
        <p:spPr>
          <a:xfrm>
            <a:off x="1016000" y="2899271"/>
            <a:ext cx="825500" cy="2114550"/>
          </a:xfrm>
          <a:custGeom>
            <a:avLst/>
            <a:gdLst/>
            <a:ahLst/>
            <a:cxnLst/>
            <a:rect l="l" t="t" r="r" b="b"/>
            <a:pathLst>
              <a:path w="825500" h="2114550" extrusionOk="0">
                <a:moveTo>
                  <a:pt x="38100" y="0"/>
                </a:moveTo>
                <a:lnTo>
                  <a:pt x="787400" y="0"/>
                </a:lnTo>
                <a:cubicBezTo>
                  <a:pt x="797505" y="0"/>
                  <a:pt x="807196" y="4014"/>
                  <a:pt x="814341" y="11159"/>
                </a:cubicBezTo>
                <a:cubicBezTo>
                  <a:pt x="821486" y="18304"/>
                  <a:pt x="825500" y="27995"/>
                  <a:pt x="825500" y="38100"/>
                </a:cubicBezTo>
                <a:lnTo>
                  <a:pt x="825500" y="2114550"/>
                </a:lnTo>
                <a:lnTo>
                  <a:pt x="0" y="2114550"/>
                </a:lnTo>
                <a:lnTo>
                  <a:pt x="0" y="38100"/>
                </a:lnTo>
                <a:cubicBezTo>
                  <a:pt x="0" y="17058"/>
                  <a:pt x="17058" y="0"/>
                  <a:pt x="38100" y="0"/>
                </a:cubicBezTo>
                <a:close/>
              </a:path>
            </a:pathLst>
          </a:custGeom>
          <a:solidFill>
            <a:srgbClr val="2563C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246" name="Google Shape;246;p11"/>
          <p:cNvSpPr/>
          <p:nvPr/>
        </p:nvSpPr>
        <p:spPr>
          <a:xfrm>
            <a:off x="1185633" y="5064621"/>
            <a:ext cx="486000" cy="238800"/>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Clr>
                <a:srgbClr val="15171E"/>
              </a:buClr>
              <a:buSzPts val="1200"/>
              <a:buFont typeface="Inter"/>
              <a:buNone/>
            </a:pPr>
            <a:r>
              <a:rPr lang="en-US" sz="1200" b="1" i="0" u="none" strike="noStrike" cap="none">
                <a:solidFill>
                  <a:srgbClr val="15171E"/>
                </a:solidFill>
                <a:latin typeface="Inter"/>
                <a:ea typeface="Inter"/>
                <a:cs typeface="Inter"/>
                <a:sym typeface="Inter"/>
              </a:rPr>
              <a:t>&lt; $10</a:t>
            </a:r>
            <a:endParaRPr sz="1200" b="0" i="0" u="none" strike="noStrike" cap="none">
              <a:solidFill>
                <a:schemeClr val="dk1"/>
              </a:solidFill>
              <a:latin typeface="Inter"/>
              <a:ea typeface="Inter"/>
              <a:cs typeface="Inter"/>
              <a:sym typeface="Inter"/>
            </a:endParaRPr>
          </a:p>
        </p:txBody>
      </p:sp>
      <p:sp>
        <p:nvSpPr>
          <p:cNvPr id="247" name="Google Shape;247;p11"/>
          <p:cNvSpPr/>
          <p:nvPr/>
        </p:nvSpPr>
        <p:spPr>
          <a:xfrm>
            <a:off x="1162645" y="5328741"/>
            <a:ext cx="532500" cy="238800"/>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Clr>
                <a:srgbClr val="5B5E66"/>
              </a:buClr>
              <a:buSzPts val="1200"/>
              <a:buFont typeface="Inter"/>
              <a:buNone/>
            </a:pPr>
            <a:r>
              <a:rPr lang="en-US" sz="1200" b="0" i="0" u="none" strike="noStrike" cap="none">
                <a:solidFill>
                  <a:srgbClr val="5B5E66"/>
                </a:solidFill>
                <a:latin typeface="Inter"/>
                <a:ea typeface="Inter"/>
                <a:cs typeface="Inter"/>
                <a:sym typeface="Inter"/>
              </a:rPr>
              <a:t>n=610</a:t>
            </a:r>
            <a:endParaRPr sz="1200" b="0" i="0" u="none" strike="noStrike" cap="none">
              <a:solidFill>
                <a:schemeClr val="dk1"/>
              </a:solidFill>
              <a:latin typeface="Inter"/>
              <a:ea typeface="Inter"/>
              <a:cs typeface="Inter"/>
              <a:sym typeface="Inter"/>
            </a:endParaRPr>
          </a:p>
        </p:txBody>
      </p:sp>
      <p:sp>
        <p:nvSpPr>
          <p:cNvPr id="248" name="Google Shape;248;p11"/>
          <p:cNvSpPr/>
          <p:nvPr/>
        </p:nvSpPr>
        <p:spPr>
          <a:xfrm>
            <a:off x="2508539" y="3165971"/>
            <a:ext cx="507300" cy="292500"/>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Clr>
                <a:srgbClr val="15171E"/>
              </a:buClr>
              <a:buSzPts val="1500"/>
              <a:buFont typeface="Inter"/>
              <a:buNone/>
            </a:pPr>
            <a:r>
              <a:rPr lang="en-US" sz="1500" b="1" i="0" u="none" strike="noStrike" cap="none">
                <a:solidFill>
                  <a:srgbClr val="15171E"/>
                </a:solidFill>
                <a:latin typeface="Inter"/>
                <a:ea typeface="Inter"/>
                <a:cs typeface="Inter"/>
                <a:sym typeface="Inter"/>
              </a:rPr>
              <a:t>57%</a:t>
            </a:r>
            <a:endParaRPr sz="1500" b="0" i="0" u="none" strike="noStrike" cap="none">
              <a:solidFill>
                <a:schemeClr val="dk1"/>
              </a:solidFill>
              <a:latin typeface="Inter"/>
              <a:ea typeface="Inter"/>
              <a:cs typeface="Inter"/>
              <a:sym typeface="Inter"/>
            </a:endParaRPr>
          </a:p>
        </p:txBody>
      </p:sp>
      <p:sp>
        <p:nvSpPr>
          <p:cNvPr id="249" name="Google Shape;249;p11"/>
          <p:cNvSpPr/>
          <p:nvPr/>
        </p:nvSpPr>
        <p:spPr>
          <a:xfrm>
            <a:off x="2349500" y="3483471"/>
            <a:ext cx="825500" cy="1530350"/>
          </a:xfrm>
          <a:custGeom>
            <a:avLst/>
            <a:gdLst/>
            <a:ahLst/>
            <a:cxnLst/>
            <a:rect l="l" t="t" r="r" b="b"/>
            <a:pathLst>
              <a:path w="825500" h="1530350" extrusionOk="0">
                <a:moveTo>
                  <a:pt x="38100" y="0"/>
                </a:moveTo>
                <a:lnTo>
                  <a:pt x="787400" y="0"/>
                </a:lnTo>
                <a:cubicBezTo>
                  <a:pt x="797505" y="0"/>
                  <a:pt x="807196" y="4014"/>
                  <a:pt x="814341" y="11159"/>
                </a:cubicBezTo>
                <a:cubicBezTo>
                  <a:pt x="821486" y="18304"/>
                  <a:pt x="825500" y="27995"/>
                  <a:pt x="825500" y="38100"/>
                </a:cubicBezTo>
                <a:lnTo>
                  <a:pt x="825500" y="1530350"/>
                </a:lnTo>
                <a:lnTo>
                  <a:pt x="0" y="1530350"/>
                </a:lnTo>
                <a:lnTo>
                  <a:pt x="0" y="38100"/>
                </a:lnTo>
                <a:cubicBezTo>
                  <a:pt x="0" y="17058"/>
                  <a:pt x="17058" y="0"/>
                  <a:pt x="38100" y="0"/>
                </a:cubicBezTo>
                <a:close/>
              </a:path>
            </a:pathLst>
          </a:custGeom>
          <a:solidFill>
            <a:srgbClr val="2563C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250" name="Google Shape;250;p11"/>
          <p:cNvSpPr/>
          <p:nvPr/>
        </p:nvSpPr>
        <p:spPr>
          <a:xfrm>
            <a:off x="2441029" y="5064621"/>
            <a:ext cx="642300" cy="238800"/>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Clr>
                <a:srgbClr val="15171E"/>
              </a:buClr>
              <a:buSzPts val="1200"/>
              <a:buFont typeface="Inter"/>
              <a:buNone/>
            </a:pPr>
            <a:r>
              <a:rPr lang="en-US" sz="1200" b="1" i="0" u="none" strike="noStrike" cap="none">
                <a:solidFill>
                  <a:srgbClr val="15171E"/>
                </a:solidFill>
                <a:latin typeface="Inter"/>
                <a:ea typeface="Inter"/>
                <a:cs typeface="Inter"/>
                <a:sym typeface="Inter"/>
              </a:rPr>
              <a:t>$10–99</a:t>
            </a:r>
            <a:endParaRPr sz="1200" b="0" i="0" u="none" strike="noStrike" cap="none">
              <a:solidFill>
                <a:schemeClr val="dk1"/>
              </a:solidFill>
              <a:latin typeface="Inter"/>
              <a:ea typeface="Inter"/>
              <a:cs typeface="Inter"/>
              <a:sym typeface="Inter"/>
            </a:endParaRPr>
          </a:p>
        </p:txBody>
      </p:sp>
      <p:sp>
        <p:nvSpPr>
          <p:cNvPr id="251" name="Google Shape;251;p11"/>
          <p:cNvSpPr/>
          <p:nvPr/>
        </p:nvSpPr>
        <p:spPr>
          <a:xfrm>
            <a:off x="2408049" y="5328741"/>
            <a:ext cx="708300" cy="238800"/>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Clr>
                <a:srgbClr val="5B5E66"/>
              </a:buClr>
              <a:buSzPts val="1200"/>
              <a:buFont typeface="Inter"/>
              <a:buNone/>
            </a:pPr>
            <a:r>
              <a:rPr lang="en-US" sz="1200" b="0" i="0" u="none" strike="noStrike" cap="none">
                <a:solidFill>
                  <a:srgbClr val="5B5E66"/>
                </a:solidFill>
                <a:latin typeface="Inter"/>
                <a:ea typeface="Inter"/>
                <a:cs typeface="Inter"/>
                <a:sym typeface="Inter"/>
              </a:rPr>
              <a:t>n=2,777</a:t>
            </a:r>
            <a:endParaRPr sz="1200" b="0" i="0" u="none" strike="noStrike" cap="none">
              <a:solidFill>
                <a:schemeClr val="dk1"/>
              </a:solidFill>
              <a:latin typeface="Inter"/>
              <a:ea typeface="Inter"/>
              <a:cs typeface="Inter"/>
              <a:sym typeface="Inter"/>
            </a:endParaRPr>
          </a:p>
        </p:txBody>
      </p:sp>
      <p:sp>
        <p:nvSpPr>
          <p:cNvPr id="252" name="Google Shape;252;p11"/>
          <p:cNvSpPr/>
          <p:nvPr/>
        </p:nvSpPr>
        <p:spPr>
          <a:xfrm>
            <a:off x="3859183" y="3331071"/>
            <a:ext cx="473100" cy="292500"/>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Clr>
                <a:srgbClr val="15171E"/>
              </a:buClr>
              <a:buSzPts val="1500"/>
              <a:buFont typeface="Inter"/>
              <a:buNone/>
            </a:pPr>
            <a:r>
              <a:rPr lang="en-US" sz="1500" b="1" i="0" u="none" strike="noStrike" cap="none">
                <a:solidFill>
                  <a:srgbClr val="15171E"/>
                </a:solidFill>
                <a:latin typeface="Inter"/>
                <a:ea typeface="Inter"/>
                <a:cs typeface="Inter"/>
                <a:sym typeface="Inter"/>
              </a:rPr>
              <a:t>51%</a:t>
            </a:r>
            <a:endParaRPr sz="1500" b="0" i="0" u="none" strike="noStrike" cap="none">
              <a:solidFill>
                <a:schemeClr val="dk1"/>
              </a:solidFill>
              <a:latin typeface="Inter"/>
              <a:ea typeface="Inter"/>
              <a:cs typeface="Inter"/>
              <a:sym typeface="Inter"/>
            </a:endParaRPr>
          </a:p>
        </p:txBody>
      </p:sp>
      <p:sp>
        <p:nvSpPr>
          <p:cNvPr id="253" name="Google Shape;253;p11"/>
          <p:cNvSpPr/>
          <p:nvPr/>
        </p:nvSpPr>
        <p:spPr>
          <a:xfrm>
            <a:off x="3683000" y="3648571"/>
            <a:ext cx="825500" cy="1365250"/>
          </a:xfrm>
          <a:custGeom>
            <a:avLst/>
            <a:gdLst/>
            <a:ahLst/>
            <a:cxnLst/>
            <a:rect l="l" t="t" r="r" b="b"/>
            <a:pathLst>
              <a:path w="825500" h="1365250" extrusionOk="0">
                <a:moveTo>
                  <a:pt x="38100" y="0"/>
                </a:moveTo>
                <a:lnTo>
                  <a:pt x="787400" y="0"/>
                </a:lnTo>
                <a:cubicBezTo>
                  <a:pt x="797505" y="0"/>
                  <a:pt x="807196" y="4014"/>
                  <a:pt x="814341" y="11159"/>
                </a:cubicBezTo>
                <a:cubicBezTo>
                  <a:pt x="821486" y="18304"/>
                  <a:pt x="825500" y="27995"/>
                  <a:pt x="825500" y="38100"/>
                </a:cubicBezTo>
                <a:lnTo>
                  <a:pt x="825500" y="1365250"/>
                </a:lnTo>
                <a:lnTo>
                  <a:pt x="0" y="1365250"/>
                </a:lnTo>
                <a:lnTo>
                  <a:pt x="0" y="38100"/>
                </a:lnTo>
                <a:cubicBezTo>
                  <a:pt x="0" y="17058"/>
                  <a:pt x="17058" y="0"/>
                  <a:pt x="38100" y="0"/>
                </a:cubicBezTo>
                <a:close/>
              </a:path>
            </a:pathLst>
          </a:custGeom>
          <a:solidFill>
            <a:srgbClr val="2563C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254" name="Google Shape;254;p11"/>
          <p:cNvSpPr/>
          <p:nvPr/>
        </p:nvSpPr>
        <p:spPr>
          <a:xfrm>
            <a:off x="3655705" y="5064621"/>
            <a:ext cx="879900" cy="238800"/>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Clr>
                <a:srgbClr val="15171E"/>
              </a:buClr>
              <a:buSzPts val="1200"/>
              <a:buFont typeface="Inter"/>
              <a:buNone/>
            </a:pPr>
            <a:r>
              <a:rPr lang="en-US" sz="1200" b="1" i="0" u="none" strike="noStrike" cap="none">
                <a:solidFill>
                  <a:srgbClr val="15171E"/>
                </a:solidFill>
                <a:latin typeface="Inter"/>
                <a:ea typeface="Inter"/>
                <a:cs typeface="Inter"/>
                <a:sym typeface="Inter"/>
              </a:rPr>
              <a:t>$100–999</a:t>
            </a:r>
            <a:endParaRPr sz="1200" b="0" i="0" u="none" strike="noStrike" cap="none">
              <a:solidFill>
                <a:schemeClr val="dk1"/>
              </a:solidFill>
              <a:latin typeface="Inter"/>
              <a:ea typeface="Inter"/>
              <a:cs typeface="Inter"/>
              <a:sym typeface="Inter"/>
            </a:endParaRPr>
          </a:p>
        </p:txBody>
      </p:sp>
      <p:sp>
        <p:nvSpPr>
          <p:cNvPr id="255" name="Google Shape;255;p11"/>
          <p:cNvSpPr/>
          <p:nvPr/>
        </p:nvSpPr>
        <p:spPr>
          <a:xfrm>
            <a:off x="3675112" y="5328741"/>
            <a:ext cx="841200" cy="238800"/>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Clr>
                <a:srgbClr val="5B5E66"/>
              </a:buClr>
              <a:buSzPts val="1200"/>
              <a:buFont typeface="Inter"/>
              <a:buNone/>
            </a:pPr>
            <a:r>
              <a:rPr lang="en-US" sz="1200" b="0" i="0" u="none" strike="noStrike" cap="none">
                <a:solidFill>
                  <a:srgbClr val="5B5E66"/>
                </a:solidFill>
                <a:latin typeface="Inter"/>
                <a:ea typeface="Inter"/>
                <a:cs typeface="Inter"/>
                <a:sym typeface="Inter"/>
              </a:rPr>
              <a:t>n=42,347</a:t>
            </a:r>
            <a:endParaRPr sz="1200" b="0" i="0" u="none" strike="noStrike" cap="none">
              <a:solidFill>
                <a:schemeClr val="dk1"/>
              </a:solidFill>
              <a:latin typeface="Inter"/>
              <a:ea typeface="Inter"/>
              <a:cs typeface="Inter"/>
              <a:sym typeface="Inter"/>
            </a:endParaRPr>
          </a:p>
        </p:txBody>
      </p:sp>
      <p:sp>
        <p:nvSpPr>
          <p:cNvPr id="256" name="Google Shape;256;p11"/>
          <p:cNvSpPr/>
          <p:nvPr/>
        </p:nvSpPr>
        <p:spPr>
          <a:xfrm>
            <a:off x="5163860" y="3578721"/>
            <a:ext cx="530700" cy="292500"/>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Clr>
                <a:srgbClr val="15171E"/>
              </a:buClr>
              <a:buSzPts val="1500"/>
              <a:buFont typeface="Inter"/>
              <a:buNone/>
            </a:pPr>
            <a:r>
              <a:rPr lang="en-US" sz="1500" b="1" i="0" u="none" strike="noStrike" cap="none">
                <a:solidFill>
                  <a:srgbClr val="15171E"/>
                </a:solidFill>
                <a:latin typeface="Inter"/>
                <a:ea typeface="Inter"/>
                <a:cs typeface="Inter"/>
                <a:sym typeface="Inter"/>
              </a:rPr>
              <a:t>42%</a:t>
            </a:r>
            <a:endParaRPr sz="1500" b="0" i="0" u="none" strike="noStrike" cap="none">
              <a:solidFill>
                <a:schemeClr val="dk1"/>
              </a:solidFill>
              <a:latin typeface="Inter"/>
              <a:ea typeface="Inter"/>
              <a:cs typeface="Inter"/>
              <a:sym typeface="Inter"/>
            </a:endParaRPr>
          </a:p>
        </p:txBody>
      </p:sp>
      <p:sp>
        <p:nvSpPr>
          <p:cNvPr id="257" name="Google Shape;257;p11"/>
          <p:cNvSpPr/>
          <p:nvPr/>
        </p:nvSpPr>
        <p:spPr>
          <a:xfrm>
            <a:off x="5016500" y="3896221"/>
            <a:ext cx="825500" cy="1117600"/>
          </a:xfrm>
          <a:custGeom>
            <a:avLst/>
            <a:gdLst/>
            <a:ahLst/>
            <a:cxnLst/>
            <a:rect l="l" t="t" r="r" b="b"/>
            <a:pathLst>
              <a:path w="825500" h="1117600" extrusionOk="0">
                <a:moveTo>
                  <a:pt x="38100" y="0"/>
                </a:moveTo>
                <a:lnTo>
                  <a:pt x="787400" y="0"/>
                </a:lnTo>
                <a:cubicBezTo>
                  <a:pt x="797505" y="0"/>
                  <a:pt x="807196" y="4014"/>
                  <a:pt x="814341" y="11159"/>
                </a:cubicBezTo>
                <a:cubicBezTo>
                  <a:pt x="821486" y="18304"/>
                  <a:pt x="825500" y="27995"/>
                  <a:pt x="825500" y="38100"/>
                </a:cubicBezTo>
                <a:lnTo>
                  <a:pt x="825500" y="1117600"/>
                </a:lnTo>
                <a:lnTo>
                  <a:pt x="0" y="1117600"/>
                </a:lnTo>
                <a:lnTo>
                  <a:pt x="0" y="38100"/>
                </a:lnTo>
                <a:cubicBezTo>
                  <a:pt x="0" y="17058"/>
                  <a:pt x="17058" y="0"/>
                  <a:pt x="38100" y="0"/>
                </a:cubicBezTo>
                <a:close/>
              </a:path>
            </a:pathLst>
          </a:custGeom>
          <a:solidFill>
            <a:srgbClr val="2563C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258" name="Google Shape;258;p11"/>
          <p:cNvSpPr/>
          <p:nvPr/>
        </p:nvSpPr>
        <p:spPr>
          <a:xfrm>
            <a:off x="5038607" y="5064621"/>
            <a:ext cx="781200" cy="238800"/>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Clr>
                <a:srgbClr val="15171E"/>
              </a:buClr>
              <a:buSzPts val="1200"/>
              <a:buFont typeface="Inter"/>
              <a:buNone/>
            </a:pPr>
            <a:r>
              <a:rPr lang="en-US" sz="1200" b="1" i="0" u="none" strike="noStrike" cap="none">
                <a:solidFill>
                  <a:srgbClr val="15171E"/>
                </a:solidFill>
                <a:latin typeface="Inter"/>
                <a:ea typeface="Inter"/>
                <a:cs typeface="Inter"/>
                <a:sym typeface="Inter"/>
              </a:rPr>
              <a:t>$1k–9.9k</a:t>
            </a:r>
            <a:endParaRPr sz="1200" b="0" i="0" u="none" strike="noStrike" cap="none">
              <a:solidFill>
                <a:schemeClr val="dk1"/>
              </a:solidFill>
              <a:latin typeface="Inter"/>
              <a:ea typeface="Inter"/>
              <a:cs typeface="Inter"/>
              <a:sym typeface="Inter"/>
            </a:endParaRPr>
          </a:p>
        </p:txBody>
      </p:sp>
      <p:sp>
        <p:nvSpPr>
          <p:cNvPr id="259" name="Google Shape;259;p11"/>
          <p:cNvSpPr/>
          <p:nvPr/>
        </p:nvSpPr>
        <p:spPr>
          <a:xfrm>
            <a:off x="4984195" y="5328741"/>
            <a:ext cx="890100" cy="238800"/>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Clr>
                <a:srgbClr val="5B5E66"/>
              </a:buClr>
              <a:buSzPts val="1200"/>
              <a:buFont typeface="Inter"/>
              <a:buNone/>
            </a:pPr>
            <a:r>
              <a:rPr lang="en-US" sz="1200" b="0" i="0" u="none" strike="noStrike" cap="none">
                <a:solidFill>
                  <a:srgbClr val="5B5E66"/>
                </a:solidFill>
                <a:latin typeface="Inter"/>
                <a:ea typeface="Inter"/>
                <a:cs typeface="Inter"/>
                <a:sym typeface="Inter"/>
              </a:rPr>
              <a:t>n=178,872</a:t>
            </a:r>
            <a:endParaRPr sz="1200" b="0" i="0" u="none" strike="noStrike" cap="none">
              <a:solidFill>
                <a:schemeClr val="dk1"/>
              </a:solidFill>
              <a:latin typeface="Inter"/>
              <a:ea typeface="Inter"/>
              <a:cs typeface="Inter"/>
              <a:sym typeface="Inter"/>
            </a:endParaRPr>
          </a:p>
        </p:txBody>
      </p:sp>
      <p:sp>
        <p:nvSpPr>
          <p:cNvPr id="260" name="Google Shape;260;p11"/>
          <p:cNvSpPr/>
          <p:nvPr/>
        </p:nvSpPr>
        <p:spPr>
          <a:xfrm>
            <a:off x="6508195" y="3985121"/>
            <a:ext cx="509100" cy="292500"/>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Clr>
                <a:srgbClr val="15171E"/>
              </a:buClr>
              <a:buSzPts val="1500"/>
              <a:buFont typeface="Inter"/>
              <a:buNone/>
            </a:pPr>
            <a:r>
              <a:rPr lang="en-US" sz="1500" b="1" i="0" u="none" strike="noStrike" cap="none">
                <a:solidFill>
                  <a:srgbClr val="15171E"/>
                </a:solidFill>
                <a:latin typeface="Inter"/>
                <a:ea typeface="Inter"/>
                <a:cs typeface="Inter"/>
                <a:sym typeface="Inter"/>
              </a:rPr>
              <a:t>27%</a:t>
            </a:r>
            <a:endParaRPr sz="1500" b="0" i="0" u="none" strike="noStrike" cap="none">
              <a:solidFill>
                <a:schemeClr val="dk1"/>
              </a:solidFill>
              <a:latin typeface="Inter"/>
              <a:ea typeface="Inter"/>
              <a:cs typeface="Inter"/>
              <a:sym typeface="Inter"/>
            </a:endParaRPr>
          </a:p>
        </p:txBody>
      </p:sp>
      <p:sp>
        <p:nvSpPr>
          <p:cNvPr id="261" name="Google Shape;261;p11"/>
          <p:cNvSpPr/>
          <p:nvPr/>
        </p:nvSpPr>
        <p:spPr>
          <a:xfrm>
            <a:off x="6350000" y="4302621"/>
            <a:ext cx="825500" cy="711200"/>
          </a:xfrm>
          <a:custGeom>
            <a:avLst/>
            <a:gdLst/>
            <a:ahLst/>
            <a:cxnLst/>
            <a:rect l="l" t="t" r="r" b="b"/>
            <a:pathLst>
              <a:path w="825500" h="711200" extrusionOk="0">
                <a:moveTo>
                  <a:pt x="38100" y="0"/>
                </a:moveTo>
                <a:lnTo>
                  <a:pt x="787400" y="0"/>
                </a:lnTo>
                <a:cubicBezTo>
                  <a:pt x="797505" y="0"/>
                  <a:pt x="807196" y="4014"/>
                  <a:pt x="814341" y="11159"/>
                </a:cubicBezTo>
                <a:cubicBezTo>
                  <a:pt x="821486" y="18304"/>
                  <a:pt x="825500" y="27995"/>
                  <a:pt x="825500" y="38100"/>
                </a:cubicBezTo>
                <a:lnTo>
                  <a:pt x="825500" y="711200"/>
                </a:lnTo>
                <a:lnTo>
                  <a:pt x="0" y="711200"/>
                </a:lnTo>
                <a:lnTo>
                  <a:pt x="0" y="38100"/>
                </a:lnTo>
                <a:cubicBezTo>
                  <a:pt x="0" y="17058"/>
                  <a:pt x="17058" y="0"/>
                  <a:pt x="38100" y="0"/>
                </a:cubicBezTo>
                <a:close/>
              </a:path>
            </a:pathLst>
          </a:custGeom>
          <a:solidFill>
            <a:srgbClr val="E8572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262" name="Google Shape;262;p11"/>
          <p:cNvSpPr/>
          <p:nvPr/>
        </p:nvSpPr>
        <p:spPr>
          <a:xfrm>
            <a:off x="6337459" y="5064621"/>
            <a:ext cx="850500" cy="238800"/>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Clr>
                <a:srgbClr val="15171E"/>
              </a:buClr>
              <a:buSzPts val="1200"/>
              <a:buFont typeface="Inter"/>
              <a:buNone/>
            </a:pPr>
            <a:r>
              <a:rPr lang="en-US" sz="1200" b="1" i="0" u="none" strike="noStrike" cap="none">
                <a:solidFill>
                  <a:srgbClr val="15171E"/>
                </a:solidFill>
                <a:latin typeface="Inter"/>
                <a:ea typeface="Inter"/>
                <a:cs typeface="Inter"/>
                <a:sym typeface="Inter"/>
              </a:rPr>
              <a:t>$10k–99k</a:t>
            </a:r>
            <a:endParaRPr sz="1200" b="0" i="0" u="none" strike="noStrike" cap="none">
              <a:solidFill>
                <a:schemeClr val="dk1"/>
              </a:solidFill>
              <a:latin typeface="Inter"/>
              <a:ea typeface="Inter"/>
              <a:cs typeface="Inter"/>
              <a:sym typeface="Inter"/>
            </a:endParaRPr>
          </a:p>
        </p:txBody>
      </p:sp>
      <p:sp>
        <p:nvSpPr>
          <p:cNvPr id="263" name="Google Shape;263;p11"/>
          <p:cNvSpPr/>
          <p:nvPr/>
        </p:nvSpPr>
        <p:spPr>
          <a:xfrm>
            <a:off x="6309003" y="5328741"/>
            <a:ext cx="907500" cy="238800"/>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Clr>
                <a:srgbClr val="5B5E66"/>
              </a:buClr>
              <a:buSzPts val="1200"/>
              <a:buFont typeface="Inter"/>
              <a:buNone/>
            </a:pPr>
            <a:r>
              <a:rPr lang="en-US" sz="1200" b="0" i="0" u="none" strike="noStrike" cap="none">
                <a:solidFill>
                  <a:srgbClr val="5B5E66"/>
                </a:solidFill>
                <a:latin typeface="Inter"/>
                <a:ea typeface="Inter"/>
                <a:cs typeface="Inter"/>
                <a:sym typeface="Inter"/>
              </a:rPr>
              <a:t>n=126,323</a:t>
            </a:r>
            <a:endParaRPr sz="1200" b="0" i="0" u="none" strike="noStrike" cap="none">
              <a:solidFill>
                <a:schemeClr val="dk1"/>
              </a:solidFill>
              <a:latin typeface="Inter"/>
              <a:ea typeface="Inter"/>
              <a:cs typeface="Inter"/>
              <a:sym typeface="Inter"/>
            </a:endParaRPr>
          </a:p>
        </p:txBody>
      </p:sp>
      <p:sp>
        <p:nvSpPr>
          <p:cNvPr id="264" name="Google Shape;264;p11"/>
          <p:cNvSpPr/>
          <p:nvPr/>
        </p:nvSpPr>
        <p:spPr>
          <a:xfrm>
            <a:off x="7799071" y="4467721"/>
            <a:ext cx="594300" cy="292500"/>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Clr>
                <a:srgbClr val="15171E"/>
              </a:buClr>
              <a:buSzPts val="1500"/>
              <a:buFont typeface="Inter"/>
              <a:buNone/>
            </a:pPr>
            <a:r>
              <a:rPr lang="en-US" sz="1500" b="1" i="0" u="none" strike="noStrike" cap="none">
                <a:solidFill>
                  <a:srgbClr val="15171E"/>
                </a:solidFill>
                <a:latin typeface="Inter"/>
                <a:ea typeface="Inter"/>
                <a:cs typeface="Inter"/>
                <a:sym typeface="Inter"/>
              </a:rPr>
              <a:t>8.6%</a:t>
            </a:r>
            <a:endParaRPr sz="1500" b="0" i="0" u="none" strike="noStrike" cap="none">
              <a:solidFill>
                <a:schemeClr val="dk1"/>
              </a:solidFill>
              <a:latin typeface="Inter"/>
              <a:ea typeface="Inter"/>
              <a:cs typeface="Inter"/>
              <a:sym typeface="Inter"/>
            </a:endParaRPr>
          </a:p>
        </p:txBody>
      </p:sp>
      <p:sp>
        <p:nvSpPr>
          <p:cNvPr id="265" name="Google Shape;265;p11"/>
          <p:cNvSpPr/>
          <p:nvPr/>
        </p:nvSpPr>
        <p:spPr>
          <a:xfrm>
            <a:off x="7683500" y="4785221"/>
            <a:ext cx="825500" cy="228600"/>
          </a:xfrm>
          <a:custGeom>
            <a:avLst/>
            <a:gdLst/>
            <a:ahLst/>
            <a:cxnLst/>
            <a:rect l="l" t="t" r="r" b="b"/>
            <a:pathLst>
              <a:path w="825500" h="228600" extrusionOk="0">
                <a:moveTo>
                  <a:pt x="38100" y="0"/>
                </a:moveTo>
                <a:lnTo>
                  <a:pt x="787400" y="0"/>
                </a:lnTo>
                <a:cubicBezTo>
                  <a:pt x="797505" y="0"/>
                  <a:pt x="807196" y="4014"/>
                  <a:pt x="814341" y="11159"/>
                </a:cubicBezTo>
                <a:cubicBezTo>
                  <a:pt x="821486" y="18304"/>
                  <a:pt x="825500" y="27995"/>
                  <a:pt x="825500" y="38100"/>
                </a:cubicBezTo>
                <a:lnTo>
                  <a:pt x="825500" y="228600"/>
                </a:lnTo>
                <a:lnTo>
                  <a:pt x="0" y="228600"/>
                </a:lnTo>
                <a:lnTo>
                  <a:pt x="0" y="38100"/>
                </a:lnTo>
                <a:cubicBezTo>
                  <a:pt x="0" y="17058"/>
                  <a:pt x="17058" y="0"/>
                  <a:pt x="38100" y="0"/>
                </a:cubicBezTo>
                <a:close/>
              </a:path>
            </a:pathLst>
          </a:custGeom>
          <a:solidFill>
            <a:srgbClr val="E8572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266" name="Google Shape;266;p11"/>
          <p:cNvSpPr/>
          <p:nvPr/>
        </p:nvSpPr>
        <p:spPr>
          <a:xfrm>
            <a:off x="7552135" y="5064621"/>
            <a:ext cx="1088100" cy="238800"/>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Clr>
                <a:srgbClr val="15171E"/>
              </a:buClr>
              <a:buSzPts val="1200"/>
              <a:buFont typeface="Inter"/>
              <a:buNone/>
            </a:pPr>
            <a:r>
              <a:rPr lang="en-US" sz="1200" b="1" i="0" u="none" strike="noStrike" cap="none">
                <a:solidFill>
                  <a:srgbClr val="15171E"/>
                </a:solidFill>
                <a:latin typeface="Inter"/>
                <a:ea typeface="Inter"/>
                <a:cs typeface="Inter"/>
                <a:sym typeface="Inter"/>
              </a:rPr>
              <a:t>$100k–999k</a:t>
            </a:r>
            <a:endParaRPr sz="1200" b="0" i="0" u="none" strike="noStrike" cap="none">
              <a:solidFill>
                <a:schemeClr val="dk1"/>
              </a:solidFill>
              <a:latin typeface="Inter"/>
              <a:ea typeface="Inter"/>
              <a:cs typeface="Inter"/>
              <a:sym typeface="Inter"/>
            </a:endParaRPr>
          </a:p>
        </p:txBody>
      </p:sp>
      <p:sp>
        <p:nvSpPr>
          <p:cNvPr id="267" name="Google Shape;267;p11"/>
          <p:cNvSpPr/>
          <p:nvPr/>
        </p:nvSpPr>
        <p:spPr>
          <a:xfrm>
            <a:off x="7688828" y="5328741"/>
            <a:ext cx="814800" cy="238800"/>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Clr>
                <a:srgbClr val="5B5E66"/>
              </a:buClr>
              <a:buSzPts val="1200"/>
              <a:buFont typeface="Inter"/>
              <a:buNone/>
            </a:pPr>
            <a:r>
              <a:rPr lang="en-US" sz="1200" b="0" i="0" u="none" strike="noStrike" cap="none">
                <a:solidFill>
                  <a:srgbClr val="5B5E66"/>
                </a:solidFill>
                <a:latin typeface="Inter"/>
                <a:ea typeface="Inter"/>
                <a:cs typeface="Inter"/>
                <a:sym typeface="Inter"/>
              </a:rPr>
              <a:t>n=14,408</a:t>
            </a:r>
            <a:endParaRPr sz="1200" b="0" i="0" u="none" strike="noStrike" cap="none">
              <a:solidFill>
                <a:schemeClr val="dk1"/>
              </a:solidFill>
              <a:latin typeface="Inter"/>
              <a:ea typeface="Inter"/>
              <a:cs typeface="Inter"/>
              <a:sym typeface="Inter"/>
            </a:endParaRPr>
          </a:p>
        </p:txBody>
      </p:sp>
      <p:sp>
        <p:nvSpPr>
          <p:cNvPr id="268" name="Google Shape;268;p11"/>
          <p:cNvSpPr/>
          <p:nvPr/>
        </p:nvSpPr>
        <p:spPr>
          <a:xfrm>
            <a:off x="9148883" y="4658221"/>
            <a:ext cx="561600" cy="292500"/>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Clr>
                <a:srgbClr val="15171E"/>
              </a:buClr>
              <a:buSzPts val="1500"/>
              <a:buFont typeface="Inter"/>
              <a:buNone/>
            </a:pPr>
            <a:r>
              <a:rPr lang="en-US" sz="1500" b="1" i="0" u="none" strike="noStrike" cap="none">
                <a:solidFill>
                  <a:srgbClr val="15171E"/>
                </a:solidFill>
                <a:latin typeface="Inter"/>
                <a:ea typeface="Inter"/>
                <a:cs typeface="Inter"/>
                <a:sym typeface="Inter"/>
              </a:rPr>
              <a:t>1.4%</a:t>
            </a:r>
            <a:endParaRPr sz="1500" b="0" i="0" u="none" strike="noStrike" cap="none">
              <a:solidFill>
                <a:schemeClr val="dk1"/>
              </a:solidFill>
              <a:latin typeface="Inter"/>
              <a:ea typeface="Inter"/>
              <a:cs typeface="Inter"/>
              <a:sym typeface="Inter"/>
            </a:endParaRPr>
          </a:p>
        </p:txBody>
      </p:sp>
      <p:sp>
        <p:nvSpPr>
          <p:cNvPr id="269" name="Google Shape;269;p11"/>
          <p:cNvSpPr/>
          <p:nvPr/>
        </p:nvSpPr>
        <p:spPr>
          <a:xfrm>
            <a:off x="9017000" y="4975721"/>
            <a:ext cx="825600" cy="38100"/>
          </a:xfrm>
          <a:prstGeom prst="rect">
            <a:avLst/>
          </a:prstGeom>
          <a:solidFill>
            <a:srgbClr val="E8572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270" name="Google Shape;270;p11"/>
          <p:cNvSpPr/>
          <p:nvPr/>
        </p:nvSpPr>
        <p:spPr>
          <a:xfrm>
            <a:off x="8974573" y="5064621"/>
            <a:ext cx="910500" cy="238800"/>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Clr>
                <a:srgbClr val="15171E"/>
              </a:buClr>
              <a:buSzPts val="1200"/>
              <a:buFont typeface="Inter"/>
              <a:buNone/>
            </a:pPr>
            <a:r>
              <a:rPr lang="en-US" sz="1200" b="1" i="0" u="none" strike="noStrike" cap="none">
                <a:solidFill>
                  <a:srgbClr val="15171E"/>
                </a:solidFill>
                <a:latin typeface="Inter"/>
                <a:ea typeface="Inter"/>
                <a:cs typeface="Inter"/>
                <a:sym typeface="Inter"/>
              </a:rPr>
              <a:t>$1M–9.9M</a:t>
            </a:r>
            <a:endParaRPr sz="1200" b="0" i="0" u="none" strike="noStrike" cap="none">
              <a:solidFill>
                <a:schemeClr val="dk1"/>
              </a:solidFill>
              <a:latin typeface="Inter"/>
              <a:ea typeface="Inter"/>
              <a:cs typeface="Inter"/>
              <a:sym typeface="Inter"/>
            </a:endParaRPr>
          </a:p>
        </p:txBody>
      </p:sp>
      <p:sp>
        <p:nvSpPr>
          <p:cNvPr id="271" name="Google Shape;271;p11"/>
          <p:cNvSpPr/>
          <p:nvPr/>
        </p:nvSpPr>
        <p:spPr>
          <a:xfrm>
            <a:off x="9115663" y="5328741"/>
            <a:ext cx="628500" cy="238800"/>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Clr>
                <a:srgbClr val="5B5E66"/>
              </a:buClr>
              <a:buSzPts val="1200"/>
              <a:buFont typeface="Inter"/>
              <a:buNone/>
            </a:pPr>
            <a:r>
              <a:rPr lang="en-US" sz="1200" b="0" i="0" u="none" strike="noStrike" cap="none">
                <a:solidFill>
                  <a:srgbClr val="5B5E66"/>
                </a:solidFill>
                <a:latin typeface="Inter"/>
                <a:ea typeface="Inter"/>
                <a:cs typeface="Inter"/>
                <a:sym typeface="Inter"/>
              </a:rPr>
              <a:t>n=1,173</a:t>
            </a:r>
            <a:endParaRPr sz="1200" b="0" i="0" u="none" strike="noStrike" cap="none">
              <a:solidFill>
                <a:schemeClr val="dk1"/>
              </a:solidFill>
              <a:latin typeface="Inter"/>
              <a:ea typeface="Inter"/>
              <a:cs typeface="Inter"/>
              <a:sym typeface="Inter"/>
            </a:endParaRPr>
          </a:p>
        </p:txBody>
      </p:sp>
      <p:sp>
        <p:nvSpPr>
          <p:cNvPr id="272" name="Google Shape;272;p11"/>
          <p:cNvSpPr/>
          <p:nvPr/>
        </p:nvSpPr>
        <p:spPr>
          <a:xfrm>
            <a:off x="10570021" y="4677271"/>
            <a:ext cx="386400" cy="292500"/>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Clr>
                <a:srgbClr val="15171E"/>
              </a:buClr>
              <a:buSzPts val="1500"/>
              <a:buFont typeface="Inter"/>
              <a:buNone/>
            </a:pPr>
            <a:r>
              <a:rPr lang="en-US" sz="1500" b="1" i="0" u="none" strike="noStrike" cap="none">
                <a:solidFill>
                  <a:srgbClr val="15171E"/>
                </a:solidFill>
                <a:latin typeface="Inter"/>
                <a:ea typeface="Inter"/>
                <a:cs typeface="Inter"/>
                <a:sym typeface="Inter"/>
              </a:rPr>
              <a:t>0%</a:t>
            </a:r>
            <a:endParaRPr sz="1500" b="0" i="0" u="none" strike="noStrike" cap="none">
              <a:solidFill>
                <a:schemeClr val="dk1"/>
              </a:solidFill>
              <a:latin typeface="Inter"/>
              <a:ea typeface="Inter"/>
              <a:cs typeface="Inter"/>
              <a:sym typeface="Inter"/>
            </a:endParaRPr>
          </a:p>
        </p:txBody>
      </p:sp>
      <p:sp>
        <p:nvSpPr>
          <p:cNvPr id="273" name="Google Shape;273;p11"/>
          <p:cNvSpPr/>
          <p:nvPr/>
        </p:nvSpPr>
        <p:spPr>
          <a:xfrm>
            <a:off x="10350500" y="4994771"/>
            <a:ext cx="825600" cy="19200"/>
          </a:xfrm>
          <a:prstGeom prst="rect">
            <a:avLst/>
          </a:prstGeom>
          <a:solidFill>
            <a:srgbClr val="9AA0A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274" name="Google Shape;274;p11"/>
          <p:cNvSpPr/>
          <p:nvPr/>
        </p:nvSpPr>
        <p:spPr>
          <a:xfrm>
            <a:off x="10458927" y="5064621"/>
            <a:ext cx="608700" cy="238800"/>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Clr>
                <a:srgbClr val="15171E"/>
              </a:buClr>
              <a:buSzPts val="1200"/>
              <a:buFont typeface="Inter"/>
              <a:buNone/>
            </a:pPr>
            <a:r>
              <a:rPr lang="en-US" sz="1200" b="1" i="0" u="none" strike="noStrike" cap="none">
                <a:solidFill>
                  <a:srgbClr val="15171E"/>
                </a:solidFill>
                <a:latin typeface="Inter"/>
                <a:ea typeface="Inter"/>
                <a:cs typeface="Inter"/>
                <a:sym typeface="Inter"/>
              </a:rPr>
              <a:t>$10M+</a:t>
            </a:r>
            <a:endParaRPr sz="1200" b="0" i="0" u="none" strike="noStrike" cap="none">
              <a:solidFill>
                <a:schemeClr val="dk1"/>
              </a:solidFill>
              <a:latin typeface="Inter"/>
              <a:ea typeface="Inter"/>
              <a:cs typeface="Inter"/>
              <a:sym typeface="Inter"/>
            </a:endParaRPr>
          </a:p>
        </p:txBody>
      </p:sp>
      <p:sp>
        <p:nvSpPr>
          <p:cNvPr id="275" name="Google Shape;275;p11"/>
          <p:cNvSpPr/>
          <p:nvPr/>
        </p:nvSpPr>
        <p:spPr>
          <a:xfrm>
            <a:off x="10497264" y="5328741"/>
            <a:ext cx="531900" cy="238800"/>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Clr>
                <a:srgbClr val="5B5E66"/>
              </a:buClr>
              <a:buSzPts val="1200"/>
              <a:buFont typeface="Inter"/>
              <a:buNone/>
            </a:pPr>
            <a:r>
              <a:rPr lang="en-US" sz="1200" b="0" i="0" u="none" strike="noStrike" cap="none">
                <a:solidFill>
                  <a:srgbClr val="5B5E66"/>
                </a:solidFill>
                <a:latin typeface="Inter"/>
                <a:ea typeface="Inter"/>
                <a:cs typeface="Inter"/>
                <a:sym typeface="Inter"/>
              </a:rPr>
              <a:t>n=180</a:t>
            </a:r>
            <a:endParaRPr sz="1200" b="0" i="0" u="none" strike="noStrike" cap="none">
              <a:solidFill>
                <a:schemeClr val="dk1"/>
              </a:solidFill>
              <a:latin typeface="Inter"/>
              <a:ea typeface="Inter"/>
              <a:cs typeface="Inter"/>
              <a:sym typeface="Inter"/>
            </a:endParaRPr>
          </a:p>
        </p:txBody>
      </p:sp>
      <p:sp>
        <p:nvSpPr>
          <p:cNvPr id="276" name="Google Shape;276;p11"/>
          <p:cNvSpPr/>
          <p:nvPr/>
        </p:nvSpPr>
        <p:spPr>
          <a:xfrm>
            <a:off x="812800" y="6238280"/>
            <a:ext cx="78489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6B6E76"/>
              </a:buClr>
              <a:buSzPts val="1200"/>
              <a:buFont typeface="Inter"/>
              <a:buNone/>
            </a:pPr>
            <a:r>
              <a:rPr lang="en-US" sz="1200" b="0" i="0" u="none" strike="noStrike" cap="none">
                <a:solidFill>
                  <a:srgbClr val="6B6E76"/>
                </a:solidFill>
                <a:latin typeface="Inter"/>
                <a:ea typeface="Inter"/>
                <a:cs typeface="Inter"/>
                <a:sym typeface="Inter"/>
              </a:rPr>
              <a:t>Outliers · Will your Kickstarter get funded?</a:t>
            </a:r>
            <a:endParaRPr sz="1200" b="0" i="0" u="none" strike="noStrike" cap="none">
              <a:solidFill>
                <a:schemeClr val="dk1"/>
              </a:solidFill>
              <a:latin typeface="Inter"/>
              <a:ea typeface="Inter"/>
              <a:cs typeface="Inter"/>
              <a:sym typeface="Inter"/>
            </a:endParaRPr>
          </a:p>
        </p:txBody>
      </p:sp>
      <p:sp>
        <p:nvSpPr>
          <p:cNvPr id="277" name="Google Shape;277;p11"/>
          <p:cNvSpPr/>
          <p:nvPr/>
        </p:nvSpPr>
        <p:spPr>
          <a:xfrm>
            <a:off x="10058400" y="6238280"/>
            <a:ext cx="1320900" cy="238800"/>
          </a:xfrm>
          <a:prstGeom prst="rect">
            <a:avLst/>
          </a:prstGeom>
          <a:noFill/>
          <a:ln>
            <a:noFill/>
          </a:ln>
        </p:spPr>
        <p:txBody>
          <a:bodyPr spcFirstLastPara="1" wrap="square" lIns="0" tIns="0" rIns="0" bIns="0" anchor="t" anchorCtr="0">
            <a:noAutofit/>
          </a:bodyPr>
          <a:lstStyle/>
          <a:p>
            <a:pPr marL="0" marR="0" lvl="0" indent="0" algn="r" rtl="0">
              <a:lnSpc>
                <a:spcPct val="140000"/>
              </a:lnSpc>
              <a:spcBef>
                <a:spcPts val="0"/>
              </a:spcBef>
              <a:spcAft>
                <a:spcPts val="0"/>
              </a:spcAft>
              <a:buClr>
                <a:srgbClr val="6B6E76"/>
              </a:buClr>
              <a:buSzPts val="1200"/>
              <a:buFont typeface="Inter"/>
              <a:buNone/>
            </a:pPr>
            <a:r>
              <a:rPr lang="en-US" sz="1200" b="0" i="0" u="none" strike="noStrike" cap="none">
                <a:solidFill>
                  <a:srgbClr val="6B6E76"/>
                </a:solidFill>
                <a:latin typeface="Inter"/>
                <a:ea typeface="Inter"/>
                <a:cs typeface="Inter"/>
                <a:sym typeface="Inter"/>
              </a:rPr>
              <a:t>8 / 12</a:t>
            </a:r>
            <a:endParaRPr sz="1200" b="0" i="0" u="none" strike="noStrike" cap="none">
              <a:solidFill>
                <a:schemeClr val="dk1"/>
              </a:solidFill>
              <a:latin typeface="Inter"/>
              <a:ea typeface="Inter"/>
              <a:cs typeface="Inter"/>
              <a:sym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cxnSp>
        <p:nvCxnSpPr>
          <p:cNvPr id="282" name="Google Shape;282;p12"/>
          <p:cNvCxnSpPr/>
          <p:nvPr/>
        </p:nvCxnSpPr>
        <p:spPr>
          <a:xfrm>
            <a:off x="5540900" y="2440000"/>
            <a:ext cx="0" cy="2718900"/>
          </a:xfrm>
          <a:prstGeom prst="straightConnector1">
            <a:avLst/>
          </a:prstGeom>
          <a:noFill/>
          <a:ln w="16925" cap="flat" cmpd="sng">
            <a:solidFill>
              <a:srgbClr val="9AA0AB"/>
            </a:solidFill>
            <a:prstDash val="dash"/>
            <a:round/>
            <a:headEnd type="none" w="sm" len="sm"/>
            <a:tailEnd type="none" w="sm" len="sm"/>
          </a:ln>
          <a:effectLst>
            <a:outerShdw blurRad="53333" dist="26667" dir="5400000" rotWithShape="0">
              <a:srgbClr val="000000">
                <a:alpha val="38040"/>
              </a:srgbClr>
            </a:outerShdw>
          </a:effectLst>
        </p:spPr>
      </p:cxnSp>
      <p:sp>
        <p:nvSpPr>
          <p:cNvPr id="283" name="Google Shape;283;p12"/>
          <p:cNvSpPr/>
          <p:nvPr/>
        </p:nvSpPr>
        <p:spPr>
          <a:xfrm>
            <a:off x="812800" y="812800"/>
            <a:ext cx="108837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8401A"/>
              </a:buClr>
              <a:buSzPts val="1200"/>
              <a:buFont typeface="Inter"/>
              <a:buNone/>
            </a:pPr>
            <a:r>
              <a:rPr lang="en-US" sz="1200" b="1" i="0" u="none" strike="noStrike" cap="none">
                <a:solidFill>
                  <a:srgbClr val="B8401A"/>
                </a:solidFill>
                <a:latin typeface="Inter"/>
                <a:ea typeface="Inter"/>
                <a:cs typeface="Inter"/>
                <a:sym typeface="Inter"/>
              </a:rPr>
              <a:t>08 · KEY FINDING: THE CATEGORY</a:t>
            </a:r>
            <a:endParaRPr sz="1200" b="0" i="0" u="none" strike="noStrike" cap="none">
              <a:solidFill>
                <a:schemeClr val="dk1"/>
              </a:solidFill>
              <a:latin typeface="Inter"/>
              <a:ea typeface="Inter"/>
              <a:cs typeface="Inter"/>
              <a:sym typeface="Inter"/>
            </a:endParaRPr>
          </a:p>
        </p:txBody>
      </p:sp>
      <p:sp>
        <p:nvSpPr>
          <p:cNvPr id="284" name="Google Shape;284;p12"/>
          <p:cNvSpPr txBox="1">
            <a:spLocks noGrp="1"/>
          </p:cNvSpPr>
          <p:nvPr>
            <p:ph type="title"/>
          </p:nvPr>
        </p:nvSpPr>
        <p:spPr>
          <a:xfrm>
            <a:off x="812800" y="1102320"/>
            <a:ext cx="10883700" cy="472500"/>
          </a:xfrm>
          <a:prstGeom prst="rect">
            <a:avLst/>
          </a:prstGeom>
          <a:noFill/>
          <a:ln>
            <a:noFill/>
          </a:ln>
        </p:spPr>
        <p:txBody>
          <a:bodyPr spcFirstLastPara="1" wrap="square" lIns="0" tIns="0" rIns="0" bIns="0" anchor="t" anchorCtr="0">
            <a:normAutofit fontScale="90000"/>
          </a:bodyPr>
          <a:lstStyle/>
          <a:p>
            <a:pPr marL="0" lvl="0" indent="0" algn="l" rtl="0">
              <a:lnSpc>
                <a:spcPct val="110000"/>
              </a:lnSpc>
              <a:spcBef>
                <a:spcPts val="0"/>
              </a:spcBef>
              <a:spcAft>
                <a:spcPts val="0"/>
              </a:spcAft>
              <a:buClr>
                <a:srgbClr val="15171E"/>
              </a:buClr>
              <a:buSzPct val="100000"/>
              <a:buFont typeface="Space Grotesk"/>
              <a:buNone/>
            </a:pPr>
            <a:r>
              <a:rPr lang="en-US" sz="3200" b="1" i="0">
                <a:solidFill>
                  <a:srgbClr val="15171E"/>
                </a:solidFill>
                <a:latin typeface="Space Grotesk"/>
                <a:ea typeface="Space Grotesk"/>
                <a:cs typeface="Space Grotesk"/>
                <a:sym typeface="Space Grotesk"/>
              </a:rPr>
              <a:t>Music and performance thrive, tech struggles</a:t>
            </a:r>
            <a:endParaRPr sz="3200"/>
          </a:p>
        </p:txBody>
      </p:sp>
      <p:sp>
        <p:nvSpPr>
          <p:cNvPr id="285" name="Google Shape;285;p12"/>
          <p:cNvSpPr/>
          <p:nvPr/>
        </p:nvSpPr>
        <p:spPr>
          <a:xfrm>
            <a:off x="9000000" y="2600000"/>
            <a:ext cx="2379300" cy="4875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300"/>
              <a:buFont typeface="Inter"/>
              <a:buNone/>
            </a:pPr>
            <a:r>
              <a:rPr lang="en-US" sz="1300" b="1" i="0" u="none" strike="noStrike" cap="none">
                <a:solidFill>
                  <a:srgbClr val="15171E"/>
                </a:solidFill>
                <a:latin typeface="Inter"/>
                <a:ea typeface="Inter"/>
                <a:cs typeface="Inter"/>
                <a:sym typeface="Inter"/>
              </a:rPr>
              <a:t>Top 3:</a:t>
            </a:r>
            <a:r>
              <a:rPr lang="en-US" sz="1300" b="0" i="0" u="none" strike="noStrike" cap="none">
                <a:solidFill>
                  <a:srgbClr val="15171E"/>
                </a:solidFill>
                <a:latin typeface="Inter"/>
                <a:ea typeface="Inter"/>
                <a:cs typeface="Inter"/>
                <a:sym typeface="Inter"/>
              </a:rPr>
              <a:t> music and dance, ~65%.</a:t>
            </a:r>
            <a:endParaRPr sz="1300" b="0" i="0" u="none" strike="noStrike" cap="none">
              <a:solidFill>
                <a:schemeClr val="dk1"/>
              </a:solidFill>
              <a:latin typeface="Inter"/>
              <a:ea typeface="Inter"/>
              <a:cs typeface="Inter"/>
              <a:sym typeface="Inter"/>
            </a:endParaRPr>
          </a:p>
        </p:txBody>
      </p:sp>
      <p:sp>
        <p:nvSpPr>
          <p:cNvPr id="286" name="Google Shape;286;p12"/>
          <p:cNvSpPr/>
          <p:nvPr/>
        </p:nvSpPr>
        <p:spPr>
          <a:xfrm>
            <a:off x="9000000" y="3247600"/>
            <a:ext cx="2379300" cy="4875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300"/>
              <a:buFont typeface="Inter"/>
              <a:buNone/>
            </a:pPr>
            <a:r>
              <a:rPr lang="en-US" sz="1300" b="1" i="0" u="none" strike="noStrike" cap="none">
                <a:solidFill>
                  <a:srgbClr val="15171E"/>
                </a:solidFill>
                <a:latin typeface="Inter"/>
                <a:ea typeface="Inter"/>
                <a:cs typeface="Inter"/>
                <a:sym typeface="Inter"/>
              </a:rPr>
              <a:t>Bottom 3:</a:t>
            </a:r>
            <a:r>
              <a:rPr lang="en-US" sz="1300" b="0" i="0" u="none" strike="noStrike" cap="none">
                <a:solidFill>
                  <a:srgbClr val="15171E"/>
                </a:solidFill>
                <a:latin typeface="Inter"/>
                <a:ea typeface="Inter"/>
                <a:cs typeface="Inter"/>
                <a:sym typeface="Inter"/>
              </a:rPr>
              <a:t> all tech, 6–12%.</a:t>
            </a:r>
            <a:endParaRPr sz="1300" b="0" i="0" u="none" strike="noStrike" cap="none">
              <a:solidFill>
                <a:schemeClr val="dk1"/>
              </a:solidFill>
              <a:latin typeface="Inter"/>
              <a:ea typeface="Inter"/>
              <a:cs typeface="Inter"/>
              <a:sym typeface="Inter"/>
            </a:endParaRPr>
          </a:p>
        </p:txBody>
      </p:sp>
      <p:sp>
        <p:nvSpPr>
          <p:cNvPr id="287" name="Google Shape;287;p12"/>
          <p:cNvSpPr/>
          <p:nvPr/>
        </p:nvSpPr>
        <p:spPr>
          <a:xfrm>
            <a:off x="9000000" y="3933333"/>
            <a:ext cx="2379300" cy="800100"/>
          </a:xfrm>
          <a:prstGeom prst="roundRect">
            <a:avLst>
              <a:gd name="adj" fmla="val 7635"/>
            </a:avLst>
          </a:prstGeom>
          <a:solidFill>
            <a:srgbClr val="15171E"/>
          </a:solidFill>
          <a:ln>
            <a:noFill/>
          </a:ln>
        </p:spPr>
        <p:txBody>
          <a:bodyPr spcFirstLastPara="1" wrap="square" lIns="130075" tIns="130075" rIns="38625" bIns="104675" anchor="t" anchorCtr="0">
            <a:noAutofit/>
          </a:bodyPr>
          <a:lstStyle/>
          <a:p>
            <a:pPr marL="0" marR="0" lvl="0" indent="0" algn="l" rtl="0">
              <a:lnSpc>
                <a:spcPct val="140000"/>
              </a:lnSpc>
              <a:spcBef>
                <a:spcPts val="0"/>
              </a:spcBef>
              <a:spcAft>
                <a:spcPts val="0"/>
              </a:spcAft>
              <a:buClr>
                <a:srgbClr val="F5F3EE"/>
              </a:buClr>
              <a:buSzPts val="1300"/>
              <a:buFont typeface="Inter"/>
              <a:buNone/>
            </a:pPr>
            <a:r>
              <a:rPr lang="en-US" sz="1300" b="0" i="0" u="none" strike="noStrike" cap="none">
                <a:solidFill>
                  <a:srgbClr val="F5F3EE"/>
                </a:solidFill>
                <a:latin typeface="Inter"/>
                <a:ea typeface="Inter"/>
                <a:cs typeface="Inter"/>
                <a:sym typeface="Inter"/>
              </a:rPr>
              <a:t>Dance is 11× more likely to be funded than Apps.</a:t>
            </a:r>
            <a:endParaRPr sz="1300" b="0" i="0" u="none" strike="noStrike" cap="none">
              <a:solidFill>
                <a:schemeClr val="dk1"/>
              </a:solidFill>
              <a:latin typeface="Inter"/>
              <a:ea typeface="Inter"/>
              <a:cs typeface="Inter"/>
              <a:sym typeface="Inter"/>
            </a:endParaRPr>
          </a:p>
        </p:txBody>
      </p:sp>
      <p:sp>
        <p:nvSpPr>
          <p:cNvPr id="288" name="Google Shape;288;p12"/>
          <p:cNvSpPr/>
          <p:nvPr/>
        </p:nvSpPr>
        <p:spPr>
          <a:xfrm>
            <a:off x="812800" y="6238280"/>
            <a:ext cx="78489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6B6E76"/>
              </a:buClr>
              <a:buSzPts val="1200"/>
              <a:buFont typeface="Inter"/>
              <a:buNone/>
            </a:pPr>
            <a:r>
              <a:rPr lang="en-US" sz="1200" b="0" i="0" u="none" strike="noStrike" cap="none">
                <a:solidFill>
                  <a:srgbClr val="6B6E76"/>
                </a:solidFill>
                <a:latin typeface="Inter"/>
                <a:ea typeface="Inter"/>
                <a:cs typeface="Inter"/>
                <a:sym typeface="Inter"/>
              </a:rPr>
              <a:t>Outliers · Will your Kickstarter get funded?</a:t>
            </a:r>
            <a:endParaRPr sz="1200" b="0" i="0" u="none" strike="noStrike" cap="none">
              <a:solidFill>
                <a:schemeClr val="dk1"/>
              </a:solidFill>
              <a:latin typeface="Inter"/>
              <a:ea typeface="Inter"/>
              <a:cs typeface="Inter"/>
              <a:sym typeface="Inter"/>
            </a:endParaRPr>
          </a:p>
        </p:txBody>
      </p:sp>
      <p:sp>
        <p:nvSpPr>
          <p:cNvPr id="289" name="Google Shape;289;p12"/>
          <p:cNvSpPr/>
          <p:nvPr/>
        </p:nvSpPr>
        <p:spPr>
          <a:xfrm>
            <a:off x="10058400" y="6238280"/>
            <a:ext cx="1320900" cy="238800"/>
          </a:xfrm>
          <a:prstGeom prst="rect">
            <a:avLst/>
          </a:prstGeom>
          <a:noFill/>
          <a:ln>
            <a:noFill/>
          </a:ln>
        </p:spPr>
        <p:txBody>
          <a:bodyPr spcFirstLastPara="1" wrap="square" lIns="0" tIns="0" rIns="0" bIns="0" anchor="t" anchorCtr="0">
            <a:noAutofit/>
          </a:bodyPr>
          <a:lstStyle/>
          <a:p>
            <a:pPr marL="0" marR="0" lvl="0" indent="0" algn="r" rtl="0">
              <a:lnSpc>
                <a:spcPct val="140000"/>
              </a:lnSpc>
              <a:spcBef>
                <a:spcPts val="0"/>
              </a:spcBef>
              <a:spcAft>
                <a:spcPts val="0"/>
              </a:spcAft>
              <a:buClr>
                <a:srgbClr val="6B6E76"/>
              </a:buClr>
              <a:buSzPts val="1200"/>
              <a:buFont typeface="Inter"/>
              <a:buNone/>
            </a:pPr>
            <a:r>
              <a:rPr lang="en-US" sz="1200" b="0" i="0" u="none" strike="noStrike" cap="none">
                <a:solidFill>
                  <a:srgbClr val="6B6E76"/>
                </a:solidFill>
                <a:latin typeface="Inter"/>
                <a:ea typeface="Inter"/>
                <a:cs typeface="Inter"/>
                <a:sym typeface="Inter"/>
              </a:rPr>
              <a:t>9 / 13</a:t>
            </a:r>
            <a:endParaRPr sz="1200" b="0" i="0" u="none" strike="noStrike" cap="none">
              <a:solidFill>
                <a:schemeClr val="dk1"/>
              </a:solidFill>
              <a:latin typeface="Inter"/>
              <a:ea typeface="Inter"/>
              <a:cs typeface="Inter"/>
              <a:sym typeface="Inter"/>
            </a:endParaRPr>
          </a:p>
        </p:txBody>
      </p:sp>
      <p:sp>
        <p:nvSpPr>
          <p:cNvPr id="290" name="Google Shape;290;p12"/>
          <p:cNvSpPr/>
          <p:nvPr/>
        </p:nvSpPr>
        <p:spPr>
          <a:xfrm>
            <a:off x="812800" y="1752501"/>
            <a:ext cx="10883700" cy="43680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5B5E66"/>
              </a:buClr>
              <a:buSzPts val="1200"/>
              <a:buFont typeface="Inter"/>
              <a:buNone/>
            </a:pPr>
            <a:r>
              <a:rPr lang="en-US" sz="1200" b="0" i="0" u="none" strike="noStrike" cap="none">
                <a:solidFill>
                  <a:srgbClr val="5B5E66"/>
                </a:solidFill>
                <a:latin typeface="Inter"/>
                <a:ea typeface="Inter"/>
                <a:cs typeface="Inter"/>
                <a:sym typeface="Inter"/>
              </a:rPr>
              <a:t>Share of projects funded. </a:t>
            </a:r>
            <a:r>
              <a:rPr lang="en-US" sz="1200" b="1" i="0" u="none" strike="noStrike" cap="none">
                <a:solidFill>
                  <a:srgbClr val="2563C9"/>
                </a:solidFill>
                <a:latin typeface="Inter"/>
                <a:ea typeface="Inter"/>
                <a:cs typeface="Inter"/>
                <a:sym typeface="Inter"/>
              </a:rPr>
              <a:t>Blue</a:t>
            </a:r>
            <a:r>
              <a:rPr lang="en-US" sz="1200" b="0" i="0" u="none" strike="noStrike" cap="none">
                <a:solidFill>
                  <a:srgbClr val="5B5E66"/>
                </a:solidFill>
                <a:latin typeface="Inter"/>
                <a:ea typeface="Inter"/>
                <a:cs typeface="Inter"/>
                <a:sym typeface="Inter"/>
              </a:rPr>
              <a:t> = above the 36% average, </a:t>
            </a:r>
            <a:r>
              <a:rPr lang="en-US" sz="1200" b="1" i="0" u="none" strike="noStrike" cap="none">
                <a:solidFill>
                  <a:srgbClr val="B8401A"/>
                </a:solidFill>
                <a:latin typeface="Inter"/>
                <a:ea typeface="Inter"/>
                <a:cs typeface="Inter"/>
                <a:sym typeface="Inter"/>
              </a:rPr>
              <a:t>orange</a:t>
            </a:r>
            <a:r>
              <a:rPr lang="en-US" sz="1200" b="0" i="0" u="none" strike="noStrike" cap="none">
                <a:solidFill>
                  <a:srgbClr val="5B5E66"/>
                </a:solidFill>
                <a:latin typeface="Inter"/>
                <a:ea typeface="Inter"/>
                <a:cs typeface="Inter"/>
                <a:sym typeface="Inter"/>
              </a:rPr>
              <a:t> = below.</a:t>
            </a:r>
            <a:endParaRPr sz="1200" b="0" i="0" u="none" strike="noStrike" cap="none">
              <a:solidFill>
                <a:schemeClr val="dk1"/>
              </a:solidFill>
              <a:latin typeface="Inter"/>
              <a:ea typeface="Inter"/>
              <a:cs typeface="Inter"/>
              <a:sym typeface="Inter"/>
            </a:endParaRPr>
          </a:p>
        </p:txBody>
      </p:sp>
      <p:sp>
        <p:nvSpPr>
          <p:cNvPr id="291" name="Google Shape;291;p12"/>
          <p:cNvSpPr/>
          <p:nvPr/>
        </p:nvSpPr>
        <p:spPr>
          <a:xfrm>
            <a:off x="812800" y="2600000"/>
            <a:ext cx="17661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200"/>
              <a:buFont typeface="Inter"/>
              <a:buNone/>
            </a:pPr>
            <a:r>
              <a:rPr lang="en-US" sz="1200" b="1" i="0" u="none" strike="noStrike" cap="none">
                <a:solidFill>
                  <a:srgbClr val="15171E"/>
                </a:solidFill>
                <a:latin typeface="Inter"/>
                <a:ea typeface="Inter"/>
                <a:cs typeface="Inter"/>
                <a:sym typeface="Inter"/>
              </a:rPr>
              <a:t>Dance</a:t>
            </a:r>
            <a:endParaRPr sz="1200" b="0" i="0" u="none" strike="noStrike" cap="none">
              <a:solidFill>
                <a:schemeClr val="dk1"/>
              </a:solidFill>
              <a:latin typeface="Inter"/>
              <a:ea typeface="Inter"/>
              <a:cs typeface="Inter"/>
              <a:sym typeface="Inter"/>
            </a:endParaRPr>
          </a:p>
        </p:txBody>
      </p:sp>
      <p:sp>
        <p:nvSpPr>
          <p:cNvPr id="292" name="Google Shape;292;p12"/>
          <p:cNvSpPr/>
          <p:nvPr/>
        </p:nvSpPr>
        <p:spPr>
          <a:xfrm>
            <a:off x="2628900" y="2611409"/>
            <a:ext cx="5343900" cy="190500"/>
          </a:xfrm>
          <a:prstGeom prst="roundRect">
            <a:avLst>
              <a:gd name="adj" fmla="val 13333"/>
            </a:avLst>
          </a:prstGeom>
          <a:solidFill>
            <a:srgbClr val="2563C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293" name="Google Shape;293;p12"/>
          <p:cNvSpPr/>
          <p:nvPr/>
        </p:nvSpPr>
        <p:spPr>
          <a:xfrm>
            <a:off x="8074300" y="2600000"/>
            <a:ext cx="6669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200"/>
              <a:buFont typeface="Inter"/>
              <a:buNone/>
            </a:pPr>
            <a:r>
              <a:rPr lang="en-US" sz="1200" b="1" i="0" u="none" strike="noStrike" cap="none">
                <a:solidFill>
                  <a:srgbClr val="15171E"/>
                </a:solidFill>
                <a:latin typeface="Inter"/>
                <a:ea typeface="Inter"/>
                <a:cs typeface="Inter"/>
                <a:sym typeface="Inter"/>
              </a:rPr>
              <a:t>66.8%</a:t>
            </a:r>
            <a:endParaRPr sz="1200" b="0" i="0" u="none" strike="noStrike" cap="none">
              <a:solidFill>
                <a:schemeClr val="dk1"/>
              </a:solidFill>
              <a:latin typeface="Inter"/>
              <a:ea typeface="Inter"/>
              <a:cs typeface="Inter"/>
              <a:sym typeface="Inter"/>
            </a:endParaRPr>
          </a:p>
        </p:txBody>
      </p:sp>
      <p:sp>
        <p:nvSpPr>
          <p:cNvPr id="294" name="Google Shape;294;p12"/>
          <p:cNvSpPr/>
          <p:nvPr/>
        </p:nvSpPr>
        <p:spPr>
          <a:xfrm>
            <a:off x="812800" y="3000000"/>
            <a:ext cx="17661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200"/>
              <a:buFont typeface="Inter"/>
              <a:buNone/>
            </a:pPr>
            <a:r>
              <a:rPr lang="en-US" sz="1200" b="1" i="0" u="none" strike="noStrike" cap="none">
                <a:solidFill>
                  <a:srgbClr val="15171E"/>
                </a:solidFill>
                <a:latin typeface="Inter"/>
                <a:ea typeface="Inter"/>
                <a:cs typeface="Inter"/>
                <a:sym typeface="Inter"/>
              </a:rPr>
              <a:t>Indie Rock</a:t>
            </a:r>
            <a:endParaRPr sz="1200" b="0" i="0" u="none" strike="noStrike" cap="none">
              <a:solidFill>
                <a:schemeClr val="dk1"/>
              </a:solidFill>
              <a:latin typeface="Inter"/>
              <a:ea typeface="Inter"/>
              <a:cs typeface="Inter"/>
              <a:sym typeface="Inter"/>
            </a:endParaRPr>
          </a:p>
        </p:txBody>
      </p:sp>
      <p:sp>
        <p:nvSpPr>
          <p:cNvPr id="295" name="Google Shape;295;p12"/>
          <p:cNvSpPr/>
          <p:nvPr/>
        </p:nvSpPr>
        <p:spPr>
          <a:xfrm>
            <a:off x="2628900" y="3011409"/>
            <a:ext cx="5144100" cy="190500"/>
          </a:xfrm>
          <a:prstGeom prst="roundRect">
            <a:avLst>
              <a:gd name="adj" fmla="val 13333"/>
            </a:avLst>
          </a:prstGeom>
          <a:solidFill>
            <a:srgbClr val="2563C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296" name="Google Shape;296;p12"/>
          <p:cNvSpPr/>
          <p:nvPr/>
        </p:nvSpPr>
        <p:spPr>
          <a:xfrm>
            <a:off x="7874300" y="3000000"/>
            <a:ext cx="6669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200"/>
              <a:buFont typeface="Inter"/>
              <a:buNone/>
            </a:pPr>
            <a:r>
              <a:rPr lang="en-US" sz="1200" b="1" i="0" u="none" strike="noStrike" cap="none">
                <a:solidFill>
                  <a:srgbClr val="15171E"/>
                </a:solidFill>
                <a:latin typeface="Inter"/>
                <a:ea typeface="Inter"/>
                <a:cs typeface="Inter"/>
                <a:sym typeface="Inter"/>
              </a:rPr>
              <a:t>64.3%</a:t>
            </a:r>
            <a:endParaRPr sz="1200" b="0" i="0" u="none" strike="noStrike" cap="none">
              <a:solidFill>
                <a:schemeClr val="dk1"/>
              </a:solidFill>
              <a:latin typeface="Inter"/>
              <a:ea typeface="Inter"/>
              <a:cs typeface="Inter"/>
              <a:sym typeface="Inter"/>
            </a:endParaRPr>
          </a:p>
        </p:txBody>
      </p:sp>
      <p:sp>
        <p:nvSpPr>
          <p:cNvPr id="297" name="Google Shape;297;p12"/>
          <p:cNvSpPr/>
          <p:nvPr/>
        </p:nvSpPr>
        <p:spPr>
          <a:xfrm>
            <a:off x="812800" y="3400000"/>
            <a:ext cx="17661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200"/>
              <a:buFont typeface="Inter"/>
              <a:buNone/>
            </a:pPr>
            <a:r>
              <a:rPr lang="en-US" sz="1200" b="1" i="0" u="none" strike="noStrike" cap="none">
                <a:solidFill>
                  <a:srgbClr val="15171E"/>
                </a:solidFill>
                <a:latin typeface="Inter"/>
                <a:ea typeface="Inter"/>
                <a:cs typeface="Inter"/>
                <a:sym typeface="Inter"/>
              </a:rPr>
              <a:t>Classical Music</a:t>
            </a:r>
            <a:endParaRPr sz="1200" b="0" i="0" u="none" strike="noStrike" cap="none">
              <a:solidFill>
                <a:schemeClr val="dk1"/>
              </a:solidFill>
              <a:latin typeface="Inter"/>
              <a:ea typeface="Inter"/>
              <a:cs typeface="Inter"/>
              <a:sym typeface="Inter"/>
            </a:endParaRPr>
          </a:p>
        </p:txBody>
      </p:sp>
      <p:sp>
        <p:nvSpPr>
          <p:cNvPr id="298" name="Google Shape;298;p12"/>
          <p:cNvSpPr/>
          <p:nvPr/>
        </p:nvSpPr>
        <p:spPr>
          <a:xfrm>
            <a:off x="2628900" y="3411409"/>
            <a:ext cx="5103900" cy="190500"/>
          </a:xfrm>
          <a:prstGeom prst="roundRect">
            <a:avLst>
              <a:gd name="adj" fmla="val 13333"/>
            </a:avLst>
          </a:prstGeom>
          <a:solidFill>
            <a:srgbClr val="2563C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299" name="Google Shape;299;p12"/>
          <p:cNvSpPr/>
          <p:nvPr/>
        </p:nvSpPr>
        <p:spPr>
          <a:xfrm>
            <a:off x="7834300" y="3400000"/>
            <a:ext cx="6669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200"/>
              <a:buFont typeface="Inter"/>
              <a:buNone/>
            </a:pPr>
            <a:r>
              <a:rPr lang="en-US" sz="1200" b="1" i="0" u="none" strike="noStrike" cap="none">
                <a:solidFill>
                  <a:srgbClr val="15171E"/>
                </a:solidFill>
                <a:latin typeface="Inter"/>
                <a:ea typeface="Inter"/>
                <a:cs typeface="Inter"/>
                <a:sym typeface="Inter"/>
              </a:rPr>
              <a:t>63.8%</a:t>
            </a:r>
            <a:endParaRPr sz="1200" b="0" i="0" u="none" strike="noStrike" cap="none">
              <a:solidFill>
                <a:schemeClr val="dk1"/>
              </a:solidFill>
              <a:latin typeface="Inter"/>
              <a:ea typeface="Inter"/>
              <a:cs typeface="Inter"/>
              <a:sym typeface="Inter"/>
            </a:endParaRPr>
          </a:p>
        </p:txBody>
      </p:sp>
      <p:sp>
        <p:nvSpPr>
          <p:cNvPr id="300" name="Google Shape;300;p12"/>
          <p:cNvSpPr/>
          <p:nvPr/>
        </p:nvSpPr>
        <p:spPr>
          <a:xfrm>
            <a:off x="812800" y="4066667"/>
            <a:ext cx="17661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200"/>
              <a:buFont typeface="Inter"/>
              <a:buNone/>
            </a:pPr>
            <a:r>
              <a:rPr lang="en-US" sz="1200" b="1" i="0" u="none" strike="noStrike" cap="none">
                <a:solidFill>
                  <a:srgbClr val="15171E"/>
                </a:solidFill>
                <a:latin typeface="Inter"/>
                <a:ea typeface="Inter"/>
                <a:cs typeface="Inter"/>
                <a:sym typeface="Inter"/>
              </a:rPr>
              <a:t>Software</a:t>
            </a:r>
            <a:endParaRPr sz="1200" b="0" i="0" u="none" strike="noStrike" cap="none">
              <a:solidFill>
                <a:schemeClr val="dk1"/>
              </a:solidFill>
              <a:latin typeface="Inter"/>
              <a:ea typeface="Inter"/>
              <a:cs typeface="Inter"/>
              <a:sym typeface="Inter"/>
            </a:endParaRPr>
          </a:p>
        </p:txBody>
      </p:sp>
      <p:sp>
        <p:nvSpPr>
          <p:cNvPr id="301" name="Google Shape;301;p12"/>
          <p:cNvSpPr/>
          <p:nvPr/>
        </p:nvSpPr>
        <p:spPr>
          <a:xfrm>
            <a:off x="2628900" y="4078076"/>
            <a:ext cx="992100" cy="190500"/>
          </a:xfrm>
          <a:prstGeom prst="roundRect">
            <a:avLst>
              <a:gd name="adj" fmla="val 13333"/>
            </a:avLst>
          </a:prstGeom>
          <a:solidFill>
            <a:srgbClr val="E8572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302" name="Google Shape;302;p12"/>
          <p:cNvSpPr/>
          <p:nvPr/>
        </p:nvSpPr>
        <p:spPr>
          <a:xfrm>
            <a:off x="3722300" y="4066667"/>
            <a:ext cx="6669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200"/>
              <a:buFont typeface="Inter"/>
              <a:buNone/>
            </a:pPr>
            <a:r>
              <a:rPr lang="en-US" sz="1200" b="1" i="0" u="none" strike="noStrike" cap="none">
                <a:solidFill>
                  <a:srgbClr val="15171E"/>
                </a:solidFill>
                <a:latin typeface="Inter"/>
                <a:ea typeface="Inter"/>
                <a:cs typeface="Inter"/>
                <a:sym typeface="Inter"/>
              </a:rPr>
              <a:t>12.4%</a:t>
            </a:r>
            <a:endParaRPr sz="1200" b="0" i="0" u="none" strike="noStrike" cap="none">
              <a:solidFill>
                <a:schemeClr val="dk1"/>
              </a:solidFill>
              <a:latin typeface="Inter"/>
              <a:ea typeface="Inter"/>
              <a:cs typeface="Inter"/>
              <a:sym typeface="Inter"/>
            </a:endParaRPr>
          </a:p>
        </p:txBody>
      </p:sp>
      <p:sp>
        <p:nvSpPr>
          <p:cNvPr id="303" name="Google Shape;303;p12"/>
          <p:cNvSpPr/>
          <p:nvPr/>
        </p:nvSpPr>
        <p:spPr>
          <a:xfrm>
            <a:off x="812800" y="4466667"/>
            <a:ext cx="17661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200"/>
              <a:buFont typeface="Inter"/>
              <a:buNone/>
            </a:pPr>
            <a:r>
              <a:rPr lang="en-US" sz="1200" b="1" i="0" u="none" strike="noStrike" cap="none">
                <a:solidFill>
                  <a:srgbClr val="15171E"/>
                </a:solidFill>
                <a:latin typeface="Inter"/>
                <a:ea typeface="Inter"/>
                <a:cs typeface="Inter"/>
                <a:sym typeface="Inter"/>
              </a:rPr>
              <a:t>Web</a:t>
            </a:r>
            <a:endParaRPr sz="1200" b="0" i="0" u="none" strike="noStrike" cap="none">
              <a:solidFill>
                <a:schemeClr val="dk1"/>
              </a:solidFill>
              <a:latin typeface="Inter"/>
              <a:ea typeface="Inter"/>
              <a:cs typeface="Inter"/>
              <a:sym typeface="Inter"/>
            </a:endParaRPr>
          </a:p>
        </p:txBody>
      </p:sp>
      <p:sp>
        <p:nvSpPr>
          <p:cNvPr id="304" name="Google Shape;304;p12"/>
          <p:cNvSpPr/>
          <p:nvPr/>
        </p:nvSpPr>
        <p:spPr>
          <a:xfrm>
            <a:off x="2628900" y="4478076"/>
            <a:ext cx="704100" cy="190500"/>
          </a:xfrm>
          <a:prstGeom prst="roundRect">
            <a:avLst>
              <a:gd name="adj" fmla="val 13333"/>
            </a:avLst>
          </a:prstGeom>
          <a:solidFill>
            <a:srgbClr val="E8572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305" name="Google Shape;305;p12"/>
          <p:cNvSpPr/>
          <p:nvPr/>
        </p:nvSpPr>
        <p:spPr>
          <a:xfrm>
            <a:off x="3434300" y="4466667"/>
            <a:ext cx="6669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200"/>
              <a:buFont typeface="Inter"/>
              <a:buNone/>
            </a:pPr>
            <a:r>
              <a:rPr lang="en-US" sz="1200" b="1" i="0" u="none" strike="noStrike" cap="none">
                <a:solidFill>
                  <a:srgbClr val="15171E"/>
                </a:solidFill>
                <a:latin typeface="Inter"/>
                <a:ea typeface="Inter"/>
                <a:cs typeface="Inter"/>
                <a:sym typeface="Inter"/>
              </a:rPr>
              <a:t>8.8%</a:t>
            </a:r>
            <a:endParaRPr sz="1200" b="0" i="0" u="none" strike="noStrike" cap="none">
              <a:solidFill>
                <a:schemeClr val="dk1"/>
              </a:solidFill>
              <a:latin typeface="Inter"/>
              <a:ea typeface="Inter"/>
              <a:cs typeface="Inter"/>
              <a:sym typeface="Inter"/>
            </a:endParaRPr>
          </a:p>
        </p:txBody>
      </p:sp>
      <p:sp>
        <p:nvSpPr>
          <p:cNvPr id="306" name="Google Shape;306;p12"/>
          <p:cNvSpPr/>
          <p:nvPr/>
        </p:nvSpPr>
        <p:spPr>
          <a:xfrm>
            <a:off x="812800" y="4866667"/>
            <a:ext cx="17661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200"/>
              <a:buFont typeface="Inter"/>
              <a:buNone/>
            </a:pPr>
            <a:r>
              <a:rPr lang="en-US" sz="1200" b="1" i="0" u="none" strike="noStrike" cap="none">
                <a:solidFill>
                  <a:srgbClr val="15171E"/>
                </a:solidFill>
                <a:latin typeface="Inter"/>
                <a:ea typeface="Inter"/>
                <a:cs typeface="Inter"/>
                <a:sym typeface="Inter"/>
              </a:rPr>
              <a:t>Apps</a:t>
            </a:r>
            <a:endParaRPr sz="1200" b="0" i="0" u="none" strike="noStrike" cap="none">
              <a:solidFill>
                <a:schemeClr val="dk1"/>
              </a:solidFill>
              <a:latin typeface="Inter"/>
              <a:ea typeface="Inter"/>
              <a:cs typeface="Inter"/>
              <a:sym typeface="Inter"/>
            </a:endParaRPr>
          </a:p>
        </p:txBody>
      </p:sp>
      <p:sp>
        <p:nvSpPr>
          <p:cNvPr id="307" name="Google Shape;307;p12"/>
          <p:cNvSpPr/>
          <p:nvPr/>
        </p:nvSpPr>
        <p:spPr>
          <a:xfrm>
            <a:off x="2628900" y="4878076"/>
            <a:ext cx="488100" cy="190500"/>
          </a:xfrm>
          <a:prstGeom prst="roundRect">
            <a:avLst>
              <a:gd name="adj" fmla="val 13333"/>
            </a:avLst>
          </a:prstGeom>
          <a:solidFill>
            <a:srgbClr val="E8572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308" name="Google Shape;308;p12"/>
          <p:cNvSpPr/>
          <p:nvPr/>
        </p:nvSpPr>
        <p:spPr>
          <a:xfrm>
            <a:off x="3218300" y="4866667"/>
            <a:ext cx="6669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200"/>
              <a:buFont typeface="Inter"/>
              <a:buNone/>
            </a:pPr>
            <a:r>
              <a:rPr lang="en-US" sz="1200" b="1" i="0" u="none" strike="noStrike" cap="none">
                <a:solidFill>
                  <a:srgbClr val="15171E"/>
                </a:solidFill>
                <a:latin typeface="Inter"/>
                <a:ea typeface="Inter"/>
                <a:cs typeface="Inter"/>
                <a:sym typeface="Inter"/>
              </a:rPr>
              <a:t>6.1%</a:t>
            </a:r>
            <a:endParaRPr sz="1200" b="0" i="0" u="none" strike="noStrike" cap="none">
              <a:solidFill>
                <a:schemeClr val="dk1"/>
              </a:solidFill>
              <a:latin typeface="Inter"/>
              <a:ea typeface="Inter"/>
              <a:cs typeface="Inter"/>
              <a:sym typeface="Inter"/>
            </a:endParaRPr>
          </a:p>
        </p:txBody>
      </p:sp>
      <p:sp>
        <p:nvSpPr>
          <p:cNvPr id="309" name="Google Shape;309;p12"/>
          <p:cNvSpPr/>
          <p:nvPr/>
        </p:nvSpPr>
        <p:spPr>
          <a:xfrm>
            <a:off x="5594233" y="2240000"/>
            <a:ext cx="13332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5171E"/>
              </a:buClr>
              <a:buSzPts val="1200"/>
              <a:buFont typeface="Inter"/>
              <a:buNone/>
            </a:pPr>
            <a:r>
              <a:rPr lang="en-US" sz="1200" b="0" i="0" u="none" strike="noStrike" cap="none">
                <a:solidFill>
                  <a:srgbClr val="5B5E66"/>
                </a:solidFill>
                <a:latin typeface="Inter"/>
                <a:ea typeface="Inter"/>
                <a:cs typeface="Inter"/>
                <a:sym typeface="Inter"/>
              </a:rPr>
              <a:t>overall 36%</a:t>
            </a:r>
            <a:endParaRPr sz="1200" b="0" i="0" u="none" strike="noStrike" cap="none">
              <a:solidFill>
                <a:schemeClr val="dk1"/>
              </a:solidFill>
              <a:latin typeface="Inter"/>
              <a:ea typeface="Inter"/>
              <a:cs typeface="Inter"/>
              <a:sym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13"/>
          <p:cNvSpPr txBox="1">
            <a:spLocks noGrp="1"/>
          </p:cNvSpPr>
          <p:nvPr>
            <p:ph type="title"/>
          </p:nvPr>
        </p:nvSpPr>
        <p:spPr>
          <a:xfrm>
            <a:off x="812800" y="1102320"/>
            <a:ext cx="10566300" cy="4470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5" name="Google Shape;315;p13"/>
          <p:cNvSpPr txBox="1">
            <a:spLocks noGrp="1"/>
          </p:cNvSpPr>
          <p:nvPr>
            <p:ph type="body" idx="1"/>
          </p:nvPr>
        </p:nvSpPr>
        <p:spPr>
          <a:xfrm>
            <a:off x="812800" y="1854101"/>
            <a:ext cx="10566300" cy="4191000"/>
          </a:xfrm>
          <a:prstGeom prst="rect">
            <a:avLst/>
          </a:prstGeom>
        </p:spPr>
        <p:txBody>
          <a:bodyPr spcFirstLastPara="1" wrap="square" lIns="0" tIns="0" rIns="0" bIns="0" anchor="t" anchorCtr="0">
            <a:noAutofit/>
          </a:bodyPr>
          <a:lstStyle/>
          <a:p>
            <a:pPr marL="0" lvl="0" indent="0" algn="l" rtl="0">
              <a:spcBef>
                <a:spcPts val="320"/>
              </a:spcBef>
              <a:spcAft>
                <a:spcPts val="0"/>
              </a:spcAft>
              <a:buNone/>
            </a:pPr>
            <a:endParaRPr/>
          </a:p>
        </p:txBody>
      </p:sp>
      <p:pic>
        <p:nvPicPr>
          <p:cNvPr id="316" name="Google Shape;316;p13"/>
          <p:cNvPicPr preferRelativeResize="0"/>
          <p:nvPr/>
        </p:nvPicPr>
        <p:blipFill>
          <a:blip r:embed="rId3">
            <a:alphaModFix/>
          </a:blip>
          <a:stretch>
            <a:fillRect/>
          </a:stretch>
        </p:blipFill>
        <p:spPr>
          <a:xfrm>
            <a:off x="0" y="0"/>
            <a:ext cx="12192000" cy="6858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14"/>
          <p:cNvSpPr txBox="1">
            <a:spLocks noGrp="1"/>
          </p:cNvSpPr>
          <p:nvPr>
            <p:ph type="title"/>
          </p:nvPr>
        </p:nvSpPr>
        <p:spPr>
          <a:xfrm>
            <a:off x="812800" y="1102320"/>
            <a:ext cx="10566300" cy="4470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22" name="Google Shape;322;p14"/>
          <p:cNvSpPr txBox="1">
            <a:spLocks noGrp="1"/>
          </p:cNvSpPr>
          <p:nvPr>
            <p:ph type="body" idx="1"/>
          </p:nvPr>
        </p:nvSpPr>
        <p:spPr>
          <a:xfrm>
            <a:off x="812800" y="1854101"/>
            <a:ext cx="10566300" cy="4191000"/>
          </a:xfrm>
          <a:prstGeom prst="rect">
            <a:avLst/>
          </a:prstGeom>
        </p:spPr>
        <p:txBody>
          <a:bodyPr spcFirstLastPara="1" wrap="square" lIns="0" tIns="0" rIns="0" bIns="0" anchor="t" anchorCtr="0">
            <a:noAutofit/>
          </a:bodyPr>
          <a:lstStyle/>
          <a:p>
            <a:pPr marL="0" lvl="0" indent="0" algn="l" rtl="0">
              <a:spcBef>
                <a:spcPts val="320"/>
              </a:spcBef>
              <a:spcAft>
                <a:spcPts val="0"/>
              </a:spcAft>
              <a:buNone/>
            </a:pPr>
            <a:endParaRPr/>
          </a:p>
        </p:txBody>
      </p:sp>
      <p:pic>
        <p:nvPicPr>
          <p:cNvPr id="323" name="Google Shape;323;p14"/>
          <p:cNvPicPr preferRelativeResize="0"/>
          <p:nvPr/>
        </p:nvPicPr>
        <p:blipFill>
          <a:blip r:embed="rId3">
            <a:alphaModFix/>
          </a:blip>
          <a:stretch>
            <a:fillRect/>
          </a:stretch>
        </p:blipFill>
        <p:spPr>
          <a:xfrm>
            <a:off x="0" y="0"/>
            <a:ext cx="12192000" cy="6858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5171E"/>
        </a:solidFill>
        <a:effectLst/>
      </p:bgPr>
    </p:bg>
    <p:spTree>
      <p:nvGrpSpPr>
        <p:cNvPr id="1" name="Shape 328"/>
        <p:cNvGrpSpPr/>
        <p:nvPr/>
      </p:nvGrpSpPr>
      <p:grpSpPr>
        <a:xfrm>
          <a:off x="0" y="0"/>
          <a:ext cx="0" cy="0"/>
          <a:chOff x="0" y="0"/>
          <a:chExt cx="0" cy="0"/>
        </a:xfrm>
      </p:grpSpPr>
      <p:sp>
        <p:nvSpPr>
          <p:cNvPr id="329" name="Google Shape;329;p15"/>
          <p:cNvSpPr txBox="1">
            <a:spLocks noGrp="1"/>
          </p:cNvSpPr>
          <p:nvPr>
            <p:ph type="title"/>
          </p:nvPr>
        </p:nvSpPr>
        <p:spPr>
          <a:xfrm>
            <a:off x="812800" y="1950293"/>
            <a:ext cx="6540600" cy="914400"/>
          </a:xfrm>
          <a:prstGeom prst="rect">
            <a:avLst/>
          </a:prstGeom>
          <a:noFill/>
          <a:ln>
            <a:noFill/>
          </a:ln>
        </p:spPr>
        <p:txBody>
          <a:bodyPr spcFirstLastPara="1" wrap="square" lIns="0" tIns="0" rIns="0" bIns="0" anchor="t" anchorCtr="0">
            <a:normAutofit fontScale="90000"/>
          </a:bodyPr>
          <a:lstStyle/>
          <a:p>
            <a:pPr marL="0" lvl="0" indent="0" algn="l" rtl="0">
              <a:lnSpc>
                <a:spcPct val="100000"/>
              </a:lnSpc>
              <a:spcBef>
                <a:spcPts val="0"/>
              </a:spcBef>
              <a:spcAft>
                <a:spcPts val="0"/>
              </a:spcAft>
              <a:buClr>
                <a:srgbClr val="F5F3EE"/>
              </a:buClr>
              <a:buSzPct val="100000"/>
              <a:buFont typeface="Space Grotesk"/>
              <a:buNone/>
            </a:pPr>
            <a:r>
              <a:rPr lang="en-US" sz="7000" b="1" i="0">
                <a:solidFill>
                  <a:srgbClr val="F5F3EE"/>
                </a:solidFill>
                <a:latin typeface="Space Grotesk"/>
                <a:ea typeface="Space Grotesk"/>
                <a:cs typeface="Space Grotesk"/>
                <a:sym typeface="Space Grotesk"/>
              </a:rPr>
              <a:t>Thank you!</a:t>
            </a:r>
            <a:endParaRPr sz="7000"/>
          </a:p>
        </p:txBody>
      </p:sp>
      <p:sp>
        <p:nvSpPr>
          <p:cNvPr id="330" name="Google Shape;330;p15"/>
          <p:cNvSpPr/>
          <p:nvPr/>
        </p:nvSpPr>
        <p:spPr>
          <a:xfrm>
            <a:off x="812800" y="2950270"/>
            <a:ext cx="6540500" cy="7239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FF7A4D"/>
              </a:buClr>
              <a:buSzPts val="2200"/>
              <a:buFont typeface="Space Grotesk"/>
              <a:buNone/>
            </a:pPr>
            <a:r>
              <a:rPr lang="en-US" sz="2200">
                <a:solidFill>
                  <a:srgbClr val="FF7A4D"/>
                </a:solidFill>
                <a:latin typeface="Space Grotesk"/>
                <a:ea typeface="Space Grotesk"/>
                <a:cs typeface="Space Grotesk"/>
                <a:sym typeface="Space Grotesk"/>
              </a:rPr>
              <a:t>Questions, comments, or outliers? We’d love to hear them.</a:t>
            </a:r>
            <a:endParaRPr sz="2200">
              <a:solidFill>
                <a:schemeClr val="dk1"/>
              </a:solidFill>
              <a:latin typeface="Inter"/>
              <a:ea typeface="Inter"/>
              <a:cs typeface="Inter"/>
              <a:sym typeface="Inter"/>
            </a:endParaRPr>
          </a:p>
        </p:txBody>
      </p:sp>
      <p:pic>
        <p:nvPicPr>
          <p:cNvPr id="331" name="Google Shape;331;p15" descr="Outliers logo: a cluster of dots under a bell curve with one orange dot breaking away"/>
          <p:cNvPicPr preferRelativeResize="0"/>
          <p:nvPr/>
        </p:nvPicPr>
        <p:blipFill rotWithShape="1">
          <a:blip r:embed="rId3">
            <a:alphaModFix/>
          </a:blip>
          <a:srcRect/>
          <a:stretch/>
        </p:blipFill>
        <p:spPr>
          <a:xfrm>
            <a:off x="7569200" y="1521520"/>
            <a:ext cx="3810000" cy="2540000"/>
          </a:xfrm>
          <a:prstGeom prst="rect">
            <a:avLst/>
          </a:prstGeom>
          <a:noFill/>
          <a:ln>
            <a:noFill/>
          </a:ln>
        </p:spPr>
      </p:pic>
      <p:sp>
        <p:nvSpPr>
          <p:cNvPr id="338" name="Google Shape;338;p15"/>
          <p:cNvSpPr/>
          <p:nvPr/>
        </p:nvSpPr>
        <p:spPr>
          <a:xfrm>
            <a:off x="812800" y="6238280"/>
            <a:ext cx="10883392" cy="23872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8F939C"/>
              </a:buClr>
              <a:buSzPts val="1200"/>
              <a:buFont typeface="Inter"/>
              <a:buNone/>
            </a:pPr>
            <a:r>
              <a:rPr lang="en-US" sz="1200">
                <a:solidFill>
                  <a:srgbClr val="8F939C"/>
                </a:solidFill>
                <a:latin typeface="Inter"/>
                <a:ea typeface="Inter"/>
                <a:cs typeface="Inter"/>
                <a:sym typeface="Inter"/>
              </a:rPr>
              <a:t>Outliers · Proudly two standard deviations from the mean </a:t>
            </a:r>
            <a:endParaRPr sz="1200">
              <a:solidFill>
                <a:schemeClr val="dk1"/>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name="Outliers: Will Your Kickstarter Get Funded?">
  <a:themeElements>
    <a:clrScheme name="Outliers: Will Your Kickstarter Get Funded?">
      <a:dk1>
        <a:srgbClr val="15171E"/>
      </a:dk1>
      <a:lt1>
        <a:srgbClr val="F5F3EE"/>
      </a:lt1>
      <a:dk2>
        <a:srgbClr val="4D4E52"/>
      </a:dk2>
      <a:lt2>
        <a:srgbClr val="DFDDD9"/>
      </a:lt2>
      <a:accent1>
        <a:srgbClr val="2563C9"/>
      </a:accent1>
      <a:accent2>
        <a:srgbClr val="B8401A"/>
      </a:accent2>
      <a:accent3>
        <a:srgbClr val="FF7A4D"/>
      </a:accent3>
      <a:accent4>
        <a:srgbClr val="E8572A"/>
      </a:accent4>
      <a:accent5>
        <a:srgbClr val="F0A184"/>
      </a:accent5>
      <a:accent6>
        <a:srgbClr val="8FB0E6"/>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utliers: Will Your Kickstarter Get Funded?">
  <a:themeElements>
    <a:clrScheme name="Outliers: Will Your Kickstarter Get Funded?">
      <a:dk1>
        <a:srgbClr val="15171E"/>
      </a:dk1>
      <a:lt1>
        <a:srgbClr val="F5F3EE"/>
      </a:lt1>
      <a:dk2>
        <a:srgbClr val="4D4E52"/>
      </a:dk2>
      <a:lt2>
        <a:srgbClr val="DFDDD9"/>
      </a:lt2>
      <a:accent1>
        <a:srgbClr val="2563C9"/>
      </a:accent1>
      <a:accent2>
        <a:srgbClr val="B8401A"/>
      </a:accent2>
      <a:accent3>
        <a:srgbClr val="FF7A4D"/>
      </a:accent3>
      <a:accent4>
        <a:srgbClr val="E8572A"/>
      </a:accent4>
      <a:accent5>
        <a:srgbClr val="F0A184"/>
      </a:accent5>
      <a:accent6>
        <a:srgbClr val="8FB0E6"/>
      </a:accent6>
      <a:hlink>
        <a:srgbClr val="0563C1"/>
      </a:hlink>
      <a:folHlink>
        <a:srgbClr val="954F72"/>
      </a:folHlink>
    </a:clrScheme>
    <a:fontScheme name="Outliers: Will Your Kickstarter Get Funded?">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180</TotalTime>
  <Words>3416</Words>
  <Application>Microsoft Office PowerPoint</Application>
  <PresentationFormat>Widescreen</PresentationFormat>
  <Paragraphs>322</Paragraphs>
  <Slides>14</Slides>
  <Notes>14</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14</vt:i4>
      </vt:variant>
    </vt:vector>
  </HeadingPairs>
  <TitlesOfParts>
    <vt:vector size="20" baseType="lpstr">
      <vt:lpstr>Inter</vt:lpstr>
      <vt:lpstr>Arial</vt:lpstr>
      <vt:lpstr>Calibri</vt:lpstr>
      <vt:lpstr>Space Grotesk</vt:lpstr>
      <vt:lpstr>Outliers: Will Your Kickstarter Get Funded?</vt:lpstr>
      <vt:lpstr>1_Outliers: Will Your Kickstarter Get Funded?</vt:lpstr>
      <vt:lpstr>Outliers</vt:lpstr>
      <vt:lpstr>Most campaigns miss and get nothing</vt:lpstr>
      <vt:lpstr>From raw file to model-ready data</vt:lpstr>
      <vt:lpstr>From 6 outcome states to a yes / no target</vt:lpstr>
      <vt:lpstr>Features: leakage out, redundancy out, signal in</vt:lpstr>
      <vt:lpstr>Our model: Gradient Boosting</vt:lpstr>
      <vt:lpstr>Gradient Boosting beats every benchmark</vt:lpstr>
      <vt:lpstr>Right about 2 in 3 times, and stable</vt:lpstr>
      <vt:lpstr>Goal and category matter most</vt:lpstr>
      <vt:lpstr>Smaller goals get funded far more often</vt:lpstr>
      <vt:lpstr>Music and performance thrive, tech struggles</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Daniel Chercos</cp:lastModifiedBy>
  <cp:revision>10</cp:revision>
  <dcterms:modified xsi:type="dcterms:W3CDTF">2026-10-23T14:23:07Z</dcterms:modified>
</cp:coreProperties>
</file>